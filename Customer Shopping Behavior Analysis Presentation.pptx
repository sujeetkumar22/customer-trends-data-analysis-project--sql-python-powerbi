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Liter" charset="-122" pitchFamily="34"/>
      <p:regular r:id="rId19"/>
    </p:embeddedFont>
    <p:embeddedFont>
      <p:font typeface="Oranienbaum" charset="-122" pitchFamily="34"/>
      <p:regular r:id="rId20"/>
    </p:embeddedFont>
    <p:embeddedFont>
      <p:font typeface="Sorts Mill Goudy" charset="-122" pitchFamily="34"/>
      <p:regular r:id="rId21"/>
    </p:embeddedFont>
    <p:embeddedFont>
      <p:font typeface="Quattrocento Sans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2892128c74ddfc8dd660498122d4010ebbccd0a3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11315" b="1131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A3D4F">
                  <a:alpha val="85000"/>
                </a:srgbClr>
              </a:gs>
              <a:gs pos="50000">
                <a:srgbClr val="2A3D4F">
                  <a:alpha val="75000"/>
                </a:srgbClr>
              </a:gs>
              <a:gs pos="100000">
                <a:srgbClr val="C48A69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7636" y="737893"/>
            <a:ext cx="11414864" cy="508739"/>
          </a:xfrm>
          <a:custGeom>
            <a:avLst/>
            <a:gdLst/>
            <a:ahLst/>
            <a:cxnLst/>
            <a:rect l="l" t="t" r="r" b="b"/>
            <a:pathLst>
              <a:path w="11414864" h="508739">
                <a:moveTo>
                  <a:pt x="38099" y="0"/>
                </a:moveTo>
                <a:lnTo>
                  <a:pt x="11376765" y="0"/>
                </a:lnTo>
                <a:cubicBezTo>
                  <a:pt x="11397806" y="0"/>
                  <a:pt x="11414864" y="17058"/>
                  <a:pt x="11414864" y="38099"/>
                </a:cubicBezTo>
                <a:lnTo>
                  <a:pt x="11414864" y="470640"/>
                </a:lnTo>
                <a:cubicBezTo>
                  <a:pt x="11414864" y="491681"/>
                  <a:pt x="11397806" y="508739"/>
                  <a:pt x="11376765" y="508739"/>
                </a:cubicBezTo>
                <a:lnTo>
                  <a:pt x="38099" y="508739"/>
                </a:lnTo>
                <a:cubicBezTo>
                  <a:pt x="17058" y="508739"/>
                  <a:pt x="0" y="491681"/>
                  <a:pt x="0" y="470640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7919">
            <a:solidFill>
              <a:srgbClr val="C48A6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87636" y="3187095"/>
            <a:ext cx="2772926" cy="241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405" kern="0" dirty="0">
                <a:solidFill>
                  <a:srgbClr val="F8F7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By:- Sujeet Kumar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7636" y="1720818"/>
            <a:ext cx="11842380" cy="819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6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Customer Shopping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66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Behavior Analysis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0916" y="3455122"/>
            <a:ext cx="1524000" cy="28575"/>
          </a:xfrm>
          <a:custGeom>
            <a:avLst/>
            <a:gdLst/>
            <a:ahLst/>
            <a:cxnLst/>
            <a:rect l="l" t="t" r="r" b="b"/>
            <a:pathLst>
              <a:path w="1524000" h="28575">
                <a:moveTo>
                  <a:pt x="0" y="0"/>
                </a:moveTo>
                <a:lnTo>
                  <a:pt x="1524000" y="0"/>
                </a:lnTo>
                <a:lnTo>
                  <a:pt x="15240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8" name="Text 5"/>
          <p:cNvSpPr/>
          <p:nvPr/>
        </p:nvSpPr>
        <p:spPr>
          <a:xfrm>
            <a:off x="380916" y="3788476"/>
            <a:ext cx="8686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8F7F4">
                    <a:alpha val="95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Transforming Data into Strategic Business Insights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0916" y="4512301"/>
            <a:ext cx="7419975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50" dirty="0">
                <a:solidFill>
                  <a:srgbClr val="F8F7F4">
                    <a:alpha val="85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 comprehensive analysis of 3,900 transactions to uncover spending patterns, customer segments, and product preferences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0916" y="5543545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60" kern="0" dirty="0">
                <a:solidFill>
                  <a:srgbClr val="F8F7F4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Transactions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0916" y="5848341"/>
            <a:ext cx="1447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3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3,900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077399" y="5543545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60" kern="0" dirty="0">
                <a:solidFill>
                  <a:srgbClr val="F8F7F4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Points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077399" y="5848341"/>
            <a:ext cx="126682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3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18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590879" y="5543545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60" kern="0" dirty="0">
                <a:solidFill>
                  <a:srgbClr val="F8F7F4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590879" y="5848341"/>
            <a:ext cx="12954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3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10+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916" y="380916"/>
            <a:ext cx="4000500" cy="6096000"/>
          </a:xfrm>
          <a:custGeom>
            <a:avLst/>
            <a:gdLst/>
            <a:ahLst/>
            <a:cxnLst/>
            <a:rect l="l" t="t" r="r" b="b"/>
            <a:pathLst>
              <a:path w="4000500" h="6096000">
                <a:moveTo>
                  <a:pt x="76210" y="0"/>
                </a:moveTo>
                <a:lnTo>
                  <a:pt x="3924290" y="0"/>
                </a:lnTo>
                <a:cubicBezTo>
                  <a:pt x="3966380" y="0"/>
                  <a:pt x="4000500" y="34120"/>
                  <a:pt x="4000500" y="76210"/>
                </a:cubicBezTo>
                <a:lnTo>
                  <a:pt x="4000500" y="6019790"/>
                </a:lnTo>
                <a:cubicBezTo>
                  <a:pt x="4000500" y="6061880"/>
                  <a:pt x="3966380" y="6096000"/>
                  <a:pt x="3924290" y="6096000"/>
                </a:cubicBezTo>
                <a:lnTo>
                  <a:pt x="76210" y="6096000"/>
                </a:lnTo>
                <a:cubicBezTo>
                  <a:pt x="34120" y="6096000"/>
                  <a:pt x="0" y="6061880"/>
                  <a:pt x="0" y="60197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3" name="Shape 1"/>
          <p:cNvSpPr/>
          <p:nvPr/>
        </p:nvSpPr>
        <p:spPr>
          <a:xfrm>
            <a:off x="761832" y="761832"/>
            <a:ext cx="609600" cy="28575"/>
          </a:xfrm>
          <a:custGeom>
            <a:avLst/>
            <a:gdLst/>
            <a:ahLst/>
            <a:cxnLst/>
            <a:rect l="l" t="t" r="r" b="b"/>
            <a:pathLst>
              <a:path w="609600" h="28575">
                <a:moveTo>
                  <a:pt x="0" y="0"/>
                </a:moveTo>
                <a:lnTo>
                  <a:pt x="609600" y="0"/>
                </a:lnTo>
                <a:lnTo>
                  <a:pt x="6096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4" name="Text 2"/>
          <p:cNvSpPr/>
          <p:nvPr/>
        </p:nvSpPr>
        <p:spPr>
          <a:xfrm>
            <a:off x="761832" y="1018960"/>
            <a:ext cx="35814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Executive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1832" y="3038298"/>
            <a:ext cx="3343275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50" dirty="0">
                <a:solidFill>
                  <a:srgbClr val="F8F7F4">
                    <a:alpha val="85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 structured exploration of customer behavior patterns, from data foundation to strategic recommendations.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1832" y="5067506"/>
            <a:ext cx="3238500" cy="1028700"/>
          </a:xfrm>
          <a:custGeom>
            <a:avLst/>
            <a:gdLst/>
            <a:ahLst/>
            <a:cxnLst/>
            <a:rect l="l" t="t" r="r" b="b"/>
            <a:pathLst>
              <a:path w="3238500" h="1028700">
                <a:moveTo>
                  <a:pt x="76196" y="0"/>
                </a:moveTo>
                <a:lnTo>
                  <a:pt x="3162304" y="0"/>
                </a:lnTo>
                <a:cubicBezTo>
                  <a:pt x="3204386" y="0"/>
                  <a:pt x="3238500" y="34114"/>
                  <a:pt x="3238500" y="76196"/>
                </a:cubicBezTo>
                <a:lnTo>
                  <a:pt x="3238500" y="952504"/>
                </a:lnTo>
                <a:cubicBezTo>
                  <a:pt x="3238500" y="994586"/>
                  <a:pt x="3204386" y="1028700"/>
                  <a:pt x="3162304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C48A69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90403" y="5296076"/>
            <a:ext cx="2867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7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Framework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0403" y="5638879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7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→ Insights → Strategy → Action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02968" y="153080"/>
            <a:ext cx="33598" cy="838200"/>
          </a:xfrm>
          <a:custGeom>
            <a:avLst/>
            <a:gdLst/>
            <a:ahLst/>
            <a:cxnLst/>
            <a:rect l="l" t="t" r="r" b="b"/>
            <a:pathLst>
              <a:path w="33598" h="838200">
                <a:moveTo>
                  <a:pt x="0" y="0"/>
                </a:moveTo>
                <a:lnTo>
                  <a:pt x="33598" y="0"/>
                </a:lnTo>
                <a:lnTo>
                  <a:pt x="33598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10" name="Shape 8"/>
          <p:cNvSpPr/>
          <p:nvPr/>
        </p:nvSpPr>
        <p:spPr>
          <a:xfrm>
            <a:off x="4872113" y="30542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11" name="Text 9"/>
          <p:cNvSpPr/>
          <p:nvPr/>
        </p:nvSpPr>
        <p:spPr>
          <a:xfrm>
            <a:off x="4814963" y="305426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57825" y="305426"/>
            <a:ext cx="620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57825" y="610011"/>
            <a:ext cx="618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A3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objectives and scope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02968" y="1105370"/>
            <a:ext cx="33598" cy="838200"/>
          </a:xfrm>
          <a:custGeom>
            <a:avLst/>
            <a:gdLst/>
            <a:ahLst/>
            <a:cxnLst/>
            <a:rect l="l" t="t" r="r" b="b"/>
            <a:pathLst>
              <a:path w="33598" h="838200">
                <a:moveTo>
                  <a:pt x="0" y="0"/>
                </a:moveTo>
                <a:lnTo>
                  <a:pt x="33598" y="0"/>
                </a:lnTo>
                <a:lnTo>
                  <a:pt x="33598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8A9BA8"/>
          </a:solidFill>
          <a:ln/>
        </p:spPr>
      </p:sp>
      <p:sp>
        <p:nvSpPr>
          <p:cNvPr id="15" name="Shape 13"/>
          <p:cNvSpPr/>
          <p:nvPr/>
        </p:nvSpPr>
        <p:spPr>
          <a:xfrm>
            <a:off x="4872113" y="125771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A9BA8"/>
          </a:solidFill>
          <a:ln/>
        </p:spPr>
      </p:sp>
      <p:sp>
        <p:nvSpPr>
          <p:cNvPr id="16" name="Text 14"/>
          <p:cNvSpPr/>
          <p:nvPr/>
        </p:nvSpPr>
        <p:spPr>
          <a:xfrm>
            <a:off x="4814963" y="1257716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57825" y="1257716"/>
            <a:ext cx="620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Foundation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57825" y="1562301"/>
            <a:ext cx="618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A3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summary and methodology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02968" y="2057660"/>
            <a:ext cx="33598" cy="838200"/>
          </a:xfrm>
          <a:custGeom>
            <a:avLst/>
            <a:gdLst/>
            <a:ahLst/>
            <a:cxnLst/>
            <a:rect l="l" t="t" r="r" b="b"/>
            <a:pathLst>
              <a:path w="33598" h="838200">
                <a:moveTo>
                  <a:pt x="0" y="0"/>
                </a:moveTo>
                <a:lnTo>
                  <a:pt x="33598" y="0"/>
                </a:lnTo>
                <a:lnTo>
                  <a:pt x="33598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20" name="Shape 18"/>
          <p:cNvSpPr/>
          <p:nvPr/>
        </p:nvSpPr>
        <p:spPr>
          <a:xfrm>
            <a:off x="4872113" y="221000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21" name="Text 19"/>
          <p:cNvSpPr/>
          <p:nvPr/>
        </p:nvSpPr>
        <p:spPr>
          <a:xfrm>
            <a:off x="4814963" y="2210006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57825" y="2210006"/>
            <a:ext cx="620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Analytical Methodology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57825" y="2514591"/>
            <a:ext cx="618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A3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and SQL analysis approach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02968" y="3009950"/>
            <a:ext cx="33598" cy="838200"/>
          </a:xfrm>
          <a:custGeom>
            <a:avLst/>
            <a:gdLst/>
            <a:ahLst/>
            <a:cxnLst/>
            <a:rect l="l" t="t" r="r" b="b"/>
            <a:pathLst>
              <a:path w="33598" h="838200">
                <a:moveTo>
                  <a:pt x="0" y="0"/>
                </a:moveTo>
                <a:lnTo>
                  <a:pt x="33598" y="0"/>
                </a:lnTo>
                <a:lnTo>
                  <a:pt x="33598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25" name="Shape 23"/>
          <p:cNvSpPr/>
          <p:nvPr/>
        </p:nvSpPr>
        <p:spPr>
          <a:xfrm>
            <a:off x="4872113" y="316229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26" name="Text 24"/>
          <p:cNvSpPr/>
          <p:nvPr/>
        </p:nvSpPr>
        <p:spPr>
          <a:xfrm>
            <a:off x="4814963" y="316229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57825" y="3162295"/>
            <a:ext cx="620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Insights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57825" y="3466881"/>
            <a:ext cx="618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A3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Segmentation and behavior patterns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702968" y="3962240"/>
            <a:ext cx="33598" cy="838200"/>
          </a:xfrm>
          <a:custGeom>
            <a:avLst/>
            <a:gdLst/>
            <a:ahLst/>
            <a:cxnLst/>
            <a:rect l="l" t="t" r="r" b="b"/>
            <a:pathLst>
              <a:path w="33598" h="838200">
                <a:moveTo>
                  <a:pt x="0" y="0"/>
                </a:moveTo>
                <a:lnTo>
                  <a:pt x="33598" y="0"/>
                </a:lnTo>
                <a:lnTo>
                  <a:pt x="33598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8A9BA8"/>
          </a:solidFill>
          <a:ln/>
        </p:spPr>
      </p:sp>
      <p:sp>
        <p:nvSpPr>
          <p:cNvPr id="30" name="Shape 28"/>
          <p:cNvSpPr/>
          <p:nvPr/>
        </p:nvSpPr>
        <p:spPr>
          <a:xfrm>
            <a:off x="4872113" y="411458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A9BA8"/>
          </a:solidFill>
          <a:ln/>
        </p:spPr>
      </p:sp>
      <p:sp>
        <p:nvSpPr>
          <p:cNvPr id="31" name="Text 29"/>
          <p:cNvSpPr/>
          <p:nvPr/>
        </p:nvSpPr>
        <p:spPr>
          <a:xfrm>
            <a:off x="4814963" y="411458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57825" y="4114585"/>
            <a:ext cx="620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Analysis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57825" y="4419171"/>
            <a:ext cx="618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A3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Demographics and spending patterns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702968" y="4914530"/>
            <a:ext cx="33598" cy="838200"/>
          </a:xfrm>
          <a:custGeom>
            <a:avLst/>
            <a:gdLst/>
            <a:ahLst/>
            <a:cxnLst/>
            <a:rect l="l" t="t" r="r" b="b"/>
            <a:pathLst>
              <a:path w="33598" h="838200">
                <a:moveTo>
                  <a:pt x="0" y="0"/>
                </a:moveTo>
                <a:lnTo>
                  <a:pt x="33598" y="0"/>
                </a:lnTo>
                <a:lnTo>
                  <a:pt x="33598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35" name="Shape 33"/>
          <p:cNvSpPr/>
          <p:nvPr/>
        </p:nvSpPr>
        <p:spPr>
          <a:xfrm>
            <a:off x="4872113" y="506687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36" name="Text 34"/>
          <p:cNvSpPr/>
          <p:nvPr/>
        </p:nvSpPr>
        <p:spPr>
          <a:xfrm>
            <a:off x="4814963" y="5066876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557825" y="5066876"/>
            <a:ext cx="620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Performance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557825" y="5371462"/>
            <a:ext cx="618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A3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Ratings and category analysis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702968" y="5866820"/>
            <a:ext cx="33598" cy="838200"/>
          </a:xfrm>
          <a:custGeom>
            <a:avLst/>
            <a:gdLst/>
            <a:ahLst/>
            <a:cxnLst/>
            <a:rect l="l" t="t" r="r" b="b"/>
            <a:pathLst>
              <a:path w="33598" h="838200">
                <a:moveTo>
                  <a:pt x="0" y="0"/>
                </a:moveTo>
                <a:lnTo>
                  <a:pt x="33598" y="0"/>
                </a:lnTo>
                <a:lnTo>
                  <a:pt x="33598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40" name="Shape 38"/>
          <p:cNvSpPr/>
          <p:nvPr/>
        </p:nvSpPr>
        <p:spPr>
          <a:xfrm>
            <a:off x="4872113" y="601916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41" name="Text 39"/>
          <p:cNvSpPr/>
          <p:nvPr/>
        </p:nvSpPr>
        <p:spPr>
          <a:xfrm>
            <a:off x="4814963" y="601916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557825" y="6019165"/>
            <a:ext cx="620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Recommendations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557825" y="6323751"/>
            <a:ext cx="618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A3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initiatives for growth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062" y="345062"/>
            <a:ext cx="586735" cy="448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33" b="1" dirty="0">
                <a:solidFill>
                  <a:srgbClr val="C48A6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46581" y="345062"/>
            <a:ext cx="11225614" cy="448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33" b="1" dirty="0">
                <a:solidFill>
                  <a:srgbClr val="2A3D4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46581" y="862655"/>
            <a:ext cx="828331" cy="25885"/>
          </a:xfrm>
          <a:custGeom>
            <a:avLst/>
            <a:gdLst/>
            <a:ahLst/>
            <a:cxnLst/>
            <a:rect l="l" t="t" r="r" b="b"/>
            <a:pathLst>
              <a:path w="828331" h="25885">
                <a:moveTo>
                  <a:pt x="0" y="0"/>
                </a:moveTo>
                <a:lnTo>
                  <a:pt x="828331" y="0"/>
                </a:lnTo>
                <a:lnTo>
                  <a:pt x="828331" y="25885"/>
                </a:lnTo>
                <a:lnTo>
                  <a:pt x="0" y="25885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5" name="Text 3"/>
          <p:cNvSpPr/>
          <p:nvPr/>
        </p:nvSpPr>
        <p:spPr>
          <a:xfrm>
            <a:off x="345062" y="1095581"/>
            <a:ext cx="8671592" cy="34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74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Objective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5062" y="1544124"/>
            <a:ext cx="8615507" cy="53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1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This project analyzes customer shopping behavior using transactional data from </a:t>
            </a:r>
            <a:pPr>
              <a:lnSpc>
                <a:spcPct val="140000"/>
              </a:lnSpc>
            </a:pPr>
            <a:r>
              <a:rPr lang="en-US" sz="1291" b="1" dirty="0">
                <a:solidFill>
                  <a:srgbClr val="2A3D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3,900 purchases</a:t>
            </a:r>
            <a:pPr>
              <a:lnSpc>
                <a:spcPct val="140000"/>
              </a:lnSpc>
            </a:pPr>
            <a:r>
              <a:rPr lang="en-US" sz="1291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across various product categories to uncover actionable business insights.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0280" y="2214940"/>
            <a:ext cx="30435" cy="673019"/>
          </a:xfrm>
          <a:custGeom>
            <a:avLst/>
            <a:gdLst/>
            <a:ahLst/>
            <a:cxnLst/>
            <a:rect l="l" t="t" r="r" b="b"/>
            <a:pathLst>
              <a:path w="30435" h="673019">
                <a:moveTo>
                  <a:pt x="0" y="0"/>
                </a:moveTo>
                <a:lnTo>
                  <a:pt x="30435" y="0"/>
                </a:lnTo>
                <a:lnTo>
                  <a:pt x="30435" y="673019"/>
                </a:lnTo>
                <a:lnTo>
                  <a:pt x="0" y="673019"/>
                </a:lnTo>
                <a:lnTo>
                  <a:pt x="0" y="0"/>
                </a:ln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8" name="Shape 6"/>
          <p:cNvSpPr/>
          <p:nvPr/>
        </p:nvSpPr>
        <p:spPr>
          <a:xfrm>
            <a:off x="535074" y="2318421"/>
            <a:ext cx="172569" cy="172569"/>
          </a:xfrm>
          <a:custGeom>
            <a:avLst/>
            <a:gdLst/>
            <a:ahLst/>
            <a:cxnLst/>
            <a:rect l="l" t="t" r="r" b="b"/>
            <a:pathLst>
              <a:path w="172569" h="172569">
                <a:moveTo>
                  <a:pt x="21571" y="21571"/>
                </a:moveTo>
                <a:cubicBezTo>
                  <a:pt x="21571" y="15605"/>
                  <a:pt x="16751" y="10786"/>
                  <a:pt x="10786" y="10786"/>
                </a:cubicBezTo>
                <a:cubicBezTo>
                  <a:pt x="4820" y="10786"/>
                  <a:pt x="0" y="15605"/>
                  <a:pt x="0" y="21571"/>
                </a:cubicBezTo>
                <a:lnTo>
                  <a:pt x="0" y="134820"/>
                </a:lnTo>
                <a:cubicBezTo>
                  <a:pt x="0" y="149717"/>
                  <a:pt x="12066" y="161783"/>
                  <a:pt x="26964" y="161783"/>
                </a:cubicBezTo>
                <a:lnTo>
                  <a:pt x="161783" y="161783"/>
                </a:lnTo>
                <a:cubicBezTo>
                  <a:pt x="167749" y="161783"/>
                  <a:pt x="172569" y="156964"/>
                  <a:pt x="172569" y="150998"/>
                </a:cubicBezTo>
                <a:cubicBezTo>
                  <a:pt x="172569" y="145032"/>
                  <a:pt x="167749" y="140212"/>
                  <a:pt x="161783" y="140212"/>
                </a:cubicBezTo>
                <a:lnTo>
                  <a:pt x="26964" y="140212"/>
                </a:lnTo>
                <a:cubicBezTo>
                  <a:pt x="23998" y="140212"/>
                  <a:pt x="21571" y="137786"/>
                  <a:pt x="21571" y="134820"/>
                </a:cubicBezTo>
                <a:lnTo>
                  <a:pt x="21571" y="21571"/>
                </a:lnTo>
                <a:close/>
                <a:moveTo>
                  <a:pt x="158615" y="50760"/>
                </a:moveTo>
                <a:cubicBezTo>
                  <a:pt x="162828" y="46546"/>
                  <a:pt x="162828" y="39704"/>
                  <a:pt x="158615" y="35491"/>
                </a:cubicBezTo>
                <a:cubicBezTo>
                  <a:pt x="154402" y="31278"/>
                  <a:pt x="147560" y="31278"/>
                  <a:pt x="143347" y="35491"/>
                </a:cubicBezTo>
                <a:lnTo>
                  <a:pt x="107856" y="71016"/>
                </a:lnTo>
                <a:lnTo>
                  <a:pt x="88509" y="51703"/>
                </a:lnTo>
                <a:cubicBezTo>
                  <a:pt x="84296" y="47490"/>
                  <a:pt x="77454" y="47490"/>
                  <a:pt x="73241" y="51703"/>
                </a:cubicBezTo>
                <a:lnTo>
                  <a:pt x="40884" y="84060"/>
                </a:lnTo>
                <a:cubicBezTo>
                  <a:pt x="36671" y="88273"/>
                  <a:pt x="36671" y="95115"/>
                  <a:pt x="40884" y="99328"/>
                </a:cubicBezTo>
                <a:cubicBezTo>
                  <a:pt x="45097" y="103541"/>
                  <a:pt x="51939" y="103541"/>
                  <a:pt x="56152" y="99328"/>
                </a:cubicBezTo>
                <a:lnTo>
                  <a:pt x="80892" y="74589"/>
                </a:lnTo>
                <a:lnTo>
                  <a:pt x="100238" y="93936"/>
                </a:lnTo>
                <a:cubicBezTo>
                  <a:pt x="104451" y="98149"/>
                  <a:pt x="111294" y="98149"/>
                  <a:pt x="115507" y="93936"/>
                </a:cubicBezTo>
                <a:lnTo>
                  <a:pt x="158649" y="50793"/>
                </a:ln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9" name="Text 7"/>
          <p:cNvSpPr/>
          <p:nvPr/>
        </p:nvSpPr>
        <p:spPr>
          <a:xfrm>
            <a:off x="832695" y="2283896"/>
            <a:ext cx="1337410" cy="24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3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Spending Patterns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3503" y="2594432"/>
            <a:ext cx="4098514" cy="22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7" dirty="0">
                <a:solidFill>
                  <a:srgbClr val="1E2A37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revenue drivers and customer value segments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97521" y="2214940"/>
            <a:ext cx="30435" cy="673019"/>
          </a:xfrm>
          <a:custGeom>
            <a:avLst/>
            <a:gdLst/>
            <a:ahLst/>
            <a:cxnLst/>
            <a:rect l="l" t="t" r="r" b="b"/>
            <a:pathLst>
              <a:path w="30435" h="673019">
                <a:moveTo>
                  <a:pt x="0" y="0"/>
                </a:moveTo>
                <a:lnTo>
                  <a:pt x="30435" y="0"/>
                </a:lnTo>
                <a:lnTo>
                  <a:pt x="30435" y="673019"/>
                </a:lnTo>
                <a:lnTo>
                  <a:pt x="0" y="673019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12" name="Shape 10"/>
          <p:cNvSpPr/>
          <p:nvPr/>
        </p:nvSpPr>
        <p:spPr>
          <a:xfrm>
            <a:off x="4850745" y="2318421"/>
            <a:ext cx="215711" cy="172569"/>
          </a:xfrm>
          <a:custGeom>
            <a:avLst/>
            <a:gdLst/>
            <a:ahLst/>
            <a:cxnLst/>
            <a:rect l="l" t="t" r="r" b="b"/>
            <a:pathLst>
              <a:path w="215711" h="172569">
                <a:moveTo>
                  <a:pt x="107856" y="5393"/>
                </a:moveTo>
                <a:cubicBezTo>
                  <a:pt x="127202" y="5393"/>
                  <a:pt x="142909" y="21100"/>
                  <a:pt x="142909" y="40446"/>
                </a:cubicBezTo>
                <a:cubicBezTo>
                  <a:pt x="142909" y="59792"/>
                  <a:pt x="127202" y="75499"/>
                  <a:pt x="107856" y="75499"/>
                </a:cubicBezTo>
                <a:cubicBezTo>
                  <a:pt x="88509" y="75499"/>
                  <a:pt x="72803" y="59792"/>
                  <a:pt x="72803" y="40446"/>
                </a:cubicBezTo>
                <a:cubicBezTo>
                  <a:pt x="72803" y="21100"/>
                  <a:pt x="88509" y="5393"/>
                  <a:pt x="107856" y="5393"/>
                </a:cubicBezTo>
                <a:close/>
                <a:moveTo>
                  <a:pt x="32357" y="29660"/>
                </a:moveTo>
                <a:cubicBezTo>
                  <a:pt x="45750" y="29660"/>
                  <a:pt x="56624" y="40534"/>
                  <a:pt x="56624" y="53928"/>
                </a:cubicBezTo>
                <a:cubicBezTo>
                  <a:pt x="56624" y="67321"/>
                  <a:pt x="45750" y="78195"/>
                  <a:pt x="32357" y="78195"/>
                </a:cubicBezTo>
                <a:cubicBezTo>
                  <a:pt x="18963" y="78195"/>
                  <a:pt x="8089" y="67321"/>
                  <a:pt x="8089" y="53928"/>
                </a:cubicBezTo>
                <a:cubicBezTo>
                  <a:pt x="8089" y="40534"/>
                  <a:pt x="18963" y="29660"/>
                  <a:pt x="32357" y="29660"/>
                </a:cubicBezTo>
                <a:close/>
                <a:moveTo>
                  <a:pt x="0" y="140212"/>
                </a:moveTo>
                <a:cubicBezTo>
                  <a:pt x="0" y="116383"/>
                  <a:pt x="19313" y="97070"/>
                  <a:pt x="43142" y="97070"/>
                </a:cubicBezTo>
                <a:cubicBezTo>
                  <a:pt x="47456" y="97070"/>
                  <a:pt x="51636" y="97710"/>
                  <a:pt x="55579" y="98890"/>
                </a:cubicBezTo>
                <a:cubicBezTo>
                  <a:pt x="44490" y="111294"/>
                  <a:pt x="37749" y="127674"/>
                  <a:pt x="37749" y="145605"/>
                </a:cubicBezTo>
                <a:lnTo>
                  <a:pt x="37749" y="150998"/>
                </a:lnTo>
                <a:cubicBezTo>
                  <a:pt x="37749" y="154840"/>
                  <a:pt x="38558" y="158480"/>
                  <a:pt x="40008" y="161783"/>
                </a:cubicBezTo>
                <a:lnTo>
                  <a:pt x="10786" y="161783"/>
                </a:lnTo>
                <a:cubicBezTo>
                  <a:pt x="4820" y="161783"/>
                  <a:pt x="0" y="156964"/>
                  <a:pt x="0" y="150998"/>
                </a:cubicBezTo>
                <a:lnTo>
                  <a:pt x="0" y="140212"/>
                </a:lnTo>
                <a:close/>
                <a:moveTo>
                  <a:pt x="175704" y="161783"/>
                </a:moveTo>
                <a:cubicBezTo>
                  <a:pt x="177153" y="158480"/>
                  <a:pt x="177962" y="154840"/>
                  <a:pt x="177962" y="150998"/>
                </a:cubicBezTo>
                <a:lnTo>
                  <a:pt x="177962" y="145605"/>
                </a:lnTo>
                <a:cubicBezTo>
                  <a:pt x="177962" y="127674"/>
                  <a:pt x="171221" y="111294"/>
                  <a:pt x="160132" y="98890"/>
                </a:cubicBezTo>
                <a:cubicBezTo>
                  <a:pt x="164075" y="97710"/>
                  <a:pt x="168255" y="97070"/>
                  <a:pt x="172569" y="97070"/>
                </a:cubicBezTo>
                <a:cubicBezTo>
                  <a:pt x="196398" y="97070"/>
                  <a:pt x="215711" y="116383"/>
                  <a:pt x="215711" y="140212"/>
                </a:cubicBezTo>
                <a:lnTo>
                  <a:pt x="215711" y="150998"/>
                </a:lnTo>
                <a:cubicBezTo>
                  <a:pt x="215711" y="156964"/>
                  <a:pt x="210891" y="161783"/>
                  <a:pt x="204926" y="161783"/>
                </a:cubicBezTo>
                <a:lnTo>
                  <a:pt x="175704" y="161783"/>
                </a:lnTo>
                <a:close/>
                <a:moveTo>
                  <a:pt x="159087" y="53928"/>
                </a:moveTo>
                <a:cubicBezTo>
                  <a:pt x="159087" y="40534"/>
                  <a:pt x="169961" y="29660"/>
                  <a:pt x="183355" y="29660"/>
                </a:cubicBezTo>
                <a:cubicBezTo>
                  <a:pt x="196748" y="29660"/>
                  <a:pt x="207622" y="40534"/>
                  <a:pt x="207622" y="53928"/>
                </a:cubicBezTo>
                <a:cubicBezTo>
                  <a:pt x="207622" y="67321"/>
                  <a:pt x="196748" y="78195"/>
                  <a:pt x="183355" y="78195"/>
                </a:cubicBezTo>
                <a:cubicBezTo>
                  <a:pt x="169961" y="78195"/>
                  <a:pt x="159087" y="67321"/>
                  <a:pt x="159087" y="53928"/>
                </a:cubicBezTo>
                <a:close/>
                <a:moveTo>
                  <a:pt x="53928" y="145605"/>
                </a:moveTo>
                <a:cubicBezTo>
                  <a:pt x="53928" y="115810"/>
                  <a:pt x="78061" y="91677"/>
                  <a:pt x="107856" y="91677"/>
                </a:cubicBezTo>
                <a:cubicBezTo>
                  <a:pt x="137651" y="91677"/>
                  <a:pt x="161783" y="115810"/>
                  <a:pt x="161783" y="145605"/>
                </a:cubicBezTo>
                <a:lnTo>
                  <a:pt x="161783" y="150998"/>
                </a:lnTo>
                <a:cubicBezTo>
                  <a:pt x="161783" y="156964"/>
                  <a:pt x="156964" y="161783"/>
                  <a:pt x="150998" y="161783"/>
                </a:cubicBezTo>
                <a:lnTo>
                  <a:pt x="64713" y="161783"/>
                </a:lnTo>
                <a:cubicBezTo>
                  <a:pt x="58748" y="161783"/>
                  <a:pt x="53928" y="156964"/>
                  <a:pt x="53928" y="150998"/>
                </a:cubicBezTo>
                <a:lnTo>
                  <a:pt x="53928" y="145605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13" name="Text 11"/>
          <p:cNvSpPr/>
          <p:nvPr/>
        </p:nvSpPr>
        <p:spPr>
          <a:xfrm>
            <a:off x="5169937" y="2283896"/>
            <a:ext cx="1484093" cy="24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3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Segments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50745" y="2594432"/>
            <a:ext cx="4098514" cy="22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7" dirty="0">
                <a:solidFill>
                  <a:srgbClr val="1E2A37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Classify customers by behavior and loyalty status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0280" y="3025759"/>
            <a:ext cx="30435" cy="673019"/>
          </a:xfrm>
          <a:custGeom>
            <a:avLst/>
            <a:gdLst/>
            <a:ahLst/>
            <a:cxnLst/>
            <a:rect l="l" t="t" r="r" b="b"/>
            <a:pathLst>
              <a:path w="30435" h="673019">
                <a:moveTo>
                  <a:pt x="0" y="0"/>
                </a:moveTo>
                <a:lnTo>
                  <a:pt x="30435" y="0"/>
                </a:lnTo>
                <a:lnTo>
                  <a:pt x="30435" y="673019"/>
                </a:lnTo>
                <a:lnTo>
                  <a:pt x="0" y="673019"/>
                </a:lnTo>
                <a:lnTo>
                  <a:pt x="0" y="0"/>
                </a:lnTo>
                <a:close/>
              </a:path>
            </a:pathLst>
          </a:custGeom>
          <a:solidFill>
            <a:srgbClr val="8A9BA8"/>
          </a:solidFill>
          <a:ln/>
        </p:spPr>
      </p:sp>
      <p:sp>
        <p:nvSpPr>
          <p:cNvPr id="16" name="Shape 14"/>
          <p:cNvSpPr/>
          <p:nvPr/>
        </p:nvSpPr>
        <p:spPr>
          <a:xfrm>
            <a:off x="545860" y="3129240"/>
            <a:ext cx="150998" cy="172569"/>
          </a:xfrm>
          <a:custGeom>
            <a:avLst/>
            <a:gdLst/>
            <a:ahLst/>
            <a:cxnLst/>
            <a:rect l="l" t="t" r="r" b="b"/>
            <a:pathLst>
              <a:path w="150998" h="172569">
                <a:moveTo>
                  <a:pt x="124506" y="43142"/>
                </a:moveTo>
                <a:lnTo>
                  <a:pt x="112945" y="26964"/>
                </a:lnTo>
                <a:lnTo>
                  <a:pt x="38087" y="26964"/>
                </a:lnTo>
                <a:lnTo>
                  <a:pt x="26526" y="43142"/>
                </a:lnTo>
                <a:lnTo>
                  <a:pt x="124506" y="43142"/>
                </a:lnTo>
                <a:close/>
                <a:moveTo>
                  <a:pt x="0" y="50052"/>
                </a:moveTo>
                <a:cubicBezTo>
                  <a:pt x="0" y="45569"/>
                  <a:pt x="1416" y="41187"/>
                  <a:pt x="4011" y="37514"/>
                </a:cubicBezTo>
                <a:lnTo>
                  <a:pt x="20526" y="14426"/>
                </a:lnTo>
                <a:cubicBezTo>
                  <a:pt x="24571" y="8763"/>
                  <a:pt x="31110" y="5393"/>
                  <a:pt x="38053" y="5393"/>
                </a:cubicBezTo>
                <a:lnTo>
                  <a:pt x="112911" y="5393"/>
                </a:lnTo>
                <a:cubicBezTo>
                  <a:pt x="119888" y="5393"/>
                  <a:pt x="126427" y="8763"/>
                  <a:pt x="130472" y="14426"/>
                </a:cubicBezTo>
                <a:lnTo>
                  <a:pt x="146953" y="37514"/>
                </a:lnTo>
                <a:cubicBezTo>
                  <a:pt x="149582" y="41187"/>
                  <a:pt x="150964" y="45569"/>
                  <a:pt x="150964" y="50052"/>
                </a:cubicBezTo>
                <a:lnTo>
                  <a:pt x="150998" y="140212"/>
                </a:lnTo>
                <a:cubicBezTo>
                  <a:pt x="150998" y="152110"/>
                  <a:pt x="141325" y="161783"/>
                  <a:pt x="129427" y="161783"/>
                </a:cubicBezTo>
                <a:lnTo>
                  <a:pt x="21571" y="161783"/>
                </a:lnTo>
                <a:cubicBezTo>
                  <a:pt x="9673" y="161783"/>
                  <a:pt x="0" y="152110"/>
                  <a:pt x="0" y="140212"/>
                </a:cubicBezTo>
                <a:lnTo>
                  <a:pt x="0" y="50052"/>
                </a:lnTo>
                <a:close/>
              </a:path>
            </a:pathLst>
          </a:custGeom>
          <a:solidFill>
            <a:srgbClr val="8A9BA8"/>
          </a:solidFill>
          <a:ln/>
        </p:spPr>
      </p:sp>
      <p:sp>
        <p:nvSpPr>
          <p:cNvPr id="17" name="Text 15"/>
          <p:cNvSpPr/>
          <p:nvPr/>
        </p:nvSpPr>
        <p:spPr>
          <a:xfrm>
            <a:off x="832695" y="3094715"/>
            <a:ext cx="1484093" cy="24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3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Preferences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3503" y="3405252"/>
            <a:ext cx="4098514" cy="22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7" dirty="0">
                <a:solidFill>
                  <a:srgbClr val="1E2A37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 category performance and preferences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97521" y="3025759"/>
            <a:ext cx="30435" cy="673019"/>
          </a:xfrm>
          <a:custGeom>
            <a:avLst/>
            <a:gdLst/>
            <a:ahLst/>
            <a:cxnLst/>
            <a:rect l="l" t="t" r="r" b="b"/>
            <a:pathLst>
              <a:path w="30435" h="673019">
                <a:moveTo>
                  <a:pt x="0" y="0"/>
                </a:moveTo>
                <a:lnTo>
                  <a:pt x="30435" y="0"/>
                </a:lnTo>
                <a:lnTo>
                  <a:pt x="30435" y="673019"/>
                </a:lnTo>
                <a:lnTo>
                  <a:pt x="0" y="673019"/>
                </a:lnTo>
                <a:lnTo>
                  <a:pt x="0" y="0"/>
                </a:ln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20" name="Shape 18"/>
          <p:cNvSpPr/>
          <p:nvPr/>
        </p:nvSpPr>
        <p:spPr>
          <a:xfrm>
            <a:off x="4861530" y="3129240"/>
            <a:ext cx="194140" cy="172569"/>
          </a:xfrm>
          <a:custGeom>
            <a:avLst/>
            <a:gdLst/>
            <a:ahLst/>
            <a:cxnLst/>
            <a:rect l="l" t="t" r="r" b="b"/>
            <a:pathLst>
              <a:path w="194140" h="172569">
                <a:moveTo>
                  <a:pt x="104317" y="-6370"/>
                </a:moveTo>
                <a:cubicBezTo>
                  <a:pt x="102935" y="-9067"/>
                  <a:pt x="100137" y="-10786"/>
                  <a:pt x="97104" y="-10786"/>
                </a:cubicBezTo>
                <a:cubicBezTo>
                  <a:pt x="94070" y="-10786"/>
                  <a:pt x="91273" y="-9067"/>
                  <a:pt x="89891" y="-6370"/>
                </a:cubicBezTo>
                <a:lnTo>
                  <a:pt x="65084" y="42232"/>
                </a:lnTo>
                <a:lnTo>
                  <a:pt x="11190" y="50793"/>
                </a:lnTo>
                <a:cubicBezTo>
                  <a:pt x="8190" y="51265"/>
                  <a:pt x="5696" y="53389"/>
                  <a:pt x="4752" y="56287"/>
                </a:cubicBezTo>
                <a:cubicBezTo>
                  <a:pt x="3809" y="59186"/>
                  <a:pt x="4584" y="62354"/>
                  <a:pt x="6707" y="64511"/>
                </a:cubicBezTo>
                <a:lnTo>
                  <a:pt x="45266" y="103103"/>
                </a:lnTo>
                <a:lnTo>
                  <a:pt x="36772" y="156997"/>
                </a:lnTo>
                <a:cubicBezTo>
                  <a:pt x="36300" y="159997"/>
                  <a:pt x="37547" y="163031"/>
                  <a:pt x="40008" y="164817"/>
                </a:cubicBezTo>
                <a:cubicBezTo>
                  <a:pt x="42468" y="166603"/>
                  <a:pt x="45704" y="166873"/>
                  <a:pt x="48434" y="165491"/>
                </a:cubicBezTo>
                <a:lnTo>
                  <a:pt x="97104" y="140752"/>
                </a:lnTo>
                <a:lnTo>
                  <a:pt x="145740" y="165491"/>
                </a:lnTo>
                <a:cubicBezTo>
                  <a:pt x="148436" y="166873"/>
                  <a:pt x="151706" y="166603"/>
                  <a:pt x="154166" y="164817"/>
                </a:cubicBezTo>
                <a:cubicBezTo>
                  <a:pt x="156627" y="163031"/>
                  <a:pt x="157874" y="160031"/>
                  <a:pt x="157402" y="156997"/>
                </a:cubicBezTo>
                <a:lnTo>
                  <a:pt x="148874" y="103103"/>
                </a:lnTo>
                <a:lnTo>
                  <a:pt x="187433" y="64511"/>
                </a:lnTo>
                <a:cubicBezTo>
                  <a:pt x="189590" y="62354"/>
                  <a:pt x="190331" y="59186"/>
                  <a:pt x="189388" y="56287"/>
                </a:cubicBezTo>
                <a:cubicBezTo>
                  <a:pt x="188444" y="53389"/>
                  <a:pt x="185984" y="51265"/>
                  <a:pt x="182950" y="50793"/>
                </a:cubicBezTo>
                <a:lnTo>
                  <a:pt x="129090" y="42232"/>
                </a:lnTo>
                <a:lnTo>
                  <a:pt x="104317" y="-6370"/>
                </a:ln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21" name="Text 19"/>
          <p:cNvSpPr/>
          <p:nvPr/>
        </p:nvSpPr>
        <p:spPr>
          <a:xfrm>
            <a:off x="5169937" y="3094715"/>
            <a:ext cx="1579006" cy="24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3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Subscription Behavior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50745" y="3405252"/>
            <a:ext cx="4098514" cy="22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7" dirty="0">
                <a:solidFill>
                  <a:srgbClr val="1E2A37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 subscription impact on customer value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5062" y="6172689"/>
            <a:ext cx="8533537" cy="12174"/>
          </a:xfrm>
          <a:custGeom>
            <a:avLst/>
            <a:gdLst/>
            <a:ahLst/>
            <a:cxnLst/>
            <a:rect l="l" t="t" r="r" b="b"/>
            <a:pathLst>
              <a:path w="8533537" h="12174">
                <a:moveTo>
                  <a:pt x="0" y="0"/>
                </a:moveTo>
                <a:lnTo>
                  <a:pt x="8533537" y="0"/>
                </a:lnTo>
                <a:lnTo>
                  <a:pt x="8533537" y="12174"/>
                </a:lnTo>
                <a:lnTo>
                  <a:pt x="0" y="12174"/>
                </a:lnTo>
                <a:lnTo>
                  <a:pt x="0" y="0"/>
                </a:ln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24" name="Text 22"/>
          <p:cNvSpPr/>
          <p:nvPr/>
        </p:nvSpPr>
        <p:spPr>
          <a:xfrm>
            <a:off x="345062" y="6316783"/>
            <a:ext cx="8637079" cy="31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31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45062" y="6696274"/>
            <a:ext cx="8615507" cy="53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1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Insights from this analysis will guide strategic decisions in </a:t>
            </a:r>
            <a:pPr>
              <a:lnSpc>
                <a:spcPct val="140000"/>
              </a:lnSpc>
            </a:pPr>
            <a:r>
              <a:rPr lang="en-US" sz="1291" dirty="0">
                <a:solidFill>
                  <a:srgbClr val="2A3D4F"/>
                </a:solidFill>
                <a:highlight>
                  <a:srgbClr val="C48A69">
                    <a:alpha val="2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customer retention </a:t>
            </a:r>
            <a:pPr>
              <a:lnSpc>
                <a:spcPct val="140000"/>
              </a:lnSpc>
            </a:pPr>
            <a:r>
              <a:rPr lang="en-US" sz="1291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291" dirty="0">
                <a:solidFill>
                  <a:srgbClr val="2A3D4F"/>
                </a:solidFill>
                <a:highlight>
                  <a:srgbClr val="C48A69">
                    <a:alpha val="2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product positioning </a:t>
            </a:r>
            <a:pPr>
              <a:lnSpc>
                <a:spcPct val="140000"/>
              </a:lnSpc>
            </a:pPr>
            <a:r>
              <a:rPr lang="en-US" sz="1291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and </a:t>
            </a:r>
            <a:pPr>
              <a:lnSpc>
                <a:spcPct val="140000"/>
              </a:lnSpc>
            </a:pPr>
            <a:r>
              <a:rPr lang="en-US" sz="1291" dirty="0">
                <a:solidFill>
                  <a:srgbClr val="2A3D4F"/>
                </a:solidFill>
                <a:highlight>
                  <a:srgbClr val="C48A69">
                    <a:alpha val="2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revenue optimization </a:t>
            </a:r>
            <a:pPr>
              <a:lnSpc>
                <a:spcPct val="140000"/>
              </a:lnSpc>
            </a:pPr>
            <a:r>
              <a:rPr lang="en-US" sz="1291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088690" y="1095581"/>
            <a:ext cx="2761104" cy="3805146"/>
          </a:xfrm>
          <a:custGeom>
            <a:avLst/>
            <a:gdLst/>
            <a:ahLst/>
            <a:cxnLst/>
            <a:rect l="l" t="t" r="r" b="b"/>
            <a:pathLst>
              <a:path w="2761104" h="3805146">
                <a:moveTo>
                  <a:pt x="69028" y="0"/>
                </a:moveTo>
                <a:lnTo>
                  <a:pt x="2692076" y="0"/>
                </a:lnTo>
                <a:cubicBezTo>
                  <a:pt x="2730174" y="0"/>
                  <a:pt x="2761104" y="30930"/>
                  <a:pt x="2761104" y="69028"/>
                </a:cubicBezTo>
                <a:lnTo>
                  <a:pt x="2761104" y="3736119"/>
                </a:lnTo>
                <a:cubicBezTo>
                  <a:pt x="2761104" y="3774216"/>
                  <a:pt x="2730174" y="3805146"/>
                  <a:pt x="2692076" y="3805146"/>
                </a:cubicBezTo>
                <a:lnTo>
                  <a:pt x="69028" y="3805146"/>
                </a:lnTo>
                <a:cubicBezTo>
                  <a:pt x="30930" y="3805146"/>
                  <a:pt x="0" y="3774216"/>
                  <a:pt x="0" y="3736119"/>
                </a:cubicBezTo>
                <a:lnTo>
                  <a:pt x="0" y="69028"/>
                </a:lnTo>
                <a:cubicBezTo>
                  <a:pt x="0" y="30930"/>
                  <a:pt x="30930" y="0"/>
                  <a:pt x="69028" y="0"/>
                </a:cubicBez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27" name="Text 25"/>
          <p:cNvSpPr/>
          <p:nvPr/>
        </p:nvSpPr>
        <p:spPr>
          <a:xfrm>
            <a:off x="9295747" y="1302637"/>
            <a:ext cx="2450480" cy="27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1" b="1" dirty="0">
                <a:solidFill>
                  <a:srgbClr val="F8F7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Metrics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95747" y="1716655"/>
            <a:ext cx="2415966" cy="20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7" dirty="0">
                <a:solidFill>
                  <a:srgbClr val="F8F7F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Transactions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295747" y="1958236"/>
            <a:ext cx="2536764" cy="379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2989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3,900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95747" y="2372349"/>
            <a:ext cx="2407338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dirty="0">
                <a:solidFill>
                  <a:srgbClr val="F8F7F4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records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295747" y="2685928"/>
            <a:ext cx="2346938" cy="6087"/>
          </a:xfrm>
          <a:custGeom>
            <a:avLst/>
            <a:gdLst/>
            <a:ahLst/>
            <a:cxnLst/>
            <a:rect l="l" t="t" r="r" b="b"/>
            <a:pathLst>
              <a:path w="2346938" h="6087">
                <a:moveTo>
                  <a:pt x="0" y="0"/>
                </a:moveTo>
                <a:lnTo>
                  <a:pt x="2346938" y="0"/>
                </a:lnTo>
                <a:lnTo>
                  <a:pt x="2346938" y="6087"/>
                </a:lnTo>
                <a:lnTo>
                  <a:pt x="0" y="6087"/>
                </a:lnTo>
                <a:lnTo>
                  <a:pt x="0" y="0"/>
                </a:lnTo>
                <a:close/>
              </a:path>
            </a:pathLst>
          </a:custGeom>
          <a:solidFill>
            <a:srgbClr val="F8F7F4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295747" y="2792453"/>
            <a:ext cx="2415966" cy="20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7" dirty="0">
                <a:solidFill>
                  <a:srgbClr val="F8F7F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Features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295747" y="3034034"/>
            <a:ext cx="2536764" cy="379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2989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295747" y="3448146"/>
            <a:ext cx="2407338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dirty="0">
                <a:solidFill>
                  <a:srgbClr val="F8F7F4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Behavioral dimensions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295747" y="3761727"/>
            <a:ext cx="2346938" cy="6087"/>
          </a:xfrm>
          <a:custGeom>
            <a:avLst/>
            <a:gdLst/>
            <a:ahLst/>
            <a:cxnLst/>
            <a:rect l="l" t="t" r="r" b="b"/>
            <a:pathLst>
              <a:path w="2346938" h="6087">
                <a:moveTo>
                  <a:pt x="0" y="0"/>
                </a:moveTo>
                <a:lnTo>
                  <a:pt x="2346938" y="0"/>
                </a:lnTo>
                <a:lnTo>
                  <a:pt x="2346938" y="6087"/>
                </a:lnTo>
                <a:lnTo>
                  <a:pt x="0" y="6087"/>
                </a:lnTo>
                <a:lnTo>
                  <a:pt x="0" y="0"/>
                </a:lnTo>
                <a:close/>
              </a:path>
            </a:pathLst>
          </a:custGeom>
          <a:solidFill>
            <a:srgbClr val="F8F7F4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295747" y="3868250"/>
            <a:ext cx="2415966" cy="20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7" dirty="0">
                <a:solidFill>
                  <a:srgbClr val="F8F7F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Quality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295747" y="4109832"/>
            <a:ext cx="2536764" cy="379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2989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99%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295747" y="4523944"/>
            <a:ext cx="2407338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dirty="0">
                <a:solidFill>
                  <a:srgbClr val="F8F7F4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dataset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94777" y="5047625"/>
            <a:ext cx="2747393" cy="1806892"/>
          </a:xfrm>
          <a:custGeom>
            <a:avLst/>
            <a:gdLst/>
            <a:ahLst/>
            <a:cxnLst/>
            <a:rect l="l" t="t" r="r" b="b"/>
            <a:pathLst>
              <a:path w="2747393" h="1806892">
                <a:moveTo>
                  <a:pt x="69023" y="0"/>
                </a:moveTo>
                <a:lnTo>
                  <a:pt x="2678370" y="0"/>
                </a:lnTo>
                <a:cubicBezTo>
                  <a:pt x="2716490" y="0"/>
                  <a:pt x="2747393" y="30903"/>
                  <a:pt x="2747393" y="69023"/>
                </a:cubicBezTo>
                <a:lnTo>
                  <a:pt x="2747393" y="1737868"/>
                </a:lnTo>
                <a:cubicBezTo>
                  <a:pt x="2747393" y="1775989"/>
                  <a:pt x="2716490" y="1806892"/>
                  <a:pt x="2678370" y="1806892"/>
                </a:cubicBezTo>
                <a:lnTo>
                  <a:pt x="69023" y="1806892"/>
                </a:lnTo>
                <a:cubicBezTo>
                  <a:pt x="30903" y="1806892"/>
                  <a:pt x="0" y="1775989"/>
                  <a:pt x="0" y="1737868"/>
                </a:cubicBezTo>
                <a:lnTo>
                  <a:pt x="0" y="69023"/>
                </a:lnTo>
                <a:cubicBezTo>
                  <a:pt x="0" y="30928"/>
                  <a:pt x="30928" y="0"/>
                  <a:pt x="6902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7919">
            <a:solidFill>
              <a:srgbClr val="C48A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07922" y="5260767"/>
            <a:ext cx="2407338" cy="24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9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Focus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307922" y="5674785"/>
            <a:ext cx="69028" cy="69028"/>
          </a:xfrm>
          <a:custGeom>
            <a:avLst/>
            <a:gdLst/>
            <a:ahLst/>
            <a:cxnLst/>
            <a:rect l="l" t="t" r="r" b="b"/>
            <a:pathLst>
              <a:path w="69028" h="69028">
                <a:moveTo>
                  <a:pt x="34514" y="0"/>
                </a:moveTo>
                <a:lnTo>
                  <a:pt x="34514" y="0"/>
                </a:lnTo>
                <a:cubicBezTo>
                  <a:pt x="53562" y="0"/>
                  <a:pt x="69028" y="15465"/>
                  <a:pt x="69028" y="34514"/>
                </a:cubicBezTo>
                <a:lnTo>
                  <a:pt x="69028" y="34514"/>
                </a:lnTo>
                <a:cubicBezTo>
                  <a:pt x="69028" y="53562"/>
                  <a:pt x="53562" y="69028"/>
                  <a:pt x="34514" y="69028"/>
                </a:cubicBezTo>
                <a:lnTo>
                  <a:pt x="34514" y="69028"/>
                </a:lnTo>
                <a:cubicBezTo>
                  <a:pt x="15465" y="69028"/>
                  <a:pt x="0" y="53562"/>
                  <a:pt x="0" y="34514"/>
                </a:cubicBezTo>
                <a:lnTo>
                  <a:pt x="0" y="34514"/>
                </a:lnTo>
                <a:cubicBezTo>
                  <a:pt x="0" y="15465"/>
                  <a:pt x="15465" y="0"/>
                  <a:pt x="34514" y="0"/>
                </a:cubicBez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42" name="Text 40"/>
          <p:cNvSpPr/>
          <p:nvPr/>
        </p:nvSpPr>
        <p:spPr>
          <a:xfrm>
            <a:off x="9445831" y="5605734"/>
            <a:ext cx="1354667" cy="20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7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optimization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307922" y="5950891"/>
            <a:ext cx="69028" cy="69028"/>
          </a:xfrm>
          <a:custGeom>
            <a:avLst/>
            <a:gdLst/>
            <a:ahLst/>
            <a:cxnLst/>
            <a:rect l="l" t="t" r="r" b="b"/>
            <a:pathLst>
              <a:path w="69028" h="69028">
                <a:moveTo>
                  <a:pt x="34514" y="0"/>
                </a:moveTo>
                <a:lnTo>
                  <a:pt x="34514" y="0"/>
                </a:lnTo>
                <a:cubicBezTo>
                  <a:pt x="53562" y="0"/>
                  <a:pt x="69028" y="15465"/>
                  <a:pt x="69028" y="34514"/>
                </a:cubicBezTo>
                <a:lnTo>
                  <a:pt x="69028" y="34514"/>
                </a:lnTo>
                <a:cubicBezTo>
                  <a:pt x="69028" y="53562"/>
                  <a:pt x="53562" y="69028"/>
                  <a:pt x="34514" y="69028"/>
                </a:cubicBezTo>
                <a:lnTo>
                  <a:pt x="34514" y="69028"/>
                </a:lnTo>
                <a:cubicBezTo>
                  <a:pt x="15465" y="69028"/>
                  <a:pt x="0" y="53562"/>
                  <a:pt x="0" y="34514"/>
                </a:cubicBezTo>
                <a:lnTo>
                  <a:pt x="0" y="34514"/>
                </a:lnTo>
                <a:cubicBezTo>
                  <a:pt x="0" y="15465"/>
                  <a:pt x="15465" y="0"/>
                  <a:pt x="34514" y="0"/>
                </a:cubicBez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44" name="Text 42"/>
          <p:cNvSpPr/>
          <p:nvPr/>
        </p:nvSpPr>
        <p:spPr>
          <a:xfrm>
            <a:off x="9445831" y="5881840"/>
            <a:ext cx="1492722" cy="20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7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segmentation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307922" y="6226997"/>
            <a:ext cx="69028" cy="69028"/>
          </a:xfrm>
          <a:custGeom>
            <a:avLst/>
            <a:gdLst/>
            <a:ahLst/>
            <a:cxnLst/>
            <a:rect l="l" t="t" r="r" b="b"/>
            <a:pathLst>
              <a:path w="69028" h="69028">
                <a:moveTo>
                  <a:pt x="34514" y="0"/>
                </a:moveTo>
                <a:lnTo>
                  <a:pt x="34514" y="0"/>
                </a:lnTo>
                <a:cubicBezTo>
                  <a:pt x="53562" y="0"/>
                  <a:pt x="69028" y="15465"/>
                  <a:pt x="69028" y="34514"/>
                </a:cubicBezTo>
                <a:lnTo>
                  <a:pt x="69028" y="34514"/>
                </a:lnTo>
                <a:cubicBezTo>
                  <a:pt x="69028" y="53562"/>
                  <a:pt x="53562" y="69028"/>
                  <a:pt x="34514" y="69028"/>
                </a:cubicBezTo>
                <a:lnTo>
                  <a:pt x="34514" y="69028"/>
                </a:lnTo>
                <a:cubicBezTo>
                  <a:pt x="15465" y="69028"/>
                  <a:pt x="0" y="53562"/>
                  <a:pt x="0" y="34514"/>
                </a:cubicBezTo>
                <a:lnTo>
                  <a:pt x="0" y="34514"/>
                </a:lnTo>
                <a:cubicBezTo>
                  <a:pt x="0" y="15465"/>
                  <a:pt x="15465" y="0"/>
                  <a:pt x="34514" y="0"/>
                </a:cubicBez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46" name="Text 44"/>
          <p:cNvSpPr/>
          <p:nvPr/>
        </p:nvSpPr>
        <p:spPr>
          <a:xfrm>
            <a:off x="9445831" y="6157946"/>
            <a:ext cx="1225240" cy="20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7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positioning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307922" y="6503105"/>
            <a:ext cx="69028" cy="69028"/>
          </a:xfrm>
          <a:custGeom>
            <a:avLst/>
            <a:gdLst/>
            <a:ahLst/>
            <a:cxnLst/>
            <a:rect l="l" t="t" r="r" b="b"/>
            <a:pathLst>
              <a:path w="69028" h="69028">
                <a:moveTo>
                  <a:pt x="34514" y="0"/>
                </a:moveTo>
                <a:lnTo>
                  <a:pt x="34514" y="0"/>
                </a:lnTo>
                <a:cubicBezTo>
                  <a:pt x="53562" y="0"/>
                  <a:pt x="69028" y="15465"/>
                  <a:pt x="69028" y="34514"/>
                </a:cubicBezTo>
                <a:lnTo>
                  <a:pt x="69028" y="34514"/>
                </a:lnTo>
                <a:cubicBezTo>
                  <a:pt x="69028" y="53562"/>
                  <a:pt x="53562" y="69028"/>
                  <a:pt x="34514" y="69028"/>
                </a:cubicBezTo>
                <a:lnTo>
                  <a:pt x="34514" y="69028"/>
                </a:lnTo>
                <a:cubicBezTo>
                  <a:pt x="15465" y="69028"/>
                  <a:pt x="0" y="53562"/>
                  <a:pt x="0" y="34514"/>
                </a:cubicBezTo>
                <a:lnTo>
                  <a:pt x="0" y="34514"/>
                </a:lnTo>
                <a:cubicBezTo>
                  <a:pt x="0" y="15465"/>
                  <a:pt x="15465" y="0"/>
                  <a:pt x="34514" y="0"/>
                </a:cubicBez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48" name="Text 46"/>
          <p:cNvSpPr/>
          <p:nvPr/>
        </p:nvSpPr>
        <p:spPr>
          <a:xfrm>
            <a:off x="9445831" y="6434055"/>
            <a:ext cx="1328781" cy="20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7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Subscription strategy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16" y="380914"/>
            <a:ext cx="742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900" b="1" dirty="0">
                <a:solidFill>
                  <a:srgbClr val="C48A6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6100" y="380914"/>
            <a:ext cx="11029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900" b="1" dirty="0">
                <a:solidFill>
                  <a:srgbClr val="2A3D4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 Foundation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26100" y="952288"/>
            <a:ext cx="914400" cy="28575"/>
          </a:xfrm>
          <a:custGeom>
            <a:avLst/>
            <a:gdLst/>
            <a:ahLst/>
            <a:cxnLst/>
            <a:rect l="l" t="t" r="r" b="b"/>
            <a:pathLst>
              <a:path w="914400" h="28575">
                <a:moveTo>
                  <a:pt x="0" y="0"/>
                </a:moveTo>
                <a:lnTo>
                  <a:pt x="914400" y="0"/>
                </a:lnTo>
                <a:lnTo>
                  <a:pt x="9144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5" name="Text 3"/>
          <p:cNvSpPr/>
          <p:nvPr/>
        </p:nvSpPr>
        <p:spPr>
          <a:xfrm>
            <a:off x="380916" y="1133194"/>
            <a:ext cx="1152048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5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Comprehensive dataset with </a:t>
            </a:r>
            <a:pPr>
              <a:lnSpc>
                <a:spcPct val="140000"/>
              </a:lnSpc>
            </a:pPr>
            <a:r>
              <a:rPr lang="en-US" sz="1425" b="1" dirty="0">
                <a:solidFill>
                  <a:srgbClr val="2A3D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3,900 transactions</a:t>
            </a:r>
            <a:pPr>
              <a:lnSpc>
                <a:spcPct val="140000"/>
              </a:lnSpc>
            </a:pPr>
            <a:r>
              <a:rPr lang="en-US" sz="1425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425" b="1" dirty="0">
                <a:solidFill>
                  <a:srgbClr val="2A3D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18 behavioral features</a:t>
            </a:r>
            <a:pPr>
              <a:lnSpc>
                <a:spcPct val="140000"/>
              </a:lnSpc>
            </a:pPr>
            <a:r>
              <a:rPr lang="en-US" sz="1425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spanning customer demographics, purchase details, and shopping behavior patterns.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0916" y="1890510"/>
            <a:ext cx="3705225" cy="33598"/>
          </a:xfrm>
          <a:custGeom>
            <a:avLst/>
            <a:gdLst/>
            <a:ahLst/>
            <a:cxnLst/>
            <a:rect l="l" t="t" r="r" b="b"/>
            <a:pathLst>
              <a:path w="3705225" h="33598">
                <a:moveTo>
                  <a:pt x="0" y="0"/>
                </a:moveTo>
                <a:lnTo>
                  <a:pt x="3705225" y="0"/>
                </a:lnTo>
                <a:lnTo>
                  <a:pt x="3705225" y="33598"/>
                </a:lnTo>
                <a:lnTo>
                  <a:pt x="0" y="33598"/>
                </a:lnTo>
                <a:lnTo>
                  <a:pt x="0" y="0"/>
                </a:ln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7" name="Shape 5"/>
          <p:cNvSpPr/>
          <p:nvPr/>
        </p:nvSpPr>
        <p:spPr>
          <a:xfrm>
            <a:off x="419016" y="207393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22684" y="214424"/>
                </a:moveTo>
                <a:cubicBezTo>
                  <a:pt x="210350" y="192993"/>
                  <a:pt x="187189" y="178594"/>
                  <a:pt x="160734" y="178594"/>
                </a:cubicBezTo>
                <a:lnTo>
                  <a:pt x="125016" y="178594"/>
                </a:lnTo>
                <a:cubicBezTo>
                  <a:pt x="98561" y="178594"/>
                  <a:pt x="75400" y="192993"/>
                  <a:pt x="63066" y="214424"/>
                </a:cubicBezTo>
                <a:cubicBezTo>
                  <a:pt x="82711" y="236302"/>
                  <a:pt x="111175" y="250031"/>
                  <a:pt x="142875" y="250031"/>
                </a:cubicBezTo>
                <a:cubicBezTo>
                  <a:pt x="174575" y="250031"/>
                  <a:pt x="203039" y="236246"/>
                  <a:pt x="222684" y="214424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51805"/>
                </a:moveTo>
                <a:cubicBezTo>
                  <a:pt x="165053" y="151805"/>
                  <a:pt x="183059" y="133799"/>
                  <a:pt x="183059" y="111621"/>
                </a:cubicBezTo>
                <a:cubicBezTo>
                  <a:pt x="183059" y="89443"/>
                  <a:pt x="165053" y="71438"/>
                  <a:pt x="142875" y="71438"/>
                </a:cubicBezTo>
                <a:cubicBezTo>
                  <a:pt x="120697" y="71438"/>
                  <a:pt x="102691" y="89443"/>
                  <a:pt x="102691" y="111621"/>
                </a:cubicBezTo>
                <a:cubicBezTo>
                  <a:pt x="102691" y="133799"/>
                  <a:pt x="120697" y="151805"/>
                  <a:pt x="142875" y="151805"/>
                </a:cubicBez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8" name="Text 6"/>
          <p:cNvSpPr/>
          <p:nvPr/>
        </p:nvSpPr>
        <p:spPr>
          <a:xfrm>
            <a:off x="852336" y="2059653"/>
            <a:ext cx="24098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0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Demographics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0916" y="2488236"/>
            <a:ext cx="3781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Grouped for analysis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0916" y="2754920"/>
            <a:ext cx="3781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Gender: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Male vs. female patterns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0916" y="3021604"/>
            <a:ext cx="3781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Geographic distribution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0916" y="3288288"/>
            <a:ext cx="3781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Subscription: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Status and impact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41733" y="1890510"/>
            <a:ext cx="3705225" cy="33598"/>
          </a:xfrm>
          <a:custGeom>
            <a:avLst/>
            <a:gdLst/>
            <a:ahLst/>
            <a:cxnLst/>
            <a:rect l="l" t="t" r="r" b="b"/>
            <a:pathLst>
              <a:path w="3705225" h="33598">
                <a:moveTo>
                  <a:pt x="0" y="0"/>
                </a:moveTo>
                <a:lnTo>
                  <a:pt x="3705225" y="0"/>
                </a:lnTo>
                <a:lnTo>
                  <a:pt x="3705225" y="33598"/>
                </a:lnTo>
                <a:lnTo>
                  <a:pt x="0" y="33598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92" y="2073934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89297" y="44648"/>
                </a:moveTo>
                <a:cubicBezTo>
                  <a:pt x="89297" y="24947"/>
                  <a:pt x="105315" y="8930"/>
                  <a:pt x="125016" y="8930"/>
                </a:cubicBezTo>
                <a:cubicBezTo>
                  <a:pt x="144717" y="8930"/>
                  <a:pt x="160734" y="24947"/>
                  <a:pt x="160734" y="44648"/>
                </a:cubicBezTo>
                <a:lnTo>
                  <a:pt x="160734" y="71438"/>
                </a:lnTo>
                <a:lnTo>
                  <a:pt x="89297" y="71438"/>
                </a:lnTo>
                <a:lnTo>
                  <a:pt x="89297" y="44648"/>
                </a:lnTo>
                <a:close/>
                <a:moveTo>
                  <a:pt x="62508" y="71438"/>
                </a:moveTo>
                <a:lnTo>
                  <a:pt x="26789" y="71438"/>
                </a:lnTo>
                <a:cubicBezTo>
                  <a:pt x="11999" y="71438"/>
                  <a:pt x="0" y="83437"/>
                  <a:pt x="0" y="98227"/>
                </a:cubicBezTo>
                <a:lnTo>
                  <a:pt x="0" y="214313"/>
                </a:lnTo>
                <a:cubicBezTo>
                  <a:pt x="0" y="243892"/>
                  <a:pt x="23999" y="267891"/>
                  <a:pt x="53578" y="267891"/>
                </a:cubicBezTo>
                <a:lnTo>
                  <a:pt x="196453" y="267891"/>
                </a:lnTo>
                <a:cubicBezTo>
                  <a:pt x="226033" y="267891"/>
                  <a:pt x="250031" y="243892"/>
                  <a:pt x="250031" y="214313"/>
                </a:cubicBezTo>
                <a:lnTo>
                  <a:pt x="250031" y="98227"/>
                </a:lnTo>
                <a:cubicBezTo>
                  <a:pt x="250031" y="83437"/>
                  <a:pt x="238032" y="71438"/>
                  <a:pt x="223242" y="71438"/>
                </a:cubicBezTo>
                <a:lnTo>
                  <a:pt x="187523" y="71438"/>
                </a:lnTo>
                <a:lnTo>
                  <a:pt x="187523" y="44648"/>
                </a:lnTo>
                <a:cubicBezTo>
                  <a:pt x="187523" y="10102"/>
                  <a:pt x="159562" y="-17859"/>
                  <a:pt x="125016" y="-17859"/>
                </a:cubicBezTo>
                <a:cubicBezTo>
                  <a:pt x="90469" y="-17859"/>
                  <a:pt x="62508" y="10102"/>
                  <a:pt x="62508" y="44648"/>
                </a:cubicBezTo>
                <a:lnTo>
                  <a:pt x="62508" y="71438"/>
                </a:lnTo>
                <a:close/>
                <a:moveTo>
                  <a:pt x="75902" y="98227"/>
                </a:moveTo>
                <a:cubicBezTo>
                  <a:pt x="83295" y="98227"/>
                  <a:pt x="89297" y="104228"/>
                  <a:pt x="89297" y="111621"/>
                </a:cubicBezTo>
                <a:cubicBezTo>
                  <a:pt x="89297" y="119014"/>
                  <a:pt x="83295" y="125016"/>
                  <a:pt x="75902" y="125016"/>
                </a:cubicBezTo>
                <a:cubicBezTo>
                  <a:pt x="68510" y="125016"/>
                  <a:pt x="62508" y="119014"/>
                  <a:pt x="62508" y="111621"/>
                </a:cubicBezTo>
                <a:cubicBezTo>
                  <a:pt x="62508" y="104228"/>
                  <a:pt x="68510" y="98227"/>
                  <a:pt x="75902" y="98227"/>
                </a:cubicBezTo>
                <a:close/>
                <a:moveTo>
                  <a:pt x="160734" y="111621"/>
                </a:moveTo>
                <a:cubicBezTo>
                  <a:pt x="160734" y="104228"/>
                  <a:pt x="166736" y="98227"/>
                  <a:pt x="174129" y="98227"/>
                </a:cubicBezTo>
                <a:cubicBezTo>
                  <a:pt x="181522" y="98227"/>
                  <a:pt x="187523" y="104228"/>
                  <a:pt x="187523" y="111621"/>
                </a:cubicBezTo>
                <a:cubicBezTo>
                  <a:pt x="187523" y="119014"/>
                  <a:pt x="181522" y="125016"/>
                  <a:pt x="174129" y="125016"/>
                </a:cubicBezTo>
                <a:cubicBezTo>
                  <a:pt x="166736" y="125016"/>
                  <a:pt x="160734" y="119014"/>
                  <a:pt x="160734" y="111621"/>
                </a:cubicBez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15" name="Text 13"/>
          <p:cNvSpPr/>
          <p:nvPr/>
        </p:nvSpPr>
        <p:spPr>
          <a:xfrm>
            <a:off x="4713153" y="2059653"/>
            <a:ext cx="16478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0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Purchase Details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41733" y="2488236"/>
            <a:ext cx="3781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Item: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Product purchased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41733" y="2754920"/>
            <a:ext cx="3781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Product classification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41733" y="3021604"/>
            <a:ext cx="3781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Amount: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Purchase value (USD)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41733" y="3288288"/>
            <a:ext cx="3781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Season: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Purchase timing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41733" y="3554969"/>
            <a:ext cx="3781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Size &amp; Color: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Product attributes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02549" y="1890510"/>
            <a:ext cx="3705225" cy="33598"/>
          </a:xfrm>
          <a:custGeom>
            <a:avLst/>
            <a:gdLst/>
            <a:ahLst/>
            <a:cxnLst/>
            <a:rect l="l" t="t" r="r" b="b"/>
            <a:pathLst>
              <a:path w="3705225" h="33598">
                <a:moveTo>
                  <a:pt x="0" y="0"/>
                </a:moveTo>
                <a:lnTo>
                  <a:pt x="3705225" y="0"/>
                </a:lnTo>
                <a:lnTo>
                  <a:pt x="3705225" y="33598"/>
                </a:lnTo>
                <a:lnTo>
                  <a:pt x="0" y="33598"/>
                </a:lnTo>
                <a:lnTo>
                  <a:pt x="0" y="0"/>
                </a:lnTo>
                <a:close/>
              </a:path>
            </a:pathLst>
          </a:custGeom>
          <a:solidFill>
            <a:srgbClr val="8A9BA8"/>
          </a:solidFill>
          <a:ln/>
        </p:spPr>
      </p:sp>
      <p:sp>
        <p:nvSpPr>
          <p:cNvPr id="22" name="Shape 20"/>
          <p:cNvSpPr/>
          <p:nvPr/>
        </p:nvSpPr>
        <p:spPr>
          <a:xfrm>
            <a:off x="8140649" y="207393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7859" y="17859"/>
                </a:moveTo>
                <a:cubicBezTo>
                  <a:pt x="27738" y="17859"/>
                  <a:pt x="35719" y="25840"/>
                  <a:pt x="35719" y="35719"/>
                </a:cubicBez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267891" y="232172"/>
                </a:lnTo>
                <a:cubicBezTo>
                  <a:pt x="277769" y="232172"/>
                  <a:pt x="285750" y="240153"/>
                  <a:pt x="285750" y="250031"/>
                </a:cubicBezTo>
                <a:cubicBezTo>
                  <a:pt x="285750" y="259910"/>
                  <a:pt x="277769" y="267891"/>
                  <a:pt x="267891" y="267891"/>
                </a:cubicBezTo>
                <a:lnTo>
                  <a:pt x="44648" y="267891"/>
                </a:lnTo>
                <a:cubicBezTo>
                  <a:pt x="19980" y="267891"/>
                  <a:pt x="0" y="247910"/>
                  <a:pt x="0" y="223242"/>
                </a:cubicBezTo>
                <a:lnTo>
                  <a:pt x="0" y="35719"/>
                </a:lnTo>
                <a:cubicBezTo>
                  <a:pt x="0" y="25840"/>
                  <a:pt x="7981" y="17859"/>
                  <a:pt x="17859" y="17859"/>
                </a:cubicBezTo>
                <a:close/>
                <a:moveTo>
                  <a:pt x="71438" y="53578"/>
                </a:moveTo>
                <a:cubicBezTo>
                  <a:pt x="71438" y="43700"/>
                  <a:pt x="79418" y="35719"/>
                  <a:pt x="89297" y="35719"/>
                </a:cubicBezTo>
                <a:lnTo>
                  <a:pt x="196453" y="35719"/>
                </a:lnTo>
                <a:cubicBezTo>
                  <a:pt x="206332" y="35719"/>
                  <a:pt x="214313" y="43700"/>
                  <a:pt x="214313" y="53578"/>
                </a:cubicBezTo>
                <a:cubicBezTo>
                  <a:pt x="214313" y="63457"/>
                  <a:pt x="206332" y="71438"/>
                  <a:pt x="196453" y="71438"/>
                </a:cubicBezTo>
                <a:lnTo>
                  <a:pt x="89297" y="71438"/>
                </a:lnTo>
                <a:cubicBezTo>
                  <a:pt x="79418" y="71438"/>
                  <a:pt x="71438" y="63457"/>
                  <a:pt x="71438" y="53578"/>
                </a:cubicBezTo>
                <a:close/>
                <a:moveTo>
                  <a:pt x="89297" y="98227"/>
                </a:moveTo>
                <a:lnTo>
                  <a:pt x="160734" y="98227"/>
                </a:lnTo>
                <a:cubicBezTo>
                  <a:pt x="170613" y="98227"/>
                  <a:pt x="178594" y="106207"/>
                  <a:pt x="178594" y="116086"/>
                </a:cubicBezTo>
                <a:cubicBezTo>
                  <a:pt x="178594" y="125964"/>
                  <a:pt x="170613" y="133945"/>
                  <a:pt x="160734" y="133945"/>
                </a:cubicBezTo>
                <a:lnTo>
                  <a:pt x="89297" y="133945"/>
                </a:lnTo>
                <a:cubicBezTo>
                  <a:pt x="79418" y="133945"/>
                  <a:pt x="71438" y="125964"/>
                  <a:pt x="71438" y="116086"/>
                </a:cubicBezTo>
                <a:cubicBezTo>
                  <a:pt x="71438" y="106207"/>
                  <a:pt x="79418" y="98227"/>
                  <a:pt x="89297" y="98227"/>
                </a:cubicBezTo>
                <a:close/>
                <a:moveTo>
                  <a:pt x="89297" y="160734"/>
                </a:moveTo>
                <a:lnTo>
                  <a:pt x="232172" y="160734"/>
                </a:lnTo>
                <a:cubicBezTo>
                  <a:pt x="242050" y="160734"/>
                  <a:pt x="250031" y="168715"/>
                  <a:pt x="250031" y="178594"/>
                </a:cubicBezTo>
                <a:cubicBezTo>
                  <a:pt x="250031" y="188472"/>
                  <a:pt x="242050" y="196453"/>
                  <a:pt x="232172" y="196453"/>
                </a:cubicBezTo>
                <a:lnTo>
                  <a:pt x="89297" y="196453"/>
                </a:lnTo>
                <a:cubicBezTo>
                  <a:pt x="79418" y="196453"/>
                  <a:pt x="71438" y="188472"/>
                  <a:pt x="71438" y="178594"/>
                </a:cubicBezTo>
                <a:cubicBezTo>
                  <a:pt x="71438" y="168715"/>
                  <a:pt x="79418" y="160734"/>
                  <a:pt x="89297" y="160734"/>
                </a:cubicBezTo>
                <a:close/>
              </a:path>
            </a:pathLst>
          </a:custGeom>
          <a:solidFill>
            <a:srgbClr val="8A9BA8"/>
          </a:solidFill>
          <a:ln/>
        </p:spPr>
      </p:sp>
      <p:sp>
        <p:nvSpPr>
          <p:cNvPr id="23" name="Text 21"/>
          <p:cNvSpPr/>
          <p:nvPr/>
        </p:nvSpPr>
        <p:spPr>
          <a:xfrm>
            <a:off x="8573970" y="2059653"/>
            <a:ext cx="18383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0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Shopping Behavior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02549" y="2488236"/>
            <a:ext cx="3781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Discount Applied: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Usage patterns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02549" y="2754920"/>
            <a:ext cx="3781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Rating: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Customer satisfaction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02549" y="3021604"/>
            <a:ext cx="3781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Shipping Type: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Standard vs. Express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02549" y="3288288"/>
            <a:ext cx="3781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Previous Purchases: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Loyalty indicator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02549" y="3554969"/>
            <a:ext cx="3781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Purchase Frequency: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Visit patterns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0916" y="4708217"/>
            <a:ext cx="2162175" cy="876300"/>
          </a:xfrm>
          <a:custGeom>
            <a:avLst/>
            <a:gdLst/>
            <a:ahLst/>
            <a:cxnLst/>
            <a:rect l="l" t="t" r="r" b="b"/>
            <a:pathLst>
              <a:path w="2162175" h="876300">
                <a:moveTo>
                  <a:pt x="76203" y="0"/>
                </a:moveTo>
                <a:lnTo>
                  <a:pt x="2085972" y="0"/>
                </a:lnTo>
                <a:cubicBezTo>
                  <a:pt x="2128058" y="0"/>
                  <a:pt x="2162175" y="34117"/>
                  <a:pt x="2162175" y="76203"/>
                </a:cubicBezTo>
                <a:lnTo>
                  <a:pt x="2162175" y="800097"/>
                </a:lnTo>
                <a:cubicBezTo>
                  <a:pt x="2162175" y="842183"/>
                  <a:pt x="2128058" y="876300"/>
                  <a:pt x="20859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30" name="Text 28"/>
          <p:cNvSpPr/>
          <p:nvPr/>
        </p:nvSpPr>
        <p:spPr>
          <a:xfrm>
            <a:off x="499924" y="4860561"/>
            <a:ext cx="1924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7F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Records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7536" y="5089029"/>
            <a:ext cx="2028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27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3,900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697385" y="4708217"/>
            <a:ext cx="2162175" cy="876300"/>
          </a:xfrm>
          <a:custGeom>
            <a:avLst/>
            <a:gdLst/>
            <a:ahLst/>
            <a:cxnLst/>
            <a:rect l="l" t="t" r="r" b="b"/>
            <a:pathLst>
              <a:path w="2162175" h="876300">
                <a:moveTo>
                  <a:pt x="76203" y="0"/>
                </a:moveTo>
                <a:lnTo>
                  <a:pt x="2085972" y="0"/>
                </a:lnTo>
                <a:cubicBezTo>
                  <a:pt x="2128058" y="0"/>
                  <a:pt x="2162175" y="34117"/>
                  <a:pt x="2162175" y="76203"/>
                </a:cubicBezTo>
                <a:lnTo>
                  <a:pt x="2162175" y="800097"/>
                </a:lnTo>
                <a:cubicBezTo>
                  <a:pt x="2162175" y="842183"/>
                  <a:pt x="2128058" y="876300"/>
                  <a:pt x="20859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33" name="Text 31"/>
          <p:cNvSpPr/>
          <p:nvPr/>
        </p:nvSpPr>
        <p:spPr>
          <a:xfrm>
            <a:off x="2816393" y="4860561"/>
            <a:ext cx="1924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7F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764005" y="5089029"/>
            <a:ext cx="2028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27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18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013854" y="4708217"/>
            <a:ext cx="2162175" cy="876300"/>
          </a:xfrm>
          <a:custGeom>
            <a:avLst/>
            <a:gdLst/>
            <a:ahLst/>
            <a:cxnLst/>
            <a:rect l="l" t="t" r="r" b="b"/>
            <a:pathLst>
              <a:path w="2162175" h="876300">
                <a:moveTo>
                  <a:pt x="76203" y="0"/>
                </a:moveTo>
                <a:lnTo>
                  <a:pt x="2085972" y="0"/>
                </a:lnTo>
                <a:cubicBezTo>
                  <a:pt x="2128058" y="0"/>
                  <a:pt x="2162175" y="34117"/>
                  <a:pt x="2162175" y="76203"/>
                </a:cubicBezTo>
                <a:lnTo>
                  <a:pt x="2162175" y="800097"/>
                </a:lnTo>
                <a:cubicBezTo>
                  <a:pt x="2162175" y="842183"/>
                  <a:pt x="2128058" y="876300"/>
                  <a:pt x="20859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8A9BA8"/>
          </a:solidFill>
          <a:ln/>
        </p:spPr>
      </p:sp>
      <p:sp>
        <p:nvSpPr>
          <p:cNvPr id="36" name="Text 34"/>
          <p:cNvSpPr/>
          <p:nvPr/>
        </p:nvSpPr>
        <p:spPr>
          <a:xfrm>
            <a:off x="5132862" y="4860561"/>
            <a:ext cx="1924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7F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Data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080474" y="5089029"/>
            <a:ext cx="2028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27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37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330323" y="4708217"/>
            <a:ext cx="2162175" cy="876300"/>
          </a:xfrm>
          <a:custGeom>
            <a:avLst/>
            <a:gdLst/>
            <a:ahLst/>
            <a:cxnLst/>
            <a:rect l="l" t="t" r="r" b="b"/>
            <a:pathLst>
              <a:path w="2162175" h="876300">
                <a:moveTo>
                  <a:pt x="76203" y="0"/>
                </a:moveTo>
                <a:lnTo>
                  <a:pt x="2085972" y="0"/>
                </a:lnTo>
                <a:cubicBezTo>
                  <a:pt x="2128058" y="0"/>
                  <a:pt x="2162175" y="34117"/>
                  <a:pt x="2162175" y="76203"/>
                </a:cubicBezTo>
                <a:lnTo>
                  <a:pt x="2162175" y="800097"/>
                </a:lnTo>
                <a:cubicBezTo>
                  <a:pt x="2162175" y="842183"/>
                  <a:pt x="2128058" y="876300"/>
                  <a:pt x="20859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39" name="Text 37"/>
          <p:cNvSpPr/>
          <p:nvPr/>
        </p:nvSpPr>
        <p:spPr>
          <a:xfrm>
            <a:off x="7449331" y="4860561"/>
            <a:ext cx="1924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7F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Completeness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396943" y="5089029"/>
            <a:ext cx="2028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27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99%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646792" y="4708217"/>
            <a:ext cx="2162175" cy="876300"/>
          </a:xfrm>
          <a:custGeom>
            <a:avLst/>
            <a:gdLst/>
            <a:ahLst/>
            <a:cxnLst/>
            <a:rect l="l" t="t" r="r" b="b"/>
            <a:pathLst>
              <a:path w="2162175" h="876300">
                <a:moveTo>
                  <a:pt x="76203" y="0"/>
                </a:moveTo>
                <a:lnTo>
                  <a:pt x="2085972" y="0"/>
                </a:lnTo>
                <a:cubicBezTo>
                  <a:pt x="2128058" y="0"/>
                  <a:pt x="2162175" y="34117"/>
                  <a:pt x="2162175" y="76203"/>
                </a:cubicBezTo>
                <a:lnTo>
                  <a:pt x="2162175" y="800097"/>
                </a:lnTo>
                <a:cubicBezTo>
                  <a:pt x="2162175" y="842183"/>
                  <a:pt x="2128058" y="876300"/>
                  <a:pt x="20859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42" name="Text 40"/>
          <p:cNvSpPr/>
          <p:nvPr/>
        </p:nvSpPr>
        <p:spPr>
          <a:xfrm>
            <a:off x="9765799" y="4860561"/>
            <a:ext cx="1924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7F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Categories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713412" y="5089029"/>
            <a:ext cx="2028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27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5+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97715" y="5736627"/>
            <a:ext cx="33598" cy="742950"/>
          </a:xfrm>
          <a:custGeom>
            <a:avLst/>
            <a:gdLst/>
            <a:ahLst/>
            <a:cxnLst/>
            <a:rect l="l" t="t" r="r" b="b"/>
            <a:pathLst>
              <a:path w="33598" h="742950">
                <a:moveTo>
                  <a:pt x="0" y="0"/>
                </a:moveTo>
                <a:lnTo>
                  <a:pt x="33598" y="0"/>
                </a:lnTo>
                <a:lnTo>
                  <a:pt x="33598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45" name="Text 43"/>
          <p:cNvSpPr/>
          <p:nvPr/>
        </p:nvSpPr>
        <p:spPr>
          <a:xfrm>
            <a:off x="566859" y="5812748"/>
            <a:ext cx="1132998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5" b="1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Quality:</a:t>
            </a:r>
            <a:pPr>
              <a:lnSpc>
                <a:spcPct val="140000"/>
              </a:lnSpc>
            </a:pPr>
            <a:r>
              <a:rPr lang="en-US" sz="1425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Missing values in Review Rating column (37/3,900 = 0.95%) were imputed using median rating by product category, ensuring </a:t>
            </a:r>
            <a:pPr>
              <a:lnSpc>
                <a:spcPct val="140000"/>
              </a:lnSpc>
            </a:pPr>
            <a:r>
              <a:rPr lang="en-US" sz="1425" dirty="0">
                <a:solidFill>
                  <a:srgbClr val="2A3D4F"/>
                </a:solidFill>
                <a:highlight>
                  <a:srgbClr val="C48A69">
                    <a:alpha val="2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99%+ data completeness </a:t>
            </a:r>
            <a:pPr>
              <a:lnSpc>
                <a:spcPct val="140000"/>
              </a:lnSpc>
            </a:pPr>
            <a:r>
              <a:rPr lang="en-US" sz="1425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without compromising analytical integrity.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056" y="375056"/>
            <a:ext cx="7315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840" b="1" dirty="0">
                <a:solidFill>
                  <a:srgbClr val="C48A6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2795" y="375056"/>
            <a:ext cx="1104782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840" b="1" dirty="0">
                <a:solidFill>
                  <a:srgbClr val="2A3D4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Analytical Methodology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2795" y="937640"/>
            <a:ext cx="900332" cy="28135"/>
          </a:xfrm>
          <a:custGeom>
            <a:avLst/>
            <a:gdLst/>
            <a:ahLst/>
            <a:cxnLst/>
            <a:rect l="l" t="t" r="r" b="b"/>
            <a:pathLst>
              <a:path w="900332" h="28135">
                <a:moveTo>
                  <a:pt x="0" y="0"/>
                </a:moveTo>
                <a:lnTo>
                  <a:pt x="900332" y="0"/>
                </a:lnTo>
                <a:lnTo>
                  <a:pt x="900332" y="28135"/>
                </a:lnTo>
                <a:lnTo>
                  <a:pt x="0" y="28135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5" name="Text 3"/>
          <p:cNvSpPr/>
          <p:nvPr/>
        </p:nvSpPr>
        <p:spPr>
          <a:xfrm>
            <a:off x="375056" y="1115760"/>
            <a:ext cx="11530818" cy="290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3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Two-phase analytical approach combining </a:t>
            </a:r>
            <a:pPr>
              <a:lnSpc>
                <a:spcPct val="140000"/>
              </a:lnSpc>
            </a:pPr>
            <a:r>
              <a:rPr lang="en-US" sz="1403" b="1" dirty="0">
                <a:solidFill>
                  <a:srgbClr val="2A3D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Python data engineering</a:t>
            </a:r>
            <a:pPr>
              <a:lnSpc>
                <a:spcPct val="140000"/>
              </a:lnSpc>
            </a:pPr>
            <a:r>
              <a:rPr lang="en-US" sz="1403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with </a:t>
            </a:r>
            <a:pPr>
              <a:lnSpc>
                <a:spcPct val="140000"/>
              </a:lnSpc>
            </a:pPr>
            <a:r>
              <a:rPr lang="en-US" sz="1403" b="1" dirty="0">
                <a:solidFill>
                  <a:srgbClr val="2A3D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SQL business intelligence</a:t>
            </a:r>
            <a:pPr>
              <a:lnSpc>
                <a:spcPct val="140000"/>
              </a:lnSpc>
            </a:pPr>
            <a:r>
              <a:rPr lang="en-US" sz="1403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for comprehensive insights.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672" y="1561941"/>
            <a:ext cx="5593417" cy="4702463"/>
          </a:xfrm>
          <a:custGeom>
            <a:avLst/>
            <a:gdLst/>
            <a:ahLst/>
            <a:cxnLst/>
            <a:rect l="l" t="t" r="r" b="b"/>
            <a:pathLst>
              <a:path w="5593417" h="4702463">
                <a:moveTo>
                  <a:pt x="75004" y="0"/>
                </a:moveTo>
                <a:lnTo>
                  <a:pt x="5518413" y="0"/>
                </a:lnTo>
                <a:cubicBezTo>
                  <a:pt x="5559836" y="0"/>
                  <a:pt x="5593417" y="33581"/>
                  <a:pt x="5593417" y="75004"/>
                </a:cubicBezTo>
                <a:lnTo>
                  <a:pt x="5593417" y="4627459"/>
                </a:lnTo>
                <a:cubicBezTo>
                  <a:pt x="5593417" y="4668883"/>
                  <a:pt x="5559836" y="4702463"/>
                  <a:pt x="5518413" y="4702463"/>
                </a:cubicBezTo>
                <a:lnTo>
                  <a:pt x="75004" y="4702463"/>
                </a:lnTo>
                <a:cubicBezTo>
                  <a:pt x="33581" y="4702463"/>
                  <a:pt x="0" y="4668883"/>
                  <a:pt x="0" y="4627459"/>
                </a:cubicBezTo>
                <a:lnTo>
                  <a:pt x="0" y="75004"/>
                </a:lnTo>
                <a:cubicBezTo>
                  <a:pt x="0" y="33608"/>
                  <a:pt x="33608" y="0"/>
                  <a:pt x="7500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7919">
            <a:solidFill>
              <a:srgbClr val="2A3D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3342" y="1793610"/>
            <a:ext cx="600222" cy="600222"/>
          </a:xfrm>
          <a:custGeom>
            <a:avLst/>
            <a:gdLst/>
            <a:ahLst/>
            <a:cxnLst/>
            <a:rect l="l" t="t" r="r" b="b"/>
            <a:pathLst>
              <a:path w="600222" h="600222">
                <a:moveTo>
                  <a:pt x="300111" y="0"/>
                </a:moveTo>
                <a:lnTo>
                  <a:pt x="300111" y="0"/>
                </a:lnTo>
                <a:cubicBezTo>
                  <a:pt x="465746" y="0"/>
                  <a:pt x="600222" y="134475"/>
                  <a:pt x="600222" y="300111"/>
                </a:cubicBezTo>
                <a:lnTo>
                  <a:pt x="600222" y="300111"/>
                </a:lnTo>
                <a:cubicBezTo>
                  <a:pt x="600222" y="465746"/>
                  <a:pt x="465746" y="600222"/>
                  <a:pt x="300111" y="600222"/>
                </a:cubicBezTo>
                <a:lnTo>
                  <a:pt x="300111" y="600222"/>
                </a:lnTo>
                <a:cubicBezTo>
                  <a:pt x="134475" y="600222"/>
                  <a:pt x="0" y="465746"/>
                  <a:pt x="0" y="300111"/>
                </a:cubicBezTo>
                <a:lnTo>
                  <a:pt x="0" y="300111"/>
                </a:lnTo>
                <a:cubicBezTo>
                  <a:pt x="0" y="134475"/>
                  <a:pt x="134475" y="0"/>
                  <a:pt x="300111" y="0"/>
                </a:cubicBez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8" name="Shape 6"/>
          <p:cNvSpPr/>
          <p:nvPr/>
        </p:nvSpPr>
        <p:spPr>
          <a:xfrm>
            <a:off x="792701" y="1953019"/>
            <a:ext cx="246185" cy="281354"/>
          </a:xfrm>
          <a:custGeom>
            <a:avLst/>
            <a:gdLst/>
            <a:ahLst/>
            <a:cxnLst/>
            <a:rect l="l" t="t" r="r" b="b"/>
            <a:pathLst>
              <a:path w="246185" h="281354">
                <a:moveTo>
                  <a:pt x="241679" y="110179"/>
                </a:moveTo>
                <a:cubicBezTo>
                  <a:pt x="237447" y="93198"/>
                  <a:pt x="229424" y="80395"/>
                  <a:pt x="212334" y="80395"/>
                </a:cubicBezTo>
                <a:lnTo>
                  <a:pt x="190299" y="80395"/>
                </a:lnTo>
                <a:lnTo>
                  <a:pt x="190299" y="106442"/>
                </a:lnTo>
                <a:cubicBezTo>
                  <a:pt x="190299" y="126664"/>
                  <a:pt x="173154" y="143699"/>
                  <a:pt x="153591" y="143699"/>
                </a:cubicBezTo>
                <a:lnTo>
                  <a:pt x="94902" y="143699"/>
                </a:lnTo>
                <a:cubicBezTo>
                  <a:pt x="78856" y="143699"/>
                  <a:pt x="65558" y="157437"/>
                  <a:pt x="65558" y="173538"/>
                </a:cubicBezTo>
                <a:lnTo>
                  <a:pt x="65558" y="229479"/>
                </a:lnTo>
                <a:cubicBezTo>
                  <a:pt x="65558" y="245415"/>
                  <a:pt x="79406" y="254757"/>
                  <a:pt x="94902" y="259318"/>
                </a:cubicBezTo>
                <a:cubicBezTo>
                  <a:pt x="113476" y="264758"/>
                  <a:pt x="131335" y="265748"/>
                  <a:pt x="153591" y="259318"/>
                </a:cubicBezTo>
                <a:cubicBezTo>
                  <a:pt x="168373" y="255032"/>
                  <a:pt x="182935" y="246404"/>
                  <a:pt x="182935" y="229479"/>
                </a:cubicBezTo>
                <a:lnTo>
                  <a:pt x="182935" y="207114"/>
                </a:lnTo>
                <a:lnTo>
                  <a:pt x="124301" y="207114"/>
                </a:lnTo>
                <a:lnTo>
                  <a:pt x="124301" y="199640"/>
                </a:lnTo>
                <a:lnTo>
                  <a:pt x="212334" y="199640"/>
                </a:lnTo>
                <a:cubicBezTo>
                  <a:pt x="229424" y="199640"/>
                  <a:pt x="235744" y="187716"/>
                  <a:pt x="241679" y="169856"/>
                </a:cubicBezTo>
                <a:cubicBezTo>
                  <a:pt x="247833" y="151448"/>
                  <a:pt x="247558" y="133753"/>
                  <a:pt x="241679" y="110179"/>
                </a:cubicBezTo>
                <a:close/>
                <a:moveTo>
                  <a:pt x="157272" y="244371"/>
                </a:moveTo>
                <a:cubicBezTo>
                  <a:pt x="153090" y="244665"/>
                  <a:pt x="149094" y="242600"/>
                  <a:pt x="146913" y="239019"/>
                </a:cubicBezTo>
                <a:cubicBezTo>
                  <a:pt x="144733" y="235438"/>
                  <a:pt x="144733" y="230939"/>
                  <a:pt x="146913" y="227358"/>
                </a:cubicBezTo>
                <a:cubicBezTo>
                  <a:pt x="149094" y="223777"/>
                  <a:pt x="153090" y="221712"/>
                  <a:pt x="157272" y="222006"/>
                </a:cubicBezTo>
                <a:cubicBezTo>
                  <a:pt x="161455" y="221712"/>
                  <a:pt x="165451" y="223777"/>
                  <a:pt x="167632" y="227358"/>
                </a:cubicBezTo>
                <a:cubicBezTo>
                  <a:pt x="169812" y="230939"/>
                  <a:pt x="169812" y="235438"/>
                  <a:pt x="167632" y="239019"/>
                </a:cubicBezTo>
                <a:cubicBezTo>
                  <a:pt x="165451" y="242600"/>
                  <a:pt x="161455" y="244665"/>
                  <a:pt x="157272" y="244371"/>
                </a:cubicBezTo>
                <a:close/>
                <a:moveTo>
                  <a:pt x="92209" y="136336"/>
                </a:moveTo>
                <a:lnTo>
                  <a:pt x="150898" y="136336"/>
                </a:lnTo>
                <a:cubicBezTo>
                  <a:pt x="167219" y="136336"/>
                  <a:pt x="180242" y="122873"/>
                  <a:pt x="180242" y="106497"/>
                </a:cubicBezTo>
                <a:lnTo>
                  <a:pt x="180242" y="50501"/>
                </a:lnTo>
                <a:cubicBezTo>
                  <a:pt x="180242" y="34565"/>
                  <a:pt x="166834" y="22640"/>
                  <a:pt x="150898" y="19948"/>
                </a:cubicBezTo>
                <a:cubicBezTo>
                  <a:pt x="131225" y="16705"/>
                  <a:pt x="109849" y="16870"/>
                  <a:pt x="92209" y="20003"/>
                </a:cubicBezTo>
                <a:cubicBezTo>
                  <a:pt x="67371" y="24399"/>
                  <a:pt x="62865" y="33576"/>
                  <a:pt x="62865" y="50556"/>
                </a:cubicBezTo>
                <a:lnTo>
                  <a:pt x="62865" y="72921"/>
                </a:lnTo>
                <a:lnTo>
                  <a:pt x="121609" y="72921"/>
                </a:lnTo>
                <a:lnTo>
                  <a:pt x="121609" y="80395"/>
                </a:lnTo>
                <a:lnTo>
                  <a:pt x="40829" y="80395"/>
                </a:lnTo>
                <a:cubicBezTo>
                  <a:pt x="23739" y="80395"/>
                  <a:pt x="8792" y="90671"/>
                  <a:pt x="4121" y="110179"/>
                </a:cubicBezTo>
                <a:cubicBezTo>
                  <a:pt x="-1264" y="132544"/>
                  <a:pt x="-1484" y="146502"/>
                  <a:pt x="4121" y="169856"/>
                </a:cubicBezTo>
                <a:cubicBezTo>
                  <a:pt x="8298" y="187221"/>
                  <a:pt x="18244" y="199640"/>
                  <a:pt x="35334" y="199640"/>
                </a:cubicBezTo>
                <a:lnTo>
                  <a:pt x="55501" y="199640"/>
                </a:lnTo>
                <a:lnTo>
                  <a:pt x="55501" y="172824"/>
                </a:lnTo>
                <a:cubicBezTo>
                  <a:pt x="55501" y="153426"/>
                  <a:pt x="72262" y="136336"/>
                  <a:pt x="92209" y="136336"/>
                </a:cubicBezTo>
                <a:close/>
                <a:moveTo>
                  <a:pt x="88583" y="35554"/>
                </a:moveTo>
                <a:cubicBezTo>
                  <a:pt x="94770" y="35554"/>
                  <a:pt x="99793" y="40577"/>
                  <a:pt x="99793" y="46764"/>
                </a:cubicBezTo>
                <a:cubicBezTo>
                  <a:pt x="99793" y="52951"/>
                  <a:pt x="94770" y="57974"/>
                  <a:pt x="88583" y="57974"/>
                </a:cubicBezTo>
                <a:cubicBezTo>
                  <a:pt x="82395" y="57974"/>
                  <a:pt x="77372" y="52951"/>
                  <a:pt x="77372" y="46764"/>
                </a:cubicBezTo>
                <a:cubicBezTo>
                  <a:pt x="77372" y="40577"/>
                  <a:pt x="82395" y="35554"/>
                  <a:pt x="88583" y="35554"/>
                </a:cubicBezTo>
                <a:close/>
              </a:path>
            </a:pathLst>
          </a:custGeom>
          <a:solidFill>
            <a:srgbClr val="F8F7F4"/>
          </a:solidFill>
          <a:ln/>
        </p:spPr>
      </p:sp>
      <p:sp>
        <p:nvSpPr>
          <p:cNvPr id="9" name="Text 7"/>
          <p:cNvSpPr/>
          <p:nvPr/>
        </p:nvSpPr>
        <p:spPr>
          <a:xfrm>
            <a:off x="1363557" y="1812321"/>
            <a:ext cx="2157046" cy="337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5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1: Python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63557" y="2149955"/>
            <a:ext cx="2091397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Preparation &amp; Engineering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9883" y="2543825"/>
            <a:ext cx="33081" cy="787791"/>
          </a:xfrm>
          <a:custGeom>
            <a:avLst/>
            <a:gdLst/>
            <a:ahLst/>
            <a:cxnLst/>
            <a:rect l="l" t="t" r="r" b="b"/>
            <a:pathLst>
              <a:path w="33081" h="787791">
                <a:moveTo>
                  <a:pt x="0" y="0"/>
                </a:moveTo>
                <a:lnTo>
                  <a:pt x="33081" y="0"/>
                </a:lnTo>
                <a:lnTo>
                  <a:pt x="33081" y="787791"/>
                </a:lnTo>
                <a:lnTo>
                  <a:pt x="0" y="787791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12" name="Text 10"/>
          <p:cNvSpPr/>
          <p:nvPr/>
        </p:nvSpPr>
        <p:spPr>
          <a:xfrm>
            <a:off x="796425" y="2581248"/>
            <a:ext cx="5026855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9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Loading &amp; Exploration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6425" y="2881251"/>
            <a:ext cx="5017477" cy="41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2" dirty="0">
                <a:solidFill>
                  <a:srgbClr val="1E2A37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Imported dataset using pandas, checked structure with df.info(), and generated summary statistics with .describe()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9883" y="3443835"/>
            <a:ext cx="33081" cy="787791"/>
          </a:xfrm>
          <a:custGeom>
            <a:avLst/>
            <a:gdLst/>
            <a:ahLst/>
            <a:cxnLst/>
            <a:rect l="l" t="t" r="r" b="b"/>
            <a:pathLst>
              <a:path w="33081" h="787791">
                <a:moveTo>
                  <a:pt x="0" y="0"/>
                </a:moveTo>
                <a:lnTo>
                  <a:pt x="33081" y="0"/>
                </a:lnTo>
                <a:lnTo>
                  <a:pt x="33081" y="787791"/>
                </a:lnTo>
                <a:lnTo>
                  <a:pt x="0" y="787791"/>
                </a:lnTo>
                <a:lnTo>
                  <a:pt x="0" y="0"/>
                </a:lnTo>
                <a:close/>
              </a:path>
            </a:pathLst>
          </a:custGeom>
          <a:solidFill>
            <a:srgbClr val="8A9BA8"/>
          </a:solidFill>
          <a:ln/>
        </p:spPr>
      </p:sp>
      <p:sp>
        <p:nvSpPr>
          <p:cNvPr id="15" name="Text 13"/>
          <p:cNvSpPr/>
          <p:nvPr/>
        </p:nvSpPr>
        <p:spPr>
          <a:xfrm>
            <a:off x="796425" y="3481257"/>
            <a:ext cx="5026855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9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Missing Data Handling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6425" y="3781260"/>
            <a:ext cx="5017477" cy="41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2" dirty="0">
                <a:solidFill>
                  <a:srgbClr val="1E2A37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Imputed missing Review Rating values using median by product category, preserving data integrity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9883" y="4343844"/>
            <a:ext cx="33081" cy="787791"/>
          </a:xfrm>
          <a:custGeom>
            <a:avLst/>
            <a:gdLst/>
            <a:ahLst/>
            <a:cxnLst/>
            <a:rect l="l" t="t" r="r" b="b"/>
            <a:pathLst>
              <a:path w="33081" h="787791">
                <a:moveTo>
                  <a:pt x="0" y="0"/>
                </a:moveTo>
                <a:lnTo>
                  <a:pt x="33081" y="0"/>
                </a:lnTo>
                <a:lnTo>
                  <a:pt x="33081" y="787791"/>
                </a:lnTo>
                <a:lnTo>
                  <a:pt x="0" y="787791"/>
                </a:lnTo>
                <a:lnTo>
                  <a:pt x="0" y="0"/>
                </a:ln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18" name="Text 16"/>
          <p:cNvSpPr/>
          <p:nvPr/>
        </p:nvSpPr>
        <p:spPr>
          <a:xfrm>
            <a:off x="796425" y="4381269"/>
            <a:ext cx="5026855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9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6425" y="4681272"/>
            <a:ext cx="5017477" cy="41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2" dirty="0">
                <a:solidFill>
                  <a:srgbClr val="1E2A37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Created age_group and purchase_frequency_days columns for enhanced segmentation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9883" y="5243854"/>
            <a:ext cx="33081" cy="787791"/>
          </a:xfrm>
          <a:custGeom>
            <a:avLst/>
            <a:gdLst/>
            <a:ahLst/>
            <a:cxnLst/>
            <a:rect l="l" t="t" r="r" b="b"/>
            <a:pathLst>
              <a:path w="33081" h="787791">
                <a:moveTo>
                  <a:pt x="0" y="0"/>
                </a:moveTo>
                <a:lnTo>
                  <a:pt x="33081" y="0"/>
                </a:lnTo>
                <a:lnTo>
                  <a:pt x="33081" y="787791"/>
                </a:lnTo>
                <a:lnTo>
                  <a:pt x="0" y="787791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21" name="Text 19"/>
          <p:cNvSpPr/>
          <p:nvPr/>
        </p:nvSpPr>
        <p:spPr>
          <a:xfrm>
            <a:off x="796425" y="5281278"/>
            <a:ext cx="5026855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9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Integration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96425" y="5581281"/>
            <a:ext cx="5017477" cy="41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2" dirty="0">
                <a:solidFill>
                  <a:srgbClr val="1E2A37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Connected Python to PostgreSQL and loaded cleaned DataFrame for SQL analysis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3024" y="1561941"/>
            <a:ext cx="5593417" cy="4702463"/>
          </a:xfrm>
          <a:custGeom>
            <a:avLst/>
            <a:gdLst/>
            <a:ahLst/>
            <a:cxnLst/>
            <a:rect l="l" t="t" r="r" b="b"/>
            <a:pathLst>
              <a:path w="5593417" h="4702463">
                <a:moveTo>
                  <a:pt x="75004" y="0"/>
                </a:moveTo>
                <a:lnTo>
                  <a:pt x="5518413" y="0"/>
                </a:lnTo>
                <a:cubicBezTo>
                  <a:pt x="5559836" y="0"/>
                  <a:pt x="5593417" y="33581"/>
                  <a:pt x="5593417" y="75004"/>
                </a:cubicBezTo>
                <a:lnTo>
                  <a:pt x="5593417" y="4627459"/>
                </a:lnTo>
                <a:cubicBezTo>
                  <a:pt x="5593417" y="4668883"/>
                  <a:pt x="5559836" y="4702463"/>
                  <a:pt x="5518413" y="4702463"/>
                </a:cubicBezTo>
                <a:lnTo>
                  <a:pt x="75004" y="4702463"/>
                </a:lnTo>
                <a:cubicBezTo>
                  <a:pt x="33581" y="4702463"/>
                  <a:pt x="0" y="4668883"/>
                  <a:pt x="0" y="4627459"/>
                </a:cubicBezTo>
                <a:lnTo>
                  <a:pt x="0" y="75004"/>
                </a:lnTo>
                <a:cubicBezTo>
                  <a:pt x="0" y="33608"/>
                  <a:pt x="33608" y="0"/>
                  <a:pt x="7500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7919">
            <a:solidFill>
              <a:srgbClr val="C48A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4694" y="1793610"/>
            <a:ext cx="600222" cy="600222"/>
          </a:xfrm>
          <a:custGeom>
            <a:avLst/>
            <a:gdLst/>
            <a:ahLst/>
            <a:cxnLst/>
            <a:rect l="l" t="t" r="r" b="b"/>
            <a:pathLst>
              <a:path w="600222" h="600222">
                <a:moveTo>
                  <a:pt x="300111" y="0"/>
                </a:moveTo>
                <a:lnTo>
                  <a:pt x="300111" y="0"/>
                </a:lnTo>
                <a:cubicBezTo>
                  <a:pt x="465746" y="0"/>
                  <a:pt x="600222" y="134475"/>
                  <a:pt x="600222" y="300111"/>
                </a:cubicBezTo>
                <a:lnTo>
                  <a:pt x="600222" y="300111"/>
                </a:lnTo>
                <a:cubicBezTo>
                  <a:pt x="600222" y="465746"/>
                  <a:pt x="465746" y="600222"/>
                  <a:pt x="300111" y="600222"/>
                </a:cubicBezTo>
                <a:lnTo>
                  <a:pt x="300111" y="600222"/>
                </a:lnTo>
                <a:cubicBezTo>
                  <a:pt x="134475" y="600222"/>
                  <a:pt x="0" y="465746"/>
                  <a:pt x="0" y="300111"/>
                </a:cubicBezTo>
                <a:lnTo>
                  <a:pt x="0" y="300111"/>
                </a:lnTo>
                <a:cubicBezTo>
                  <a:pt x="0" y="134475"/>
                  <a:pt x="134475" y="0"/>
                  <a:pt x="300111" y="0"/>
                </a:cubicBez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25" name="Shape 23"/>
          <p:cNvSpPr/>
          <p:nvPr/>
        </p:nvSpPr>
        <p:spPr>
          <a:xfrm>
            <a:off x="6624053" y="1953019"/>
            <a:ext cx="246185" cy="281354"/>
          </a:xfrm>
          <a:custGeom>
            <a:avLst/>
            <a:gdLst/>
            <a:ahLst/>
            <a:cxnLst/>
            <a:rect l="l" t="t" r="r" b="b"/>
            <a:pathLst>
              <a:path w="246185" h="281354">
                <a:moveTo>
                  <a:pt x="246185" y="113091"/>
                </a:moveTo>
                <a:cubicBezTo>
                  <a:pt x="238052" y="118476"/>
                  <a:pt x="228710" y="122818"/>
                  <a:pt x="218983" y="126280"/>
                </a:cubicBezTo>
                <a:cubicBezTo>
                  <a:pt x="193156" y="135511"/>
                  <a:pt x="159251" y="140677"/>
                  <a:pt x="123092" y="140677"/>
                </a:cubicBezTo>
                <a:cubicBezTo>
                  <a:pt x="86934" y="140677"/>
                  <a:pt x="52974" y="135456"/>
                  <a:pt x="27201" y="126280"/>
                </a:cubicBezTo>
                <a:cubicBezTo>
                  <a:pt x="17530" y="122818"/>
                  <a:pt x="8133" y="118476"/>
                  <a:pt x="0" y="113091"/>
                </a:cubicBezTo>
                <a:lnTo>
                  <a:pt x="0" y="158262"/>
                </a:lnTo>
                <a:cubicBezTo>
                  <a:pt x="0" y="182550"/>
                  <a:pt x="55117" y="202223"/>
                  <a:pt x="123092" y="202223"/>
                </a:cubicBezTo>
                <a:cubicBezTo>
                  <a:pt x="191068" y="202223"/>
                  <a:pt x="246185" y="182550"/>
                  <a:pt x="246185" y="158262"/>
                </a:cubicBezTo>
                <a:lnTo>
                  <a:pt x="246185" y="113091"/>
                </a:lnTo>
                <a:close/>
                <a:moveTo>
                  <a:pt x="246185" y="70338"/>
                </a:moveTo>
                <a:lnTo>
                  <a:pt x="246185" y="43962"/>
                </a:lnTo>
                <a:cubicBezTo>
                  <a:pt x="246185" y="19673"/>
                  <a:pt x="191068" y="0"/>
                  <a:pt x="123092" y="0"/>
                </a:cubicBezTo>
                <a:cubicBezTo>
                  <a:pt x="55117" y="0"/>
                  <a:pt x="0" y="19673"/>
                  <a:pt x="0" y="43962"/>
                </a:cubicBezTo>
                <a:lnTo>
                  <a:pt x="0" y="70338"/>
                </a:lnTo>
                <a:cubicBezTo>
                  <a:pt x="0" y="94627"/>
                  <a:pt x="55117" y="114300"/>
                  <a:pt x="123092" y="114300"/>
                </a:cubicBezTo>
                <a:cubicBezTo>
                  <a:pt x="191068" y="114300"/>
                  <a:pt x="246185" y="94627"/>
                  <a:pt x="246185" y="70338"/>
                </a:cubicBezTo>
                <a:close/>
                <a:moveTo>
                  <a:pt x="218983" y="214203"/>
                </a:moveTo>
                <a:cubicBezTo>
                  <a:pt x="193211" y="223380"/>
                  <a:pt x="159306" y="228600"/>
                  <a:pt x="123092" y="228600"/>
                </a:cubicBezTo>
                <a:cubicBezTo>
                  <a:pt x="86879" y="228600"/>
                  <a:pt x="52974" y="223380"/>
                  <a:pt x="27201" y="214203"/>
                </a:cubicBezTo>
                <a:cubicBezTo>
                  <a:pt x="17530" y="210741"/>
                  <a:pt x="8133" y="206399"/>
                  <a:pt x="0" y="201014"/>
                </a:cubicBezTo>
                <a:lnTo>
                  <a:pt x="0" y="237392"/>
                </a:lnTo>
                <a:cubicBezTo>
                  <a:pt x="0" y="261681"/>
                  <a:pt x="55117" y="281354"/>
                  <a:pt x="123092" y="281354"/>
                </a:cubicBezTo>
                <a:cubicBezTo>
                  <a:pt x="191068" y="281354"/>
                  <a:pt x="246185" y="261681"/>
                  <a:pt x="246185" y="237392"/>
                </a:cubicBezTo>
                <a:lnTo>
                  <a:pt x="246185" y="201014"/>
                </a:lnTo>
                <a:cubicBezTo>
                  <a:pt x="238052" y="206399"/>
                  <a:pt x="228710" y="210741"/>
                  <a:pt x="218983" y="214203"/>
                </a:cubicBezTo>
                <a:close/>
              </a:path>
            </a:pathLst>
          </a:custGeom>
          <a:solidFill>
            <a:srgbClr val="F8F7F4"/>
          </a:solidFill>
          <a:ln/>
        </p:spPr>
      </p:sp>
      <p:sp>
        <p:nvSpPr>
          <p:cNvPr id="26" name="Text 24"/>
          <p:cNvSpPr/>
          <p:nvPr/>
        </p:nvSpPr>
        <p:spPr>
          <a:xfrm>
            <a:off x="7194909" y="1812321"/>
            <a:ext cx="2016369" cy="337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5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2: SQL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94909" y="2149955"/>
            <a:ext cx="1950720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Intelligence Queries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61235" y="2543825"/>
            <a:ext cx="33081" cy="543951"/>
          </a:xfrm>
          <a:custGeom>
            <a:avLst/>
            <a:gdLst/>
            <a:ahLst/>
            <a:cxnLst/>
            <a:rect l="l" t="t" r="r" b="b"/>
            <a:pathLst>
              <a:path w="33081" h="543951">
                <a:moveTo>
                  <a:pt x="0" y="0"/>
                </a:moveTo>
                <a:lnTo>
                  <a:pt x="33081" y="0"/>
                </a:lnTo>
                <a:lnTo>
                  <a:pt x="33081" y="543951"/>
                </a:lnTo>
                <a:lnTo>
                  <a:pt x="0" y="543951"/>
                </a:lnTo>
                <a:lnTo>
                  <a:pt x="0" y="0"/>
                </a:ln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29" name="Text 27"/>
          <p:cNvSpPr/>
          <p:nvPr/>
        </p:nvSpPr>
        <p:spPr>
          <a:xfrm>
            <a:off x="6627777" y="2581248"/>
            <a:ext cx="5017477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Analysis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27777" y="2843828"/>
            <a:ext cx="5017477" cy="206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2" dirty="0">
                <a:solidFill>
                  <a:srgbClr val="1E2A37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Compared revenue by gender, age groups, and subscription status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61235" y="3162543"/>
            <a:ext cx="33081" cy="543951"/>
          </a:xfrm>
          <a:custGeom>
            <a:avLst/>
            <a:gdLst/>
            <a:ahLst/>
            <a:cxnLst/>
            <a:rect l="l" t="t" r="r" b="b"/>
            <a:pathLst>
              <a:path w="33081" h="543951">
                <a:moveTo>
                  <a:pt x="0" y="0"/>
                </a:moveTo>
                <a:lnTo>
                  <a:pt x="33081" y="0"/>
                </a:lnTo>
                <a:lnTo>
                  <a:pt x="33081" y="543951"/>
                </a:lnTo>
                <a:lnTo>
                  <a:pt x="0" y="543951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32" name="Text 30"/>
          <p:cNvSpPr/>
          <p:nvPr/>
        </p:nvSpPr>
        <p:spPr>
          <a:xfrm>
            <a:off x="6627777" y="3199967"/>
            <a:ext cx="5017477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Segmentation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27777" y="3462546"/>
            <a:ext cx="5017477" cy="206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2" dirty="0">
                <a:solidFill>
                  <a:srgbClr val="1E2A37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Classified customers into New, Returning, and Loyal segments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61235" y="3781260"/>
            <a:ext cx="33081" cy="543951"/>
          </a:xfrm>
          <a:custGeom>
            <a:avLst/>
            <a:gdLst/>
            <a:ahLst/>
            <a:cxnLst/>
            <a:rect l="l" t="t" r="r" b="b"/>
            <a:pathLst>
              <a:path w="33081" h="543951">
                <a:moveTo>
                  <a:pt x="0" y="0"/>
                </a:moveTo>
                <a:lnTo>
                  <a:pt x="33081" y="0"/>
                </a:lnTo>
                <a:lnTo>
                  <a:pt x="33081" y="543951"/>
                </a:lnTo>
                <a:lnTo>
                  <a:pt x="0" y="543951"/>
                </a:lnTo>
                <a:lnTo>
                  <a:pt x="0" y="0"/>
                </a:lnTo>
                <a:close/>
              </a:path>
            </a:pathLst>
          </a:custGeom>
          <a:solidFill>
            <a:srgbClr val="8A9BA8"/>
          </a:solidFill>
          <a:ln/>
        </p:spPr>
      </p:sp>
      <p:sp>
        <p:nvSpPr>
          <p:cNvPr id="35" name="Text 33"/>
          <p:cNvSpPr/>
          <p:nvPr/>
        </p:nvSpPr>
        <p:spPr>
          <a:xfrm>
            <a:off x="6627777" y="3818685"/>
            <a:ext cx="5017477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Performance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27777" y="4081266"/>
            <a:ext cx="5017477" cy="206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2" dirty="0">
                <a:solidFill>
                  <a:srgbClr val="1E2A37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Identified top-rated products and discount-dependent items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61235" y="4399980"/>
            <a:ext cx="33081" cy="543951"/>
          </a:xfrm>
          <a:custGeom>
            <a:avLst/>
            <a:gdLst/>
            <a:ahLst/>
            <a:cxnLst/>
            <a:rect l="l" t="t" r="r" b="b"/>
            <a:pathLst>
              <a:path w="33081" h="543951">
                <a:moveTo>
                  <a:pt x="0" y="0"/>
                </a:moveTo>
                <a:lnTo>
                  <a:pt x="33081" y="0"/>
                </a:lnTo>
                <a:lnTo>
                  <a:pt x="33081" y="543951"/>
                </a:lnTo>
                <a:lnTo>
                  <a:pt x="0" y="543951"/>
                </a:lnTo>
                <a:lnTo>
                  <a:pt x="0" y="0"/>
                </a:ln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38" name="Text 36"/>
          <p:cNvSpPr/>
          <p:nvPr/>
        </p:nvSpPr>
        <p:spPr>
          <a:xfrm>
            <a:off x="6627777" y="4437402"/>
            <a:ext cx="5017477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Behavior Patterns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27777" y="4699983"/>
            <a:ext cx="5017477" cy="206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2" dirty="0">
                <a:solidFill>
                  <a:srgbClr val="1E2A37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Analyzed shipping preferences and high-spending discount users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61235" y="5018697"/>
            <a:ext cx="33081" cy="543951"/>
          </a:xfrm>
          <a:custGeom>
            <a:avLst/>
            <a:gdLst/>
            <a:ahLst/>
            <a:cxnLst/>
            <a:rect l="l" t="t" r="r" b="b"/>
            <a:pathLst>
              <a:path w="33081" h="543951">
                <a:moveTo>
                  <a:pt x="0" y="0"/>
                </a:moveTo>
                <a:lnTo>
                  <a:pt x="33081" y="0"/>
                </a:lnTo>
                <a:lnTo>
                  <a:pt x="33081" y="543951"/>
                </a:lnTo>
                <a:lnTo>
                  <a:pt x="0" y="543951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41" name="Text 39"/>
          <p:cNvSpPr/>
          <p:nvPr/>
        </p:nvSpPr>
        <p:spPr>
          <a:xfrm>
            <a:off x="6627777" y="5056120"/>
            <a:ext cx="5017477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Validation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27777" y="5318700"/>
            <a:ext cx="5017477" cy="206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2" dirty="0">
                <a:solidFill>
                  <a:srgbClr val="1E2A37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Compared purchase patterns between Standard and Express shipping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91596" y="6419676"/>
            <a:ext cx="33081" cy="440788"/>
          </a:xfrm>
          <a:custGeom>
            <a:avLst/>
            <a:gdLst/>
            <a:ahLst/>
            <a:cxnLst/>
            <a:rect l="l" t="t" r="r" b="b"/>
            <a:pathLst>
              <a:path w="33081" h="440788">
                <a:moveTo>
                  <a:pt x="0" y="0"/>
                </a:moveTo>
                <a:lnTo>
                  <a:pt x="33081" y="0"/>
                </a:lnTo>
                <a:lnTo>
                  <a:pt x="33081" y="440788"/>
                </a:lnTo>
                <a:lnTo>
                  <a:pt x="0" y="440788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44" name="Text 42"/>
          <p:cNvSpPr/>
          <p:nvPr/>
        </p:nvSpPr>
        <p:spPr>
          <a:xfrm>
            <a:off x="558138" y="6494626"/>
            <a:ext cx="11343249" cy="290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3" b="1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Technical Stack:</a:t>
            </a:r>
            <a:pPr>
              <a:lnSpc>
                <a:spcPct val="140000"/>
              </a:lnSpc>
            </a:pPr>
            <a:r>
              <a:rPr lang="en-US" sz="1403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Python (pandas, NumPy) → PostgreSQL → Power BI Dashboard, ensuring </a:t>
            </a:r>
            <a:pPr>
              <a:lnSpc>
                <a:spcPct val="140000"/>
              </a:lnSpc>
            </a:pPr>
            <a:r>
              <a:rPr lang="en-US" sz="1403" dirty="0">
                <a:solidFill>
                  <a:srgbClr val="2A3D4F"/>
                </a:solidFill>
                <a:highlight>
                  <a:srgbClr val="C48A69">
                    <a:alpha val="2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reproducible analysis </a:t>
            </a:r>
            <a:pPr>
              <a:lnSpc>
                <a:spcPct val="140000"/>
              </a:lnSpc>
            </a:pPr>
            <a:r>
              <a:rPr lang="en-US" sz="1403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and </a:t>
            </a:r>
            <a:pPr>
              <a:lnSpc>
                <a:spcPct val="140000"/>
              </a:lnSpc>
            </a:pPr>
            <a:r>
              <a:rPr lang="en-US" sz="1403" dirty="0">
                <a:solidFill>
                  <a:srgbClr val="2A3D4F"/>
                </a:solidFill>
                <a:highlight>
                  <a:srgbClr val="C48A69">
                    <a:alpha val="2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scalable insights </a:t>
            </a:r>
            <a:pPr>
              <a:lnSpc>
                <a:spcPct val="140000"/>
              </a:lnSpc>
            </a:pPr>
            <a:r>
              <a:rPr lang="en-US" sz="1403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16" y="380916"/>
            <a:ext cx="76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900" b="1" dirty="0">
                <a:solidFill>
                  <a:srgbClr val="C48A6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50879" y="380916"/>
            <a:ext cx="11010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900" b="1" dirty="0">
                <a:solidFill>
                  <a:srgbClr val="2A3D4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Customer Insights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50879" y="952291"/>
            <a:ext cx="914400" cy="28575"/>
          </a:xfrm>
          <a:custGeom>
            <a:avLst/>
            <a:gdLst/>
            <a:ahLst/>
            <a:cxnLst/>
            <a:rect l="l" t="t" r="r" b="b"/>
            <a:pathLst>
              <a:path w="914400" h="28575">
                <a:moveTo>
                  <a:pt x="0" y="0"/>
                </a:moveTo>
                <a:lnTo>
                  <a:pt x="914400" y="0"/>
                </a:lnTo>
                <a:lnTo>
                  <a:pt x="9144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5" name="Text 3"/>
          <p:cNvSpPr/>
          <p:nvPr/>
        </p:nvSpPr>
        <p:spPr>
          <a:xfrm>
            <a:off x="380916" y="1133196"/>
            <a:ext cx="1152048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5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Customer segmentation reveals distinct behavioral groups, enabling </a:t>
            </a:r>
            <a:pPr>
              <a:lnSpc>
                <a:spcPct val="140000"/>
              </a:lnSpc>
            </a:pPr>
            <a:r>
              <a:rPr lang="en-US" sz="1425" b="1" dirty="0">
                <a:solidFill>
                  <a:srgbClr val="2A3D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targeted marketing strategies</a:t>
            </a:r>
            <a:pPr>
              <a:lnSpc>
                <a:spcPct val="140000"/>
              </a:lnSpc>
            </a:pPr>
            <a:r>
              <a:rPr lang="en-US" sz="1425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425" b="1" dirty="0">
                <a:solidFill>
                  <a:srgbClr val="2A3D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personalized experiences</a:t>
            </a:r>
            <a:pPr>
              <a:lnSpc>
                <a:spcPct val="140000"/>
              </a:lnSpc>
            </a:pPr>
            <a:r>
              <a:rPr lang="en-US" sz="1425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0916" y="1579625"/>
            <a:ext cx="525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 Distribution</a:t>
            </a:r>
            <a:endParaRPr lang="en-US" sz="1600" dirty="0"/>
          </a:p>
        </p:txBody>
      </p:sp>
      <p:pic>
        <p:nvPicPr>
          <p:cNvPr id="7" name="Image 0" descr="https://kimi-img.moonshot.cn/pub/slides/26-01-18-13:20:49-d5m6rcbfj2j12aofuhr0.png">    </p:cNvPr>
          <p:cNvPicPr>
            <a:picLocks noChangeAspect="1"/>
          </p:cNvPicPr>
          <p:nvPr/>
        </p:nvPicPr>
        <p:blipFill>
          <a:blip r:embed="rId1"/>
          <a:srcRect l="32" r="32" t="0" b="0"/>
          <a:stretch/>
        </p:blipFill>
        <p:spPr>
          <a:xfrm>
            <a:off x="380916" y="1998548"/>
            <a:ext cx="5143500" cy="35052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5769807" y="1579625"/>
            <a:ext cx="33598" cy="1123950"/>
          </a:xfrm>
          <a:custGeom>
            <a:avLst/>
            <a:gdLst/>
            <a:ahLst/>
            <a:cxnLst/>
            <a:rect l="l" t="t" r="r" b="b"/>
            <a:pathLst>
              <a:path w="33598" h="1123950">
                <a:moveTo>
                  <a:pt x="0" y="0"/>
                </a:moveTo>
                <a:lnTo>
                  <a:pt x="33598" y="0"/>
                </a:lnTo>
                <a:lnTo>
                  <a:pt x="33598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9" name="Text 6"/>
          <p:cNvSpPr/>
          <p:nvPr/>
        </p:nvSpPr>
        <p:spPr>
          <a:xfrm>
            <a:off x="5938951" y="1693859"/>
            <a:ext cx="1733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 Customers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272614" y="1655745"/>
            <a:ext cx="714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A3D4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35%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938951" y="2112783"/>
            <a:ext cx="594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A37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First-time purchasers with single transaction history. Represents acquisition opportunity.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38951" y="2425350"/>
            <a:ext cx="658073" cy="167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Strategy: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558201" y="2425350"/>
            <a:ext cx="2737597" cy="167989"/>
          </a:xfrm>
          <a:custGeom>
            <a:avLst/>
            <a:gdLst/>
            <a:ahLst/>
            <a:cxnLst/>
            <a:rect l="l" t="t" r="r" b="b"/>
            <a:pathLst>
              <a:path w="2737597" h="167989">
                <a:moveTo>
                  <a:pt x="0" y="0"/>
                </a:moveTo>
                <a:lnTo>
                  <a:pt x="2737597" y="0"/>
                </a:lnTo>
                <a:lnTo>
                  <a:pt x="2737597" y="167989"/>
                </a:lnTo>
                <a:lnTo>
                  <a:pt x="0" y="167989"/>
                </a:lnTo>
                <a:lnTo>
                  <a:pt x="0" y="0"/>
                </a:lnTo>
                <a:close/>
              </a:path>
            </a:pathLst>
          </a:custGeom>
          <a:solidFill>
            <a:srgbClr val="C48A69">
              <a:alpha val="2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558201" y="2425350"/>
            <a:ext cx="2813797" cy="167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A3D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Onboarding campaigns &amp; welcome offers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769807" y="2855612"/>
            <a:ext cx="33598" cy="1123950"/>
          </a:xfrm>
          <a:custGeom>
            <a:avLst/>
            <a:gdLst/>
            <a:ahLst/>
            <a:cxnLst/>
            <a:rect l="l" t="t" r="r" b="b"/>
            <a:pathLst>
              <a:path w="33598" h="1123950">
                <a:moveTo>
                  <a:pt x="0" y="0"/>
                </a:moveTo>
                <a:lnTo>
                  <a:pt x="33598" y="0"/>
                </a:lnTo>
                <a:lnTo>
                  <a:pt x="33598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16" name="Text 13"/>
          <p:cNvSpPr/>
          <p:nvPr/>
        </p:nvSpPr>
        <p:spPr>
          <a:xfrm>
            <a:off x="5938951" y="2969842"/>
            <a:ext cx="224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Returning Customers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257180" y="2931733"/>
            <a:ext cx="723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48A6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45%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938951" y="3388765"/>
            <a:ext cx="594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A37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Customers with 2-5 purchases showing engagement. Key conversion target.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938951" y="3701332"/>
            <a:ext cx="658073" cy="167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Strategy: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558201" y="3701332"/>
            <a:ext cx="3400421" cy="167989"/>
          </a:xfrm>
          <a:custGeom>
            <a:avLst/>
            <a:gdLst/>
            <a:ahLst/>
            <a:cxnLst/>
            <a:rect l="l" t="t" r="r" b="b"/>
            <a:pathLst>
              <a:path w="3400421" h="167989">
                <a:moveTo>
                  <a:pt x="0" y="0"/>
                </a:moveTo>
                <a:lnTo>
                  <a:pt x="3400421" y="0"/>
                </a:lnTo>
                <a:lnTo>
                  <a:pt x="3400421" y="167989"/>
                </a:lnTo>
                <a:lnTo>
                  <a:pt x="0" y="167989"/>
                </a:lnTo>
                <a:lnTo>
                  <a:pt x="0" y="0"/>
                </a:lnTo>
                <a:close/>
              </a:path>
            </a:pathLst>
          </a:custGeom>
          <a:solidFill>
            <a:srgbClr val="C48A69">
              <a:alpha val="2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6558201" y="3701332"/>
            <a:ext cx="3476621" cy="167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A3D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Loyalty programs &amp; personalized recommendations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769807" y="4131594"/>
            <a:ext cx="33598" cy="1123950"/>
          </a:xfrm>
          <a:custGeom>
            <a:avLst/>
            <a:gdLst/>
            <a:ahLst/>
            <a:cxnLst/>
            <a:rect l="l" t="t" r="r" b="b"/>
            <a:pathLst>
              <a:path w="33598" h="1123950">
                <a:moveTo>
                  <a:pt x="0" y="0"/>
                </a:moveTo>
                <a:lnTo>
                  <a:pt x="33598" y="0"/>
                </a:lnTo>
                <a:lnTo>
                  <a:pt x="33598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solidFill>
            <a:srgbClr val="8A9BA8"/>
          </a:solidFill>
          <a:ln/>
        </p:spPr>
      </p:sp>
      <p:sp>
        <p:nvSpPr>
          <p:cNvPr id="23" name="Text 20"/>
          <p:cNvSpPr/>
          <p:nvPr/>
        </p:nvSpPr>
        <p:spPr>
          <a:xfrm>
            <a:off x="5938951" y="4245829"/>
            <a:ext cx="1809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Loyal Customers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257180" y="4207715"/>
            <a:ext cx="723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8A9BA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938951" y="4664752"/>
            <a:ext cx="594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A37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High-frequency purchasers (5+ purchases). Most valuable segment.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938951" y="4977319"/>
            <a:ext cx="658073" cy="167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Strategy: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558201" y="4977319"/>
            <a:ext cx="2053776" cy="167989"/>
          </a:xfrm>
          <a:custGeom>
            <a:avLst/>
            <a:gdLst/>
            <a:ahLst/>
            <a:cxnLst/>
            <a:rect l="l" t="t" r="r" b="b"/>
            <a:pathLst>
              <a:path w="2053776" h="167989">
                <a:moveTo>
                  <a:pt x="0" y="0"/>
                </a:moveTo>
                <a:lnTo>
                  <a:pt x="2053776" y="0"/>
                </a:lnTo>
                <a:lnTo>
                  <a:pt x="2053776" y="167989"/>
                </a:lnTo>
                <a:lnTo>
                  <a:pt x="0" y="167989"/>
                </a:lnTo>
                <a:lnTo>
                  <a:pt x="0" y="0"/>
                </a:lnTo>
                <a:close/>
              </a:path>
            </a:pathLst>
          </a:custGeom>
          <a:solidFill>
            <a:srgbClr val="C48A69">
              <a:alpha val="2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6558201" y="4977319"/>
            <a:ext cx="2129976" cy="167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A3D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VIP benefits &amp; exclusive access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80916" y="5655994"/>
            <a:ext cx="3705225" cy="1143000"/>
          </a:xfrm>
          <a:custGeom>
            <a:avLst/>
            <a:gdLst/>
            <a:ahLst/>
            <a:cxnLst/>
            <a:rect l="l" t="t" r="r" b="b"/>
            <a:pathLst>
              <a:path w="3705225" h="1143000">
                <a:moveTo>
                  <a:pt x="76204" y="0"/>
                </a:moveTo>
                <a:lnTo>
                  <a:pt x="3629021" y="0"/>
                </a:lnTo>
                <a:cubicBezTo>
                  <a:pt x="3671107" y="0"/>
                  <a:pt x="3705225" y="34118"/>
                  <a:pt x="3705225" y="76204"/>
                </a:cubicBezTo>
                <a:lnTo>
                  <a:pt x="3705225" y="1066796"/>
                </a:lnTo>
                <a:cubicBezTo>
                  <a:pt x="3705225" y="1108882"/>
                  <a:pt x="3671107" y="1143000"/>
                  <a:pt x="3629021" y="1143000"/>
                </a:cubicBezTo>
                <a:lnTo>
                  <a:pt x="76204" y="1143000"/>
                </a:lnTo>
                <a:cubicBezTo>
                  <a:pt x="34118" y="1143000"/>
                  <a:pt x="0" y="1108882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30" name="Text 27"/>
          <p:cNvSpPr/>
          <p:nvPr/>
        </p:nvSpPr>
        <p:spPr>
          <a:xfrm>
            <a:off x="533261" y="5808338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7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Segmentation Criteria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33261" y="6151145"/>
            <a:ext cx="3476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Based on purchase frequency: New (1), Returning (2-5), Loyal (5+)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241733" y="5655994"/>
            <a:ext cx="3705225" cy="1143000"/>
          </a:xfrm>
          <a:custGeom>
            <a:avLst/>
            <a:gdLst/>
            <a:ahLst/>
            <a:cxnLst/>
            <a:rect l="l" t="t" r="r" b="b"/>
            <a:pathLst>
              <a:path w="3705225" h="1143000">
                <a:moveTo>
                  <a:pt x="76204" y="0"/>
                </a:moveTo>
                <a:lnTo>
                  <a:pt x="3629021" y="0"/>
                </a:lnTo>
                <a:cubicBezTo>
                  <a:pt x="3671107" y="0"/>
                  <a:pt x="3705225" y="34118"/>
                  <a:pt x="3705225" y="76204"/>
                </a:cubicBezTo>
                <a:lnTo>
                  <a:pt x="3705225" y="1066796"/>
                </a:lnTo>
                <a:cubicBezTo>
                  <a:pt x="3705225" y="1108882"/>
                  <a:pt x="3671107" y="1143000"/>
                  <a:pt x="3629021" y="1143000"/>
                </a:cubicBezTo>
                <a:lnTo>
                  <a:pt x="76204" y="1143000"/>
                </a:lnTo>
                <a:cubicBezTo>
                  <a:pt x="34118" y="1143000"/>
                  <a:pt x="0" y="1108882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33" name="Text 30"/>
          <p:cNvSpPr/>
          <p:nvPr/>
        </p:nvSpPr>
        <p:spPr>
          <a:xfrm>
            <a:off x="4394078" y="5808338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7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394078" y="6151145"/>
            <a:ext cx="3476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65% of customers have potential for increased value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102549" y="5655994"/>
            <a:ext cx="3705225" cy="1143000"/>
          </a:xfrm>
          <a:custGeom>
            <a:avLst/>
            <a:gdLst/>
            <a:ahLst/>
            <a:cxnLst/>
            <a:rect l="l" t="t" r="r" b="b"/>
            <a:pathLst>
              <a:path w="3705225" h="1143000">
                <a:moveTo>
                  <a:pt x="76204" y="0"/>
                </a:moveTo>
                <a:lnTo>
                  <a:pt x="3629021" y="0"/>
                </a:lnTo>
                <a:cubicBezTo>
                  <a:pt x="3671107" y="0"/>
                  <a:pt x="3705225" y="34118"/>
                  <a:pt x="3705225" y="76204"/>
                </a:cubicBezTo>
                <a:lnTo>
                  <a:pt x="3705225" y="1066796"/>
                </a:lnTo>
                <a:cubicBezTo>
                  <a:pt x="3705225" y="1108882"/>
                  <a:pt x="3671107" y="1143000"/>
                  <a:pt x="3629021" y="1143000"/>
                </a:cubicBezTo>
                <a:lnTo>
                  <a:pt x="76204" y="1143000"/>
                </a:lnTo>
                <a:cubicBezTo>
                  <a:pt x="34118" y="1143000"/>
                  <a:pt x="0" y="1108882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8A9BA8"/>
          </a:solidFill>
          <a:ln/>
        </p:spPr>
      </p:sp>
      <p:sp>
        <p:nvSpPr>
          <p:cNvPr id="36" name="Text 33"/>
          <p:cNvSpPr/>
          <p:nvPr/>
        </p:nvSpPr>
        <p:spPr>
          <a:xfrm>
            <a:off x="8254894" y="5808338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7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Action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254894" y="6151145"/>
            <a:ext cx="3476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targeted retention campaigns by segment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16" y="380916"/>
            <a:ext cx="733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900" b="1" dirty="0">
                <a:solidFill>
                  <a:srgbClr val="C48A6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3685" y="380916"/>
            <a:ext cx="110394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900" b="1" dirty="0">
                <a:solidFill>
                  <a:srgbClr val="2A3D4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Revenue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23685" y="952291"/>
            <a:ext cx="914400" cy="28575"/>
          </a:xfrm>
          <a:custGeom>
            <a:avLst/>
            <a:gdLst/>
            <a:ahLst/>
            <a:cxnLst/>
            <a:rect l="l" t="t" r="r" b="b"/>
            <a:pathLst>
              <a:path w="914400" h="28575">
                <a:moveTo>
                  <a:pt x="0" y="0"/>
                </a:moveTo>
                <a:lnTo>
                  <a:pt x="914400" y="0"/>
                </a:lnTo>
                <a:lnTo>
                  <a:pt x="9144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5" name="Text 3"/>
          <p:cNvSpPr/>
          <p:nvPr/>
        </p:nvSpPr>
        <p:spPr>
          <a:xfrm>
            <a:off x="380916" y="1133196"/>
            <a:ext cx="1152048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5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Demographic analysis reveals </a:t>
            </a:r>
            <a:pPr>
              <a:lnSpc>
                <a:spcPct val="140000"/>
              </a:lnSpc>
            </a:pPr>
            <a:r>
              <a:rPr lang="en-US" sz="1425" b="1" dirty="0">
                <a:solidFill>
                  <a:srgbClr val="2A3D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high-value customer segments</a:t>
            </a:r>
            <a:pPr>
              <a:lnSpc>
                <a:spcPct val="140000"/>
              </a:lnSpc>
            </a:pPr>
            <a:r>
              <a:rPr lang="en-US" sz="1425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425" b="1" dirty="0">
                <a:solidFill>
                  <a:srgbClr val="2A3D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revenue optimization opportunities</a:t>
            </a:r>
            <a:pPr>
              <a:lnSpc>
                <a:spcPct val="140000"/>
              </a:lnSpc>
            </a:pPr>
            <a:r>
              <a:rPr lang="en-US" sz="1425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7715" y="1579625"/>
            <a:ext cx="33598" cy="990600"/>
          </a:xfrm>
          <a:custGeom>
            <a:avLst/>
            <a:gdLst/>
            <a:ahLst/>
            <a:cxnLst/>
            <a:rect l="l" t="t" r="r" b="b"/>
            <a:pathLst>
              <a:path w="33598" h="990600">
                <a:moveTo>
                  <a:pt x="0" y="0"/>
                </a:moveTo>
                <a:lnTo>
                  <a:pt x="33598" y="0"/>
                </a:lnTo>
                <a:lnTo>
                  <a:pt x="33598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7" name="Text 5"/>
          <p:cNvSpPr/>
          <p:nvPr/>
        </p:nvSpPr>
        <p:spPr>
          <a:xfrm>
            <a:off x="566859" y="1655745"/>
            <a:ext cx="554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by Gender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859" y="2055563"/>
            <a:ext cx="552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3D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Female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21848" y="1998445"/>
            <a:ext cx="600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A3D4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58%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859" y="2379362"/>
            <a:ext cx="2609850" cy="114300"/>
          </a:xfrm>
          <a:custGeom>
            <a:avLst/>
            <a:gdLst/>
            <a:ahLst/>
            <a:cxnLst/>
            <a:rect l="l" t="t" r="r" b="b"/>
            <a:pathLst>
              <a:path w="2609850" h="114300">
                <a:moveTo>
                  <a:pt x="57150" y="0"/>
                </a:moveTo>
                <a:lnTo>
                  <a:pt x="2552700" y="0"/>
                </a:lnTo>
                <a:cubicBezTo>
                  <a:pt x="2584242" y="0"/>
                  <a:pt x="2609850" y="25608"/>
                  <a:pt x="2609850" y="57150"/>
                </a:cubicBezTo>
                <a:lnTo>
                  <a:pt x="2609850" y="57150"/>
                </a:lnTo>
                <a:cubicBezTo>
                  <a:pt x="2609850" y="88692"/>
                  <a:pt x="2584242" y="114300"/>
                  <a:pt x="25527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2A3D4F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66859" y="2379362"/>
            <a:ext cx="1514475" cy="114300"/>
          </a:xfrm>
          <a:custGeom>
            <a:avLst/>
            <a:gdLst/>
            <a:ahLst/>
            <a:cxnLst/>
            <a:rect l="l" t="t" r="r" b="b"/>
            <a:pathLst>
              <a:path w="1514475" h="114300">
                <a:moveTo>
                  <a:pt x="0" y="0"/>
                </a:moveTo>
                <a:lnTo>
                  <a:pt x="1514475" y="0"/>
                </a:lnTo>
                <a:lnTo>
                  <a:pt x="1514475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12" name="Text 10"/>
          <p:cNvSpPr/>
          <p:nvPr/>
        </p:nvSpPr>
        <p:spPr>
          <a:xfrm>
            <a:off x="3407665" y="2055563"/>
            <a:ext cx="400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48A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56985" y="1998445"/>
            <a:ext cx="60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C48A6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42%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07665" y="2379362"/>
            <a:ext cx="2609850" cy="114300"/>
          </a:xfrm>
          <a:custGeom>
            <a:avLst/>
            <a:gdLst/>
            <a:ahLst/>
            <a:cxnLst/>
            <a:rect l="l" t="t" r="r" b="b"/>
            <a:pathLst>
              <a:path w="2609850" h="114300">
                <a:moveTo>
                  <a:pt x="57150" y="0"/>
                </a:moveTo>
                <a:lnTo>
                  <a:pt x="2552700" y="0"/>
                </a:lnTo>
                <a:cubicBezTo>
                  <a:pt x="2584242" y="0"/>
                  <a:pt x="2609850" y="25608"/>
                  <a:pt x="2609850" y="57150"/>
                </a:cubicBezTo>
                <a:lnTo>
                  <a:pt x="2609850" y="57150"/>
                </a:lnTo>
                <a:cubicBezTo>
                  <a:pt x="2609850" y="88692"/>
                  <a:pt x="2584242" y="114300"/>
                  <a:pt x="25527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C48A69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407665" y="2379362"/>
            <a:ext cx="1095375" cy="114300"/>
          </a:xfrm>
          <a:custGeom>
            <a:avLst/>
            <a:gdLst/>
            <a:ahLst/>
            <a:cxnLst/>
            <a:rect l="l" t="t" r="r" b="b"/>
            <a:pathLst>
              <a:path w="1095375" h="114300">
                <a:moveTo>
                  <a:pt x="0" y="0"/>
                </a:moveTo>
                <a:lnTo>
                  <a:pt x="1095375" y="0"/>
                </a:lnTo>
                <a:lnTo>
                  <a:pt x="1095375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16" name="Shape 14"/>
          <p:cNvSpPr/>
          <p:nvPr/>
        </p:nvSpPr>
        <p:spPr>
          <a:xfrm>
            <a:off x="397715" y="2722057"/>
            <a:ext cx="33598" cy="1724025"/>
          </a:xfrm>
          <a:custGeom>
            <a:avLst/>
            <a:gdLst/>
            <a:ahLst/>
            <a:cxnLst/>
            <a:rect l="l" t="t" r="r" b="b"/>
            <a:pathLst>
              <a:path w="33598" h="1724025">
                <a:moveTo>
                  <a:pt x="0" y="0"/>
                </a:moveTo>
                <a:lnTo>
                  <a:pt x="33598" y="0"/>
                </a:lnTo>
                <a:lnTo>
                  <a:pt x="33598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17" name="Text 15"/>
          <p:cNvSpPr/>
          <p:nvPr/>
        </p:nvSpPr>
        <p:spPr>
          <a:xfrm>
            <a:off x="566859" y="2798178"/>
            <a:ext cx="554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Subscription Impact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859" y="3178885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Subscribers Avg. Spend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9663" y="3140878"/>
            <a:ext cx="552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A3D4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$285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6859" y="3483573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A37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65% higher than non-subscribers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6859" y="3753512"/>
            <a:ext cx="5448300" cy="6720"/>
          </a:xfrm>
          <a:custGeom>
            <a:avLst/>
            <a:gdLst/>
            <a:ahLst/>
            <a:cxnLst/>
            <a:rect l="l" t="t" r="r" b="b"/>
            <a:pathLst>
              <a:path w="5448300" h="6720">
                <a:moveTo>
                  <a:pt x="0" y="0"/>
                </a:moveTo>
                <a:lnTo>
                  <a:pt x="5448300" y="0"/>
                </a:lnTo>
                <a:lnTo>
                  <a:pt x="5448300" y="6720"/>
                </a:lnTo>
                <a:lnTo>
                  <a:pt x="0" y="6720"/>
                </a:lnTo>
                <a:lnTo>
                  <a:pt x="0" y="0"/>
                </a:lnTo>
                <a:close/>
              </a:path>
            </a:pathLst>
          </a:custGeom>
          <a:solidFill>
            <a:srgbClr val="8A9BA8">
              <a:alpha val="3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66859" y="3871001"/>
            <a:ext cx="1990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Non-Subscribers Avg. Spend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34995" y="3832994"/>
            <a:ext cx="49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A9BA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$173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6859" y="4175694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A37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spending pattern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97715" y="4594617"/>
            <a:ext cx="33598" cy="1276350"/>
          </a:xfrm>
          <a:custGeom>
            <a:avLst/>
            <a:gdLst/>
            <a:ahLst/>
            <a:cxnLst/>
            <a:rect l="l" t="t" r="r" b="b"/>
            <a:pathLst>
              <a:path w="33598" h="1276350">
                <a:moveTo>
                  <a:pt x="0" y="0"/>
                </a:moveTo>
                <a:lnTo>
                  <a:pt x="33598" y="0"/>
                </a:lnTo>
                <a:lnTo>
                  <a:pt x="33598" y="1276350"/>
                </a:lnTo>
                <a:lnTo>
                  <a:pt x="0" y="1276350"/>
                </a:lnTo>
                <a:lnTo>
                  <a:pt x="0" y="0"/>
                </a:lnTo>
                <a:close/>
              </a:path>
            </a:pathLst>
          </a:custGeom>
          <a:solidFill>
            <a:srgbClr val="8A9BA8"/>
          </a:solidFill>
          <a:ln/>
        </p:spPr>
      </p:sp>
      <p:sp>
        <p:nvSpPr>
          <p:cNvPr id="26" name="Text 24"/>
          <p:cNvSpPr/>
          <p:nvPr/>
        </p:nvSpPr>
        <p:spPr>
          <a:xfrm>
            <a:off x="566859" y="4670734"/>
            <a:ext cx="554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High-Value Customers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6859" y="5013434"/>
            <a:ext cx="5524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A37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Customers using discounts but spending above average represent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48A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23%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E2A37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revenue.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6859" y="5337232"/>
            <a:ext cx="5448300" cy="457200"/>
          </a:xfrm>
          <a:custGeom>
            <a:avLst/>
            <a:gdLst/>
            <a:ahLst/>
            <a:cxnLst/>
            <a:rect l="l" t="t" r="r" b="b"/>
            <a:pathLst>
              <a:path w="5448300" h="457200">
                <a:moveTo>
                  <a:pt x="38098" y="0"/>
                </a:moveTo>
                <a:lnTo>
                  <a:pt x="5410202" y="0"/>
                </a:lnTo>
                <a:cubicBezTo>
                  <a:pt x="5431243" y="0"/>
                  <a:pt x="5448300" y="17057"/>
                  <a:pt x="5448300" y="38098"/>
                </a:cubicBezTo>
                <a:lnTo>
                  <a:pt x="5448300" y="419102"/>
                </a:lnTo>
                <a:cubicBezTo>
                  <a:pt x="5448300" y="440143"/>
                  <a:pt x="5431243" y="457200"/>
                  <a:pt x="54102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C48A69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81092" y="5451467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Discount users aren't necessarily price-sensitive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72141" y="1579625"/>
            <a:ext cx="573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by Age Group</a:t>
            </a:r>
            <a:endParaRPr lang="en-US" sz="1600" dirty="0"/>
          </a:p>
        </p:txBody>
      </p:sp>
      <p:pic>
        <p:nvPicPr>
          <p:cNvPr id="31" name="Image 0" descr="https://kimi-img.moonshot.cn/pub/slides/26-01-18-13:20:48-d5m6rc2ej2di16vecao0.png">    </p:cNvPr>
          <p:cNvPicPr>
            <a:picLocks noChangeAspect="1"/>
          </p:cNvPicPr>
          <p:nvPr/>
        </p:nvPicPr>
        <p:blipFill>
          <a:blip r:embed="rId1"/>
          <a:srcRect l="104" r="104" t="0" b="0"/>
          <a:stretch/>
        </p:blipFill>
        <p:spPr>
          <a:xfrm>
            <a:off x="6172141" y="1922325"/>
            <a:ext cx="5638800" cy="2667000"/>
          </a:xfrm>
          <a:prstGeom prst="roundRect">
            <a:avLst>
              <a:gd name="adj" fmla="val 0"/>
            </a:avLst>
          </a:prstGeom>
        </p:spPr>
      </p:pic>
      <p:sp>
        <p:nvSpPr>
          <p:cNvPr id="32" name="Shape 29"/>
          <p:cNvSpPr/>
          <p:nvPr/>
        </p:nvSpPr>
        <p:spPr>
          <a:xfrm>
            <a:off x="6178860" y="4748328"/>
            <a:ext cx="5623664" cy="1766039"/>
          </a:xfrm>
          <a:custGeom>
            <a:avLst/>
            <a:gdLst/>
            <a:ahLst/>
            <a:cxnLst/>
            <a:rect l="l" t="t" r="r" b="b"/>
            <a:pathLst>
              <a:path w="5623664" h="1766039">
                <a:moveTo>
                  <a:pt x="76205" y="0"/>
                </a:moveTo>
                <a:lnTo>
                  <a:pt x="5547460" y="0"/>
                </a:lnTo>
                <a:cubicBezTo>
                  <a:pt x="5589546" y="0"/>
                  <a:pt x="5623664" y="34118"/>
                  <a:pt x="5623664" y="76205"/>
                </a:cubicBezTo>
                <a:lnTo>
                  <a:pt x="5623664" y="1689835"/>
                </a:lnTo>
                <a:cubicBezTo>
                  <a:pt x="5623664" y="1731921"/>
                  <a:pt x="5589546" y="1766039"/>
                  <a:pt x="5547460" y="1766039"/>
                </a:cubicBezTo>
                <a:lnTo>
                  <a:pt x="76205" y="1766039"/>
                </a:lnTo>
                <a:cubicBezTo>
                  <a:pt x="34118" y="1766039"/>
                  <a:pt x="0" y="1731921"/>
                  <a:pt x="0" y="168983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7919">
            <a:solidFill>
              <a:srgbClr val="2A3D4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37925" y="4907389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337925" y="536432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35" name="Text 32"/>
          <p:cNvSpPr/>
          <p:nvPr/>
        </p:nvSpPr>
        <p:spPr>
          <a:xfrm>
            <a:off x="6528278" y="5288203"/>
            <a:ext cx="5191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Female customers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generate 58% of total revenue, representing primary target segment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337925" y="589779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37" name="Text 34"/>
          <p:cNvSpPr/>
          <p:nvPr/>
        </p:nvSpPr>
        <p:spPr>
          <a:xfrm>
            <a:off x="6528278" y="5821673"/>
            <a:ext cx="508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Subscribers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 65% higher average spend, highlighting subscription value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337925" y="620258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39" name="Text 36"/>
          <p:cNvSpPr/>
          <p:nvPr/>
        </p:nvSpPr>
        <p:spPr>
          <a:xfrm>
            <a:off x="6528278" y="6126468"/>
            <a:ext cx="496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 25-44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represents peak earning years and highest revenue contribution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322" y="380322"/>
            <a:ext cx="751301" cy="494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894" b="1" dirty="0">
                <a:solidFill>
                  <a:srgbClr val="C48A6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34458" y="380322"/>
            <a:ext cx="11022253" cy="494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894" b="1" dirty="0">
                <a:solidFill>
                  <a:srgbClr val="2A3D4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Product Performance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34458" y="950805"/>
            <a:ext cx="912973" cy="28530"/>
          </a:xfrm>
          <a:custGeom>
            <a:avLst/>
            <a:gdLst/>
            <a:ahLst/>
            <a:cxnLst/>
            <a:rect l="l" t="t" r="r" b="b"/>
            <a:pathLst>
              <a:path w="912973" h="28530">
                <a:moveTo>
                  <a:pt x="0" y="0"/>
                </a:moveTo>
                <a:lnTo>
                  <a:pt x="912973" y="0"/>
                </a:lnTo>
                <a:lnTo>
                  <a:pt x="912973" y="28530"/>
                </a:lnTo>
                <a:lnTo>
                  <a:pt x="0" y="28530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5" name="Text 3"/>
          <p:cNvSpPr/>
          <p:nvPr/>
        </p:nvSpPr>
        <p:spPr>
          <a:xfrm>
            <a:off x="380322" y="1131423"/>
            <a:ext cx="11521535" cy="294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3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Product analysis identifies </a:t>
            </a:r>
            <a:pPr>
              <a:lnSpc>
                <a:spcPct val="140000"/>
              </a:lnSpc>
            </a:pPr>
            <a:r>
              <a:rPr lang="en-US" sz="1423" b="1" dirty="0">
                <a:solidFill>
                  <a:srgbClr val="2A3D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top-rated items</a:t>
            </a:r>
            <a:pPr>
              <a:lnSpc>
                <a:spcPct val="140000"/>
              </a:lnSpc>
            </a:pPr>
            <a:r>
              <a:rPr lang="en-US" sz="1423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423" b="1" dirty="0">
                <a:solidFill>
                  <a:srgbClr val="2A3D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category leaders</a:t>
            </a:r>
            <a:pPr>
              <a:lnSpc>
                <a:spcPct val="140000"/>
              </a:lnSpc>
            </a:pPr>
            <a:r>
              <a:rPr lang="en-US" sz="1423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and </a:t>
            </a:r>
            <a:pPr>
              <a:lnSpc>
                <a:spcPct val="140000"/>
              </a:lnSpc>
            </a:pPr>
            <a:r>
              <a:rPr lang="en-US" sz="1423" b="1" dirty="0">
                <a:solidFill>
                  <a:srgbClr val="2A3D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discount positioning opportunities</a:t>
            </a:r>
            <a:pPr>
              <a:lnSpc>
                <a:spcPct val="140000"/>
              </a:lnSpc>
            </a:pPr>
            <a:r>
              <a:rPr lang="en-US" sz="1423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0322" y="1593933"/>
            <a:ext cx="3708955" cy="33545"/>
          </a:xfrm>
          <a:custGeom>
            <a:avLst/>
            <a:gdLst/>
            <a:ahLst/>
            <a:cxnLst/>
            <a:rect l="l" t="t" r="r" b="b"/>
            <a:pathLst>
              <a:path w="3708955" h="33545">
                <a:moveTo>
                  <a:pt x="0" y="0"/>
                </a:moveTo>
                <a:lnTo>
                  <a:pt x="3708955" y="0"/>
                </a:lnTo>
                <a:lnTo>
                  <a:pt x="3708955" y="33545"/>
                </a:lnTo>
                <a:lnTo>
                  <a:pt x="0" y="33545"/>
                </a:lnTo>
                <a:lnTo>
                  <a:pt x="0" y="0"/>
                </a:ln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7" name="Text 5"/>
          <p:cNvSpPr/>
          <p:nvPr/>
        </p:nvSpPr>
        <p:spPr>
          <a:xfrm>
            <a:off x="380322" y="1762812"/>
            <a:ext cx="3813566" cy="313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47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5 Products by Rating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7094" y="2190727"/>
            <a:ext cx="33545" cy="608649"/>
          </a:xfrm>
          <a:custGeom>
            <a:avLst/>
            <a:gdLst/>
            <a:ahLst/>
            <a:cxnLst/>
            <a:rect l="l" t="t" r="r" b="b"/>
            <a:pathLst>
              <a:path w="33545" h="608649">
                <a:moveTo>
                  <a:pt x="0" y="0"/>
                </a:moveTo>
                <a:lnTo>
                  <a:pt x="33545" y="0"/>
                </a:lnTo>
                <a:lnTo>
                  <a:pt x="33545" y="608649"/>
                </a:lnTo>
                <a:lnTo>
                  <a:pt x="0" y="608649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9" name="Text 7"/>
          <p:cNvSpPr/>
          <p:nvPr/>
        </p:nvSpPr>
        <p:spPr>
          <a:xfrm>
            <a:off x="527922" y="2266729"/>
            <a:ext cx="1654764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2A3D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Wool Sweater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95476" y="2304783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91981" y="-5617"/>
                </a:moveTo>
                <a:cubicBezTo>
                  <a:pt x="90762" y="-7994"/>
                  <a:pt x="88296" y="-9510"/>
                  <a:pt x="85621" y="-9510"/>
                </a:cubicBezTo>
                <a:cubicBezTo>
                  <a:pt x="82946" y="-9510"/>
                  <a:pt x="80480" y="-7994"/>
                  <a:pt x="79261" y="-5617"/>
                </a:cubicBezTo>
                <a:lnTo>
                  <a:pt x="57388" y="37238"/>
                </a:lnTo>
                <a:lnTo>
                  <a:pt x="9867" y="44787"/>
                </a:lnTo>
                <a:cubicBezTo>
                  <a:pt x="7222" y="45203"/>
                  <a:pt x="5023" y="47075"/>
                  <a:pt x="4190" y="49631"/>
                </a:cubicBezTo>
                <a:cubicBezTo>
                  <a:pt x="3358" y="52187"/>
                  <a:pt x="4042" y="54980"/>
                  <a:pt x="5914" y="56883"/>
                </a:cubicBezTo>
                <a:lnTo>
                  <a:pt x="39913" y="90911"/>
                </a:lnTo>
                <a:lnTo>
                  <a:pt x="32424" y="138432"/>
                </a:lnTo>
                <a:cubicBezTo>
                  <a:pt x="32008" y="141077"/>
                  <a:pt x="33107" y="143752"/>
                  <a:pt x="35277" y="145327"/>
                </a:cubicBezTo>
                <a:cubicBezTo>
                  <a:pt x="37446" y="146902"/>
                  <a:pt x="40299" y="147140"/>
                  <a:pt x="42706" y="145921"/>
                </a:cubicBezTo>
                <a:lnTo>
                  <a:pt x="85621" y="124107"/>
                </a:lnTo>
                <a:lnTo>
                  <a:pt x="128506" y="145921"/>
                </a:lnTo>
                <a:cubicBezTo>
                  <a:pt x="130883" y="147140"/>
                  <a:pt x="133766" y="146902"/>
                  <a:pt x="135936" y="145327"/>
                </a:cubicBezTo>
                <a:cubicBezTo>
                  <a:pt x="138105" y="143752"/>
                  <a:pt x="139205" y="141107"/>
                  <a:pt x="138789" y="138432"/>
                </a:cubicBezTo>
                <a:lnTo>
                  <a:pt x="131270" y="90911"/>
                </a:lnTo>
                <a:lnTo>
                  <a:pt x="165268" y="56883"/>
                </a:lnTo>
                <a:cubicBezTo>
                  <a:pt x="167170" y="54980"/>
                  <a:pt x="167824" y="52187"/>
                  <a:pt x="166992" y="49631"/>
                </a:cubicBezTo>
                <a:cubicBezTo>
                  <a:pt x="166160" y="47075"/>
                  <a:pt x="163990" y="45203"/>
                  <a:pt x="161316" y="44787"/>
                </a:cubicBezTo>
                <a:lnTo>
                  <a:pt x="113824" y="37238"/>
                </a:lnTo>
                <a:lnTo>
                  <a:pt x="91981" y="-5617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11" name="Shape 9"/>
          <p:cNvSpPr/>
          <p:nvPr/>
        </p:nvSpPr>
        <p:spPr>
          <a:xfrm>
            <a:off x="3223585" y="2304783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91981" y="-5617"/>
                </a:moveTo>
                <a:cubicBezTo>
                  <a:pt x="90762" y="-7994"/>
                  <a:pt x="88296" y="-9510"/>
                  <a:pt x="85621" y="-9510"/>
                </a:cubicBezTo>
                <a:cubicBezTo>
                  <a:pt x="82946" y="-9510"/>
                  <a:pt x="80480" y="-7994"/>
                  <a:pt x="79261" y="-5617"/>
                </a:cubicBezTo>
                <a:lnTo>
                  <a:pt x="57388" y="37238"/>
                </a:lnTo>
                <a:lnTo>
                  <a:pt x="9867" y="44787"/>
                </a:lnTo>
                <a:cubicBezTo>
                  <a:pt x="7222" y="45203"/>
                  <a:pt x="5023" y="47075"/>
                  <a:pt x="4190" y="49631"/>
                </a:cubicBezTo>
                <a:cubicBezTo>
                  <a:pt x="3358" y="52187"/>
                  <a:pt x="4042" y="54980"/>
                  <a:pt x="5914" y="56883"/>
                </a:cubicBezTo>
                <a:lnTo>
                  <a:pt x="39913" y="90911"/>
                </a:lnTo>
                <a:lnTo>
                  <a:pt x="32424" y="138432"/>
                </a:lnTo>
                <a:cubicBezTo>
                  <a:pt x="32008" y="141077"/>
                  <a:pt x="33107" y="143752"/>
                  <a:pt x="35277" y="145327"/>
                </a:cubicBezTo>
                <a:cubicBezTo>
                  <a:pt x="37446" y="146902"/>
                  <a:pt x="40299" y="147140"/>
                  <a:pt x="42706" y="145921"/>
                </a:cubicBezTo>
                <a:lnTo>
                  <a:pt x="85621" y="124107"/>
                </a:lnTo>
                <a:lnTo>
                  <a:pt x="128506" y="145921"/>
                </a:lnTo>
                <a:cubicBezTo>
                  <a:pt x="130883" y="147140"/>
                  <a:pt x="133766" y="146902"/>
                  <a:pt x="135936" y="145327"/>
                </a:cubicBezTo>
                <a:cubicBezTo>
                  <a:pt x="138105" y="143752"/>
                  <a:pt x="139205" y="141107"/>
                  <a:pt x="138789" y="138432"/>
                </a:cubicBezTo>
                <a:lnTo>
                  <a:pt x="131270" y="90911"/>
                </a:lnTo>
                <a:lnTo>
                  <a:pt x="165268" y="56883"/>
                </a:lnTo>
                <a:cubicBezTo>
                  <a:pt x="167170" y="54980"/>
                  <a:pt x="167824" y="52187"/>
                  <a:pt x="166992" y="49631"/>
                </a:cubicBezTo>
                <a:cubicBezTo>
                  <a:pt x="166160" y="47075"/>
                  <a:pt x="163990" y="45203"/>
                  <a:pt x="161316" y="44787"/>
                </a:cubicBezTo>
                <a:lnTo>
                  <a:pt x="113824" y="37238"/>
                </a:lnTo>
                <a:lnTo>
                  <a:pt x="91981" y="-5617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12" name="Shape 10"/>
          <p:cNvSpPr/>
          <p:nvPr/>
        </p:nvSpPr>
        <p:spPr>
          <a:xfrm>
            <a:off x="3451695" y="2304783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91981" y="-5617"/>
                </a:moveTo>
                <a:cubicBezTo>
                  <a:pt x="90762" y="-7994"/>
                  <a:pt x="88296" y="-9510"/>
                  <a:pt x="85621" y="-9510"/>
                </a:cubicBezTo>
                <a:cubicBezTo>
                  <a:pt x="82946" y="-9510"/>
                  <a:pt x="80480" y="-7994"/>
                  <a:pt x="79261" y="-5617"/>
                </a:cubicBezTo>
                <a:lnTo>
                  <a:pt x="57388" y="37238"/>
                </a:lnTo>
                <a:lnTo>
                  <a:pt x="9867" y="44787"/>
                </a:lnTo>
                <a:cubicBezTo>
                  <a:pt x="7222" y="45203"/>
                  <a:pt x="5023" y="47075"/>
                  <a:pt x="4190" y="49631"/>
                </a:cubicBezTo>
                <a:cubicBezTo>
                  <a:pt x="3358" y="52187"/>
                  <a:pt x="4042" y="54980"/>
                  <a:pt x="5914" y="56883"/>
                </a:cubicBezTo>
                <a:lnTo>
                  <a:pt x="39913" y="90911"/>
                </a:lnTo>
                <a:lnTo>
                  <a:pt x="32424" y="138432"/>
                </a:lnTo>
                <a:cubicBezTo>
                  <a:pt x="32008" y="141077"/>
                  <a:pt x="33107" y="143752"/>
                  <a:pt x="35277" y="145327"/>
                </a:cubicBezTo>
                <a:cubicBezTo>
                  <a:pt x="37446" y="146902"/>
                  <a:pt x="40299" y="147140"/>
                  <a:pt x="42706" y="145921"/>
                </a:cubicBezTo>
                <a:lnTo>
                  <a:pt x="85621" y="124107"/>
                </a:lnTo>
                <a:lnTo>
                  <a:pt x="128506" y="145921"/>
                </a:lnTo>
                <a:cubicBezTo>
                  <a:pt x="130883" y="147140"/>
                  <a:pt x="133766" y="146902"/>
                  <a:pt x="135936" y="145327"/>
                </a:cubicBezTo>
                <a:cubicBezTo>
                  <a:pt x="138105" y="143752"/>
                  <a:pt x="139205" y="141107"/>
                  <a:pt x="138789" y="138432"/>
                </a:cubicBezTo>
                <a:lnTo>
                  <a:pt x="131270" y="90911"/>
                </a:lnTo>
                <a:lnTo>
                  <a:pt x="165268" y="56883"/>
                </a:lnTo>
                <a:cubicBezTo>
                  <a:pt x="167170" y="54980"/>
                  <a:pt x="167824" y="52187"/>
                  <a:pt x="166992" y="49631"/>
                </a:cubicBezTo>
                <a:cubicBezTo>
                  <a:pt x="166160" y="47075"/>
                  <a:pt x="163990" y="45203"/>
                  <a:pt x="161316" y="44787"/>
                </a:cubicBezTo>
                <a:lnTo>
                  <a:pt x="113824" y="37238"/>
                </a:lnTo>
                <a:lnTo>
                  <a:pt x="91981" y="-5617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9804" y="2304783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91981" y="-5617"/>
                </a:moveTo>
                <a:cubicBezTo>
                  <a:pt x="90762" y="-7994"/>
                  <a:pt x="88296" y="-9510"/>
                  <a:pt x="85621" y="-9510"/>
                </a:cubicBezTo>
                <a:cubicBezTo>
                  <a:pt x="82946" y="-9510"/>
                  <a:pt x="80480" y="-7994"/>
                  <a:pt x="79261" y="-5617"/>
                </a:cubicBezTo>
                <a:lnTo>
                  <a:pt x="57388" y="37238"/>
                </a:lnTo>
                <a:lnTo>
                  <a:pt x="9867" y="44787"/>
                </a:lnTo>
                <a:cubicBezTo>
                  <a:pt x="7222" y="45203"/>
                  <a:pt x="5023" y="47075"/>
                  <a:pt x="4190" y="49631"/>
                </a:cubicBezTo>
                <a:cubicBezTo>
                  <a:pt x="3358" y="52187"/>
                  <a:pt x="4042" y="54980"/>
                  <a:pt x="5914" y="56883"/>
                </a:cubicBezTo>
                <a:lnTo>
                  <a:pt x="39913" y="90911"/>
                </a:lnTo>
                <a:lnTo>
                  <a:pt x="32424" y="138432"/>
                </a:lnTo>
                <a:cubicBezTo>
                  <a:pt x="32008" y="141077"/>
                  <a:pt x="33107" y="143752"/>
                  <a:pt x="35277" y="145327"/>
                </a:cubicBezTo>
                <a:cubicBezTo>
                  <a:pt x="37446" y="146902"/>
                  <a:pt x="40299" y="147140"/>
                  <a:pt x="42706" y="145921"/>
                </a:cubicBezTo>
                <a:lnTo>
                  <a:pt x="85621" y="124107"/>
                </a:lnTo>
                <a:lnTo>
                  <a:pt x="128506" y="145921"/>
                </a:lnTo>
                <a:cubicBezTo>
                  <a:pt x="130883" y="147140"/>
                  <a:pt x="133766" y="146902"/>
                  <a:pt x="135936" y="145327"/>
                </a:cubicBezTo>
                <a:cubicBezTo>
                  <a:pt x="138105" y="143752"/>
                  <a:pt x="139205" y="141107"/>
                  <a:pt x="138789" y="138432"/>
                </a:cubicBezTo>
                <a:lnTo>
                  <a:pt x="131270" y="90911"/>
                </a:lnTo>
                <a:lnTo>
                  <a:pt x="165268" y="56883"/>
                </a:lnTo>
                <a:cubicBezTo>
                  <a:pt x="167170" y="54980"/>
                  <a:pt x="167824" y="52187"/>
                  <a:pt x="166992" y="49631"/>
                </a:cubicBezTo>
                <a:cubicBezTo>
                  <a:pt x="166160" y="47075"/>
                  <a:pt x="163990" y="45203"/>
                  <a:pt x="161316" y="44787"/>
                </a:cubicBezTo>
                <a:lnTo>
                  <a:pt x="113824" y="37238"/>
                </a:lnTo>
                <a:lnTo>
                  <a:pt x="91981" y="-5617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14" name="Shape 12"/>
          <p:cNvSpPr/>
          <p:nvPr/>
        </p:nvSpPr>
        <p:spPr>
          <a:xfrm>
            <a:off x="3907913" y="2304783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91981" y="-5617"/>
                </a:moveTo>
                <a:cubicBezTo>
                  <a:pt x="90762" y="-7994"/>
                  <a:pt x="88296" y="-9510"/>
                  <a:pt x="85621" y="-9510"/>
                </a:cubicBezTo>
                <a:cubicBezTo>
                  <a:pt x="82946" y="-9510"/>
                  <a:pt x="80480" y="-7994"/>
                  <a:pt x="79261" y="-5617"/>
                </a:cubicBezTo>
                <a:lnTo>
                  <a:pt x="57388" y="37238"/>
                </a:lnTo>
                <a:lnTo>
                  <a:pt x="9867" y="44787"/>
                </a:lnTo>
                <a:cubicBezTo>
                  <a:pt x="7222" y="45203"/>
                  <a:pt x="5023" y="47075"/>
                  <a:pt x="4190" y="49631"/>
                </a:cubicBezTo>
                <a:cubicBezTo>
                  <a:pt x="3358" y="52187"/>
                  <a:pt x="4042" y="54980"/>
                  <a:pt x="5914" y="56883"/>
                </a:cubicBezTo>
                <a:lnTo>
                  <a:pt x="39913" y="90911"/>
                </a:lnTo>
                <a:lnTo>
                  <a:pt x="32424" y="138432"/>
                </a:lnTo>
                <a:cubicBezTo>
                  <a:pt x="32008" y="141077"/>
                  <a:pt x="33107" y="143752"/>
                  <a:pt x="35277" y="145327"/>
                </a:cubicBezTo>
                <a:cubicBezTo>
                  <a:pt x="37446" y="146902"/>
                  <a:pt x="40299" y="147140"/>
                  <a:pt x="42706" y="145921"/>
                </a:cubicBezTo>
                <a:lnTo>
                  <a:pt x="85621" y="124107"/>
                </a:lnTo>
                <a:lnTo>
                  <a:pt x="128506" y="145921"/>
                </a:lnTo>
                <a:cubicBezTo>
                  <a:pt x="130883" y="147140"/>
                  <a:pt x="133766" y="146902"/>
                  <a:pt x="135936" y="145327"/>
                </a:cubicBezTo>
                <a:cubicBezTo>
                  <a:pt x="138105" y="143752"/>
                  <a:pt x="139205" y="141107"/>
                  <a:pt x="138789" y="138432"/>
                </a:cubicBezTo>
                <a:lnTo>
                  <a:pt x="131270" y="90911"/>
                </a:lnTo>
                <a:lnTo>
                  <a:pt x="165268" y="56883"/>
                </a:lnTo>
                <a:cubicBezTo>
                  <a:pt x="167170" y="54980"/>
                  <a:pt x="167824" y="52187"/>
                  <a:pt x="166992" y="49631"/>
                </a:cubicBezTo>
                <a:cubicBezTo>
                  <a:pt x="166160" y="47075"/>
                  <a:pt x="163990" y="45203"/>
                  <a:pt x="161316" y="44787"/>
                </a:cubicBezTo>
                <a:lnTo>
                  <a:pt x="113824" y="37238"/>
                </a:lnTo>
                <a:lnTo>
                  <a:pt x="91981" y="-5617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15" name="Text 13"/>
          <p:cNvSpPr/>
          <p:nvPr/>
        </p:nvSpPr>
        <p:spPr>
          <a:xfrm>
            <a:off x="527922" y="2532999"/>
            <a:ext cx="3623363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1E2A3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Exceptional quality and comfort drive satisfaction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7094" y="2875160"/>
            <a:ext cx="33545" cy="608649"/>
          </a:xfrm>
          <a:custGeom>
            <a:avLst/>
            <a:gdLst/>
            <a:ahLst/>
            <a:cxnLst/>
            <a:rect l="l" t="t" r="r" b="b"/>
            <a:pathLst>
              <a:path w="33545" h="608649">
                <a:moveTo>
                  <a:pt x="0" y="0"/>
                </a:moveTo>
                <a:lnTo>
                  <a:pt x="33545" y="0"/>
                </a:lnTo>
                <a:lnTo>
                  <a:pt x="33545" y="608649"/>
                </a:lnTo>
                <a:lnTo>
                  <a:pt x="0" y="608649"/>
                </a:lnTo>
                <a:lnTo>
                  <a:pt x="0" y="0"/>
                </a:lnTo>
                <a:close/>
              </a:path>
            </a:pathLst>
          </a:custGeom>
          <a:solidFill>
            <a:srgbClr val="8A9BA8"/>
          </a:solidFill>
          <a:ln/>
        </p:spPr>
      </p:sp>
      <p:sp>
        <p:nvSpPr>
          <p:cNvPr id="17" name="Text 15"/>
          <p:cNvSpPr/>
          <p:nvPr/>
        </p:nvSpPr>
        <p:spPr>
          <a:xfrm>
            <a:off x="527922" y="2951162"/>
            <a:ext cx="1350440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2A3D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Organic Cotton Tee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995476" y="2989216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91981" y="-5617"/>
                </a:moveTo>
                <a:cubicBezTo>
                  <a:pt x="90762" y="-7994"/>
                  <a:pt x="88296" y="-9510"/>
                  <a:pt x="85621" y="-9510"/>
                </a:cubicBezTo>
                <a:cubicBezTo>
                  <a:pt x="82946" y="-9510"/>
                  <a:pt x="80480" y="-7994"/>
                  <a:pt x="79261" y="-5617"/>
                </a:cubicBezTo>
                <a:lnTo>
                  <a:pt x="57388" y="37238"/>
                </a:lnTo>
                <a:lnTo>
                  <a:pt x="9867" y="44787"/>
                </a:lnTo>
                <a:cubicBezTo>
                  <a:pt x="7222" y="45203"/>
                  <a:pt x="5023" y="47075"/>
                  <a:pt x="4190" y="49631"/>
                </a:cubicBezTo>
                <a:cubicBezTo>
                  <a:pt x="3358" y="52187"/>
                  <a:pt x="4042" y="54980"/>
                  <a:pt x="5914" y="56883"/>
                </a:cubicBezTo>
                <a:lnTo>
                  <a:pt x="39913" y="90911"/>
                </a:lnTo>
                <a:lnTo>
                  <a:pt x="32424" y="138432"/>
                </a:lnTo>
                <a:cubicBezTo>
                  <a:pt x="32008" y="141077"/>
                  <a:pt x="33107" y="143752"/>
                  <a:pt x="35277" y="145327"/>
                </a:cubicBezTo>
                <a:cubicBezTo>
                  <a:pt x="37446" y="146902"/>
                  <a:pt x="40299" y="147140"/>
                  <a:pt x="42706" y="145921"/>
                </a:cubicBezTo>
                <a:lnTo>
                  <a:pt x="85621" y="124107"/>
                </a:lnTo>
                <a:lnTo>
                  <a:pt x="128506" y="145921"/>
                </a:lnTo>
                <a:cubicBezTo>
                  <a:pt x="130883" y="147140"/>
                  <a:pt x="133766" y="146902"/>
                  <a:pt x="135936" y="145327"/>
                </a:cubicBezTo>
                <a:cubicBezTo>
                  <a:pt x="138105" y="143752"/>
                  <a:pt x="139205" y="141107"/>
                  <a:pt x="138789" y="138432"/>
                </a:cubicBezTo>
                <a:lnTo>
                  <a:pt x="131270" y="90911"/>
                </a:lnTo>
                <a:lnTo>
                  <a:pt x="165268" y="56883"/>
                </a:lnTo>
                <a:cubicBezTo>
                  <a:pt x="167170" y="54980"/>
                  <a:pt x="167824" y="52187"/>
                  <a:pt x="166992" y="49631"/>
                </a:cubicBezTo>
                <a:cubicBezTo>
                  <a:pt x="166160" y="47075"/>
                  <a:pt x="163990" y="45203"/>
                  <a:pt x="161316" y="44787"/>
                </a:cubicBezTo>
                <a:lnTo>
                  <a:pt x="113824" y="37238"/>
                </a:lnTo>
                <a:lnTo>
                  <a:pt x="91981" y="-5617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19" name="Shape 17"/>
          <p:cNvSpPr/>
          <p:nvPr/>
        </p:nvSpPr>
        <p:spPr>
          <a:xfrm>
            <a:off x="3223585" y="2989216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91981" y="-5617"/>
                </a:moveTo>
                <a:cubicBezTo>
                  <a:pt x="90762" y="-7994"/>
                  <a:pt x="88296" y="-9510"/>
                  <a:pt x="85621" y="-9510"/>
                </a:cubicBezTo>
                <a:cubicBezTo>
                  <a:pt x="82946" y="-9510"/>
                  <a:pt x="80480" y="-7994"/>
                  <a:pt x="79261" y="-5617"/>
                </a:cubicBezTo>
                <a:lnTo>
                  <a:pt x="57388" y="37238"/>
                </a:lnTo>
                <a:lnTo>
                  <a:pt x="9867" y="44787"/>
                </a:lnTo>
                <a:cubicBezTo>
                  <a:pt x="7222" y="45203"/>
                  <a:pt x="5023" y="47075"/>
                  <a:pt x="4190" y="49631"/>
                </a:cubicBezTo>
                <a:cubicBezTo>
                  <a:pt x="3358" y="52187"/>
                  <a:pt x="4042" y="54980"/>
                  <a:pt x="5914" y="56883"/>
                </a:cubicBezTo>
                <a:lnTo>
                  <a:pt x="39913" y="90911"/>
                </a:lnTo>
                <a:lnTo>
                  <a:pt x="32424" y="138432"/>
                </a:lnTo>
                <a:cubicBezTo>
                  <a:pt x="32008" y="141077"/>
                  <a:pt x="33107" y="143752"/>
                  <a:pt x="35277" y="145327"/>
                </a:cubicBezTo>
                <a:cubicBezTo>
                  <a:pt x="37446" y="146902"/>
                  <a:pt x="40299" y="147140"/>
                  <a:pt x="42706" y="145921"/>
                </a:cubicBezTo>
                <a:lnTo>
                  <a:pt x="85621" y="124107"/>
                </a:lnTo>
                <a:lnTo>
                  <a:pt x="128506" y="145921"/>
                </a:lnTo>
                <a:cubicBezTo>
                  <a:pt x="130883" y="147140"/>
                  <a:pt x="133766" y="146902"/>
                  <a:pt x="135936" y="145327"/>
                </a:cubicBezTo>
                <a:cubicBezTo>
                  <a:pt x="138105" y="143752"/>
                  <a:pt x="139205" y="141107"/>
                  <a:pt x="138789" y="138432"/>
                </a:cubicBezTo>
                <a:lnTo>
                  <a:pt x="131270" y="90911"/>
                </a:lnTo>
                <a:lnTo>
                  <a:pt x="165268" y="56883"/>
                </a:lnTo>
                <a:cubicBezTo>
                  <a:pt x="167170" y="54980"/>
                  <a:pt x="167824" y="52187"/>
                  <a:pt x="166992" y="49631"/>
                </a:cubicBezTo>
                <a:cubicBezTo>
                  <a:pt x="166160" y="47075"/>
                  <a:pt x="163990" y="45203"/>
                  <a:pt x="161316" y="44787"/>
                </a:cubicBezTo>
                <a:lnTo>
                  <a:pt x="113824" y="37238"/>
                </a:lnTo>
                <a:lnTo>
                  <a:pt x="91981" y="-5617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20" name="Shape 18"/>
          <p:cNvSpPr/>
          <p:nvPr/>
        </p:nvSpPr>
        <p:spPr>
          <a:xfrm>
            <a:off x="3451695" y="2989216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91981" y="-5617"/>
                </a:moveTo>
                <a:cubicBezTo>
                  <a:pt x="90762" y="-7994"/>
                  <a:pt x="88296" y="-9510"/>
                  <a:pt x="85621" y="-9510"/>
                </a:cubicBezTo>
                <a:cubicBezTo>
                  <a:pt x="82946" y="-9510"/>
                  <a:pt x="80480" y="-7994"/>
                  <a:pt x="79261" y="-5617"/>
                </a:cubicBezTo>
                <a:lnTo>
                  <a:pt x="57388" y="37238"/>
                </a:lnTo>
                <a:lnTo>
                  <a:pt x="9867" y="44787"/>
                </a:lnTo>
                <a:cubicBezTo>
                  <a:pt x="7222" y="45203"/>
                  <a:pt x="5023" y="47075"/>
                  <a:pt x="4190" y="49631"/>
                </a:cubicBezTo>
                <a:cubicBezTo>
                  <a:pt x="3358" y="52187"/>
                  <a:pt x="4042" y="54980"/>
                  <a:pt x="5914" y="56883"/>
                </a:cubicBezTo>
                <a:lnTo>
                  <a:pt x="39913" y="90911"/>
                </a:lnTo>
                <a:lnTo>
                  <a:pt x="32424" y="138432"/>
                </a:lnTo>
                <a:cubicBezTo>
                  <a:pt x="32008" y="141077"/>
                  <a:pt x="33107" y="143752"/>
                  <a:pt x="35277" y="145327"/>
                </a:cubicBezTo>
                <a:cubicBezTo>
                  <a:pt x="37446" y="146902"/>
                  <a:pt x="40299" y="147140"/>
                  <a:pt x="42706" y="145921"/>
                </a:cubicBezTo>
                <a:lnTo>
                  <a:pt x="85621" y="124107"/>
                </a:lnTo>
                <a:lnTo>
                  <a:pt x="128506" y="145921"/>
                </a:lnTo>
                <a:cubicBezTo>
                  <a:pt x="130883" y="147140"/>
                  <a:pt x="133766" y="146902"/>
                  <a:pt x="135936" y="145327"/>
                </a:cubicBezTo>
                <a:cubicBezTo>
                  <a:pt x="138105" y="143752"/>
                  <a:pt x="139205" y="141107"/>
                  <a:pt x="138789" y="138432"/>
                </a:cubicBezTo>
                <a:lnTo>
                  <a:pt x="131270" y="90911"/>
                </a:lnTo>
                <a:lnTo>
                  <a:pt x="165268" y="56883"/>
                </a:lnTo>
                <a:cubicBezTo>
                  <a:pt x="167170" y="54980"/>
                  <a:pt x="167824" y="52187"/>
                  <a:pt x="166992" y="49631"/>
                </a:cubicBezTo>
                <a:cubicBezTo>
                  <a:pt x="166160" y="47075"/>
                  <a:pt x="163990" y="45203"/>
                  <a:pt x="161316" y="44787"/>
                </a:cubicBezTo>
                <a:lnTo>
                  <a:pt x="113824" y="37238"/>
                </a:lnTo>
                <a:lnTo>
                  <a:pt x="91981" y="-5617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21" name="Shape 19"/>
          <p:cNvSpPr/>
          <p:nvPr/>
        </p:nvSpPr>
        <p:spPr>
          <a:xfrm>
            <a:off x="3679804" y="2989216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91981" y="-5617"/>
                </a:moveTo>
                <a:cubicBezTo>
                  <a:pt x="90762" y="-7994"/>
                  <a:pt x="88296" y="-9510"/>
                  <a:pt x="85621" y="-9510"/>
                </a:cubicBezTo>
                <a:cubicBezTo>
                  <a:pt x="82946" y="-9510"/>
                  <a:pt x="80480" y="-7994"/>
                  <a:pt x="79261" y="-5617"/>
                </a:cubicBezTo>
                <a:lnTo>
                  <a:pt x="57388" y="37238"/>
                </a:lnTo>
                <a:lnTo>
                  <a:pt x="9867" y="44787"/>
                </a:lnTo>
                <a:cubicBezTo>
                  <a:pt x="7222" y="45203"/>
                  <a:pt x="5023" y="47075"/>
                  <a:pt x="4190" y="49631"/>
                </a:cubicBezTo>
                <a:cubicBezTo>
                  <a:pt x="3358" y="52187"/>
                  <a:pt x="4042" y="54980"/>
                  <a:pt x="5914" y="56883"/>
                </a:cubicBezTo>
                <a:lnTo>
                  <a:pt x="39913" y="90911"/>
                </a:lnTo>
                <a:lnTo>
                  <a:pt x="32424" y="138432"/>
                </a:lnTo>
                <a:cubicBezTo>
                  <a:pt x="32008" y="141077"/>
                  <a:pt x="33107" y="143752"/>
                  <a:pt x="35277" y="145327"/>
                </a:cubicBezTo>
                <a:cubicBezTo>
                  <a:pt x="37446" y="146902"/>
                  <a:pt x="40299" y="147140"/>
                  <a:pt x="42706" y="145921"/>
                </a:cubicBezTo>
                <a:lnTo>
                  <a:pt x="85621" y="124107"/>
                </a:lnTo>
                <a:lnTo>
                  <a:pt x="128506" y="145921"/>
                </a:lnTo>
                <a:cubicBezTo>
                  <a:pt x="130883" y="147140"/>
                  <a:pt x="133766" y="146902"/>
                  <a:pt x="135936" y="145327"/>
                </a:cubicBezTo>
                <a:cubicBezTo>
                  <a:pt x="138105" y="143752"/>
                  <a:pt x="139205" y="141107"/>
                  <a:pt x="138789" y="138432"/>
                </a:cubicBezTo>
                <a:lnTo>
                  <a:pt x="131270" y="90911"/>
                </a:lnTo>
                <a:lnTo>
                  <a:pt x="165268" y="56883"/>
                </a:lnTo>
                <a:cubicBezTo>
                  <a:pt x="167170" y="54980"/>
                  <a:pt x="167824" y="52187"/>
                  <a:pt x="166992" y="49631"/>
                </a:cubicBezTo>
                <a:cubicBezTo>
                  <a:pt x="166160" y="47075"/>
                  <a:pt x="163990" y="45203"/>
                  <a:pt x="161316" y="44787"/>
                </a:cubicBezTo>
                <a:lnTo>
                  <a:pt x="113824" y="37238"/>
                </a:lnTo>
                <a:lnTo>
                  <a:pt x="91981" y="-5617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22" name="Shape 20"/>
          <p:cNvSpPr/>
          <p:nvPr/>
        </p:nvSpPr>
        <p:spPr>
          <a:xfrm>
            <a:off x="3907913" y="2989216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91981" y="-5617"/>
                </a:moveTo>
                <a:cubicBezTo>
                  <a:pt x="90762" y="-7994"/>
                  <a:pt x="88296" y="-9510"/>
                  <a:pt x="85621" y="-9510"/>
                </a:cubicBezTo>
                <a:cubicBezTo>
                  <a:pt x="82946" y="-9510"/>
                  <a:pt x="80480" y="-7994"/>
                  <a:pt x="79261" y="-5617"/>
                </a:cubicBezTo>
                <a:lnTo>
                  <a:pt x="57388" y="37238"/>
                </a:lnTo>
                <a:lnTo>
                  <a:pt x="9867" y="44787"/>
                </a:lnTo>
                <a:cubicBezTo>
                  <a:pt x="7222" y="45203"/>
                  <a:pt x="5023" y="47075"/>
                  <a:pt x="4190" y="49631"/>
                </a:cubicBezTo>
                <a:cubicBezTo>
                  <a:pt x="3358" y="52187"/>
                  <a:pt x="4042" y="54980"/>
                  <a:pt x="5914" y="56883"/>
                </a:cubicBezTo>
                <a:lnTo>
                  <a:pt x="39913" y="90911"/>
                </a:lnTo>
                <a:lnTo>
                  <a:pt x="32424" y="138432"/>
                </a:lnTo>
                <a:cubicBezTo>
                  <a:pt x="32008" y="141077"/>
                  <a:pt x="33107" y="143752"/>
                  <a:pt x="35277" y="145327"/>
                </a:cubicBezTo>
                <a:cubicBezTo>
                  <a:pt x="37446" y="146902"/>
                  <a:pt x="40299" y="147140"/>
                  <a:pt x="42706" y="145921"/>
                </a:cubicBezTo>
                <a:lnTo>
                  <a:pt x="85621" y="124107"/>
                </a:lnTo>
                <a:lnTo>
                  <a:pt x="128506" y="145921"/>
                </a:lnTo>
                <a:cubicBezTo>
                  <a:pt x="130883" y="147140"/>
                  <a:pt x="133766" y="146902"/>
                  <a:pt x="135936" y="145327"/>
                </a:cubicBezTo>
                <a:cubicBezTo>
                  <a:pt x="138105" y="143752"/>
                  <a:pt x="139205" y="141107"/>
                  <a:pt x="138789" y="138432"/>
                </a:cubicBezTo>
                <a:lnTo>
                  <a:pt x="131270" y="90911"/>
                </a:lnTo>
                <a:lnTo>
                  <a:pt x="165268" y="56883"/>
                </a:lnTo>
                <a:cubicBezTo>
                  <a:pt x="167170" y="54980"/>
                  <a:pt x="167824" y="52187"/>
                  <a:pt x="166992" y="49631"/>
                </a:cubicBezTo>
                <a:cubicBezTo>
                  <a:pt x="166160" y="47075"/>
                  <a:pt x="163990" y="45203"/>
                  <a:pt x="161316" y="44787"/>
                </a:cubicBezTo>
                <a:lnTo>
                  <a:pt x="113824" y="37238"/>
                </a:lnTo>
                <a:lnTo>
                  <a:pt x="91981" y="-5617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23" name="Text 21"/>
          <p:cNvSpPr/>
          <p:nvPr/>
        </p:nvSpPr>
        <p:spPr>
          <a:xfrm>
            <a:off x="527922" y="3217427"/>
            <a:ext cx="3623363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1E2A3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Sustainable materials resonate with customers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97094" y="3559593"/>
            <a:ext cx="33545" cy="608649"/>
          </a:xfrm>
          <a:custGeom>
            <a:avLst/>
            <a:gdLst/>
            <a:ahLst/>
            <a:cxnLst/>
            <a:rect l="l" t="t" r="r" b="b"/>
            <a:pathLst>
              <a:path w="33545" h="608649">
                <a:moveTo>
                  <a:pt x="0" y="0"/>
                </a:moveTo>
                <a:lnTo>
                  <a:pt x="33545" y="0"/>
                </a:lnTo>
                <a:lnTo>
                  <a:pt x="33545" y="608649"/>
                </a:lnTo>
                <a:lnTo>
                  <a:pt x="0" y="608649"/>
                </a:lnTo>
                <a:lnTo>
                  <a:pt x="0" y="0"/>
                </a:ln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25" name="Text 23"/>
          <p:cNvSpPr/>
          <p:nvPr/>
        </p:nvSpPr>
        <p:spPr>
          <a:xfrm>
            <a:off x="527922" y="3635595"/>
            <a:ext cx="931994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2A3D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Slim Fit Jeans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995476" y="3673649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91981" y="-5617"/>
                </a:moveTo>
                <a:cubicBezTo>
                  <a:pt x="90762" y="-7994"/>
                  <a:pt x="88296" y="-9510"/>
                  <a:pt x="85621" y="-9510"/>
                </a:cubicBezTo>
                <a:cubicBezTo>
                  <a:pt x="82946" y="-9510"/>
                  <a:pt x="80480" y="-7994"/>
                  <a:pt x="79261" y="-5617"/>
                </a:cubicBezTo>
                <a:lnTo>
                  <a:pt x="57388" y="37238"/>
                </a:lnTo>
                <a:lnTo>
                  <a:pt x="9867" y="44787"/>
                </a:lnTo>
                <a:cubicBezTo>
                  <a:pt x="7222" y="45203"/>
                  <a:pt x="5023" y="47075"/>
                  <a:pt x="4190" y="49631"/>
                </a:cubicBezTo>
                <a:cubicBezTo>
                  <a:pt x="3358" y="52187"/>
                  <a:pt x="4042" y="54980"/>
                  <a:pt x="5914" y="56883"/>
                </a:cubicBezTo>
                <a:lnTo>
                  <a:pt x="39913" y="90911"/>
                </a:lnTo>
                <a:lnTo>
                  <a:pt x="32424" y="138432"/>
                </a:lnTo>
                <a:cubicBezTo>
                  <a:pt x="32008" y="141077"/>
                  <a:pt x="33107" y="143752"/>
                  <a:pt x="35277" y="145327"/>
                </a:cubicBezTo>
                <a:cubicBezTo>
                  <a:pt x="37446" y="146902"/>
                  <a:pt x="40299" y="147140"/>
                  <a:pt x="42706" y="145921"/>
                </a:cubicBezTo>
                <a:lnTo>
                  <a:pt x="85621" y="124107"/>
                </a:lnTo>
                <a:lnTo>
                  <a:pt x="128506" y="145921"/>
                </a:lnTo>
                <a:cubicBezTo>
                  <a:pt x="130883" y="147140"/>
                  <a:pt x="133766" y="146902"/>
                  <a:pt x="135936" y="145327"/>
                </a:cubicBezTo>
                <a:cubicBezTo>
                  <a:pt x="138105" y="143752"/>
                  <a:pt x="139205" y="141107"/>
                  <a:pt x="138789" y="138432"/>
                </a:cubicBezTo>
                <a:lnTo>
                  <a:pt x="131270" y="90911"/>
                </a:lnTo>
                <a:lnTo>
                  <a:pt x="165268" y="56883"/>
                </a:lnTo>
                <a:cubicBezTo>
                  <a:pt x="167170" y="54980"/>
                  <a:pt x="167824" y="52187"/>
                  <a:pt x="166992" y="49631"/>
                </a:cubicBezTo>
                <a:cubicBezTo>
                  <a:pt x="166160" y="47075"/>
                  <a:pt x="163990" y="45203"/>
                  <a:pt x="161316" y="44787"/>
                </a:cubicBezTo>
                <a:lnTo>
                  <a:pt x="113824" y="37238"/>
                </a:lnTo>
                <a:lnTo>
                  <a:pt x="91981" y="-5617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27" name="Shape 25"/>
          <p:cNvSpPr/>
          <p:nvPr/>
        </p:nvSpPr>
        <p:spPr>
          <a:xfrm>
            <a:off x="3223585" y="3673649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91981" y="-5617"/>
                </a:moveTo>
                <a:cubicBezTo>
                  <a:pt x="90762" y="-7994"/>
                  <a:pt x="88296" y="-9510"/>
                  <a:pt x="85621" y="-9510"/>
                </a:cubicBezTo>
                <a:cubicBezTo>
                  <a:pt x="82946" y="-9510"/>
                  <a:pt x="80480" y="-7994"/>
                  <a:pt x="79261" y="-5617"/>
                </a:cubicBezTo>
                <a:lnTo>
                  <a:pt x="57388" y="37238"/>
                </a:lnTo>
                <a:lnTo>
                  <a:pt x="9867" y="44787"/>
                </a:lnTo>
                <a:cubicBezTo>
                  <a:pt x="7222" y="45203"/>
                  <a:pt x="5023" y="47075"/>
                  <a:pt x="4190" y="49631"/>
                </a:cubicBezTo>
                <a:cubicBezTo>
                  <a:pt x="3358" y="52187"/>
                  <a:pt x="4042" y="54980"/>
                  <a:pt x="5914" y="56883"/>
                </a:cubicBezTo>
                <a:lnTo>
                  <a:pt x="39913" y="90911"/>
                </a:lnTo>
                <a:lnTo>
                  <a:pt x="32424" y="138432"/>
                </a:lnTo>
                <a:cubicBezTo>
                  <a:pt x="32008" y="141077"/>
                  <a:pt x="33107" y="143752"/>
                  <a:pt x="35277" y="145327"/>
                </a:cubicBezTo>
                <a:cubicBezTo>
                  <a:pt x="37446" y="146902"/>
                  <a:pt x="40299" y="147140"/>
                  <a:pt x="42706" y="145921"/>
                </a:cubicBezTo>
                <a:lnTo>
                  <a:pt x="85621" y="124107"/>
                </a:lnTo>
                <a:lnTo>
                  <a:pt x="128506" y="145921"/>
                </a:lnTo>
                <a:cubicBezTo>
                  <a:pt x="130883" y="147140"/>
                  <a:pt x="133766" y="146902"/>
                  <a:pt x="135936" y="145327"/>
                </a:cubicBezTo>
                <a:cubicBezTo>
                  <a:pt x="138105" y="143752"/>
                  <a:pt x="139205" y="141107"/>
                  <a:pt x="138789" y="138432"/>
                </a:cubicBezTo>
                <a:lnTo>
                  <a:pt x="131270" y="90911"/>
                </a:lnTo>
                <a:lnTo>
                  <a:pt x="165268" y="56883"/>
                </a:lnTo>
                <a:cubicBezTo>
                  <a:pt x="167170" y="54980"/>
                  <a:pt x="167824" y="52187"/>
                  <a:pt x="166992" y="49631"/>
                </a:cubicBezTo>
                <a:cubicBezTo>
                  <a:pt x="166160" y="47075"/>
                  <a:pt x="163990" y="45203"/>
                  <a:pt x="161316" y="44787"/>
                </a:cubicBezTo>
                <a:lnTo>
                  <a:pt x="113824" y="37238"/>
                </a:lnTo>
                <a:lnTo>
                  <a:pt x="91981" y="-5617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28" name="Shape 26"/>
          <p:cNvSpPr/>
          <p:nvPr/>
        </p:nvSpPr>
        <p:spPr>
          <a:xfrm>
            <a:off x="3451695" y="3673649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91981" y="-5617"/>
                </a:moveTo>
                <a:cubicBezTo>
                  <a:pt x="90762" y="-7994"/>
                  <a:pt x="88296" y="-9510"/>
                  <a:pt x="85621" y="-9510"/>
                </a:cubicBezTo>
                <a:cubicBezTo>
                  <a:pt x="82946" y="-9510"/>
                  <a:pt x="80480" y="-7994"/>
                  <a:pt x="79261" y="-5617"/>
                </a:cubicBezTo>
                <a:lnTo>
                  <a:pt x="57388" y="37238"/>
                </a:lnTo>
                <a:lnTo>
                  <a:pt x="9867" y="44787"/>
                </a:lnTo>
                <a:cubicBezTo>
                  <a:pt x="7222" y="45203"/>
                  <a:pt x="5023" y="47075"/>
                  <a:pt x="4190" y="49631"/>
                </a:cubicBezTo>
                <a:cubicBezTo>
                  <a:pt x="3358" y="52187"/>
                  <a:pt x="4042" y="54980"/>
                  <a:pt x="5914" y="56883"/>
                </a:cubicBezTo>
                <a:lnTo>
                  <a:pt x="39913" y="90911"/>
                </a:lnTo>
                <a:lnTo>
                  <a:pt x="32424" y="138432"/>
                </a:lnTo>
                <a:cubicBezTo>
                  <a:pt x="32008" y="141077"/>
                  <a:pt x="33107" y="143752"/>
                  <a:pt x="35277" y="145327"/>
                </a:cubicBezTo>
                <a:cubicBezTo>
                  <a:pt x="37446" y="146902"/>
                  <a:pt x="40299" y="147140"/>
                  <a:pt x="42706" y="145921"/>
                </a:cubicBezTo>
                <a:lnTo>
                  <a:pt x="85621" y="124107"/>
                </a:lnTo>
                <a:lnTo>
                  <a:pt x="128506" y="145921"/>
                </a:lnTo>
                <a:cubicBezTo>
                  <a:pt x="130883" y="147140"/>
                  <a:pt x="133766" y="146902"/>
                  <a:pt x="135936" y="145327"/>
                </a:cubicBezTo>
                <a:cubicBezTo>
                  <a:pt x="138105" y="143752"/>
                  <a:pt x="139205" y="141107"/>
                  <a:pt x="138789" y="138432"/>
                </a:cubicBezTo>
                <a:lnTo>
                  <a:pt x="131270" y="90911"/>
                </a:lnTo>
                <a:lnTo>
                  <a:pt x="165268" y="56883"/>
                </a:lnTo>
                <a:cubicBezTo>
                  <a:pt x="167170" y="54980"/>
                  <a:pt x="167824" y="52187"/>
                  <a:pt x="166992" y="49631"/>
                </a:cubicBezTo>
                <a:cubicBezTo>
                  <a:pt x="166160" y="47075"/>
                  <a:pt x="163990" y="45203"/>
                  <a:pt x="161316" y="44787"/>
                </a:cubicBezTo>
                <a:lnTo>
                  <a:pt x="113824" y="37238"/>
                </a:lnTo>
                <a:lnTo>
                  <a:pt x="91981" y="-5617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29" name="Shape 27"/>
          <p:cNvSpPr/>
          <p:nvPr/>
        </p:nvSpPr>
        <p:spPr>
          <a:xfrm>
            <a:off x="3679804" y="3673649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91981" y="-5617"/>
                </a:moveTo>
                <a:cubicBezTo>
                  <a:pt x="90762" y="-7994"/>
                  <a:pt x="88296" y="-9510"/>
                  <a:pt x="85621" y="-9510"/>
                </a:cubicBezTo>
                <a:cubicBezTo>
                  <a:pt x="82946" y="-9510"/>
                  <a:pt x="80480" y="-7994"/>
                  <a:pt x="79261" y="-5617"/>
                </a:cubicBezTo>
                <a:lnTo>
                  <a:pt x="57388" y="37238"/>
                </a:lnTo>
                <a:lnTo>
                  <a:pt x="9867" y="44787"/>
                </a:lnTo>
                <a:cubicBezTo>
                  <a:pt x="7222" y="45203"/>
                  <a:pt x="5023" y="47075"/>
                  <a:pt x="4190" y="49631"/>
                </a:cubicBezTo>
                <a:cubicBezTo>
                  <a:pt x="3358" y="52187"/>
                  <a:pt x="4042" y="54980"/>
                  <a:pt x="5914" y="56883"/>
                </a:cubicBezTo>
                <a:lnTo>
                  <a:pt x="39913" y="90911"/>
                </a:lnTo>
                <a:lnTo>
                  <a:pt x="32424" y="138432"/>
                </a:lnTo>
                <a:cubicBezTo>
                  <a:pt x="32008" y="141077"/>
                  <a:pt x="33107" y="143752"/>
                  <a:pt x="35277" y="145327"/>
                </a:cubicBezTo>
                <a:cubicBezTo>
                  <a:pt x="37446" y="146902"/>
                  <a:pt x="40299" y="147140"/>
                  <a:pt x="42706" y="145921"/>
                </a:cubicBezTo>
                <a:lnTo>
                  <a:pt x="85621" y="124107"/>
                </a:lnTo>
                <a:lnTo>
                  <a:pt x="128506" y="145921"/>
                </a:lnTo>
                <a:cubicBezTo>
                  <a:pt x="130883" y="147140"/>
                  <a:pt x="133766" y="146902"/>
                  <a:pt x="135936" y="145327"/>
                </a:cubicBezTo>
                <a:cubicBezTo>
                  <a:pt x="138105" y="143752"/>
                  <a:pt x="139205" y="141107"/>
                  <a:pt x="138789" y="138432"/>
                </a:cubicBezTo>
                <a:lnTo>
                  <a:pt x="131270" y="90911"/>
                </a:lnTo>
                <a:lnTo>
                  <a:pt x="165268" y="56883"/>
                </a:lnTo>
                <a:cubicBezTo>
                  <a:pt x="167170" y="54980"/>
                  <a:pt x="167824" y="52187"/>
                  <a:pt x="166992" y="49631"/>
                </a:cubicBezTo>
                <a:cubicBezTo>
                  <a:pt x="166160" y="47075"/>
                  <a:pt x="163990" y="45203"/>
                  <a:pt x="161316" y="44787"/>
                </a:cubicBezTo>
                <a:lnTo>
                  <a:pt x="113824" y="37238"/>
                </a:lnTo>
                <a:lnTo>
                  <a:pt x="91981" y="-5617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30" name="Shape 28"/>
          <p:cNvSpPr/>
          <p:nvPr/>
        </p:nvSpPr>
        <p:spPr>
          <a:xfrm>
            <a:off x="3907913" y="3673649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85621" y="-9510"/>
                </a:moveTo>
                <a:cubicBezTo>
                  <a:pt x="88296" y="-9510"/>
                  <a:pt x="90762" y="-7994"/>
                  <a:pt x="91981" y="-5617"/>
                </a:cubicBezTo>
                <a:lnTo>
                  <a:pt x="113824" y="37238"/>
                </a:lnTo>
                <a:lnTo>
                  <a:pt x="161345" y="44787"/>
                </a:lnTo>
                <a:cubicBezTo>
                  <a:pt x="163990" y="45203"/>
                  <a:pt x="166190" y="47075"/>
                  <a:pt x="167022" y="49631"/>
                </a:cubicBezTo>
                <a:cubicBezTo>
                  <a:pt x="167854" y="52187"/>
                  <a:pt x="167170" y="54980"/>
                  <a:pt x="165298" y="56883"/>
                </a:cubicBezTo>
                <a:lnTo>
                  <a:pt x="131270" y="90911"/>
                </a:lnTo>
                <a:lnTo>
                  <a:pt x="138789" y="138432"/>
                </a:lnTo>
                <a:cubicBezTo>
                  <a:pt x="139205" y="141077"/>
                  <a:pt x="138105" y="143752"/>
                  <a:pt x="135936" y="145327"/>
                </a:cubicBezTo>
                <a:cubicBezTo>
                  <a:pt x="133766" y="146902"/>
                  <a:pt x="130883" y="147140"/>
                  <a:pt x="128506" y="145921"/>
                </a:cubicBezTo>
                <a:lnTo>
                  <a:pt x="85621" y="124107"/>
                </a:lnTo>
                <a:lnTo>
                  <a:pt x="42736" y="145921"/>
                </a:lnTo>
                <a:cubicBezTo>
                  <a:pt x="40359" y="147140"/>
                  <a:pt x="37476" y="146902"/>
                  <a:pt x="35306" y="145327"/>
                </a:cubicBezTo>
                <a:cubicBezTo>
                  <a:pt x="33137" y="143752"/>
                  <a:pt x="32037" y="141107"/>
                  <a:pt x="32453" y="138432"/>
                </a:cubicBezTo>
                <a:lnTo>
                  <a:pt x="39943" y="90911"/>
                </a:lnTo>
                <a:lnTo>
                  <a:pt x="5944" y="56883"/>
                </a:lnTo>
                <a:cubicBezTo>
                  <a:pt x="4042" y="54980"/>
                  <a:pt x="3388" y="52187"/>
                  <a:pt x="4220" y="49631"/>
                </a:cubicBezTo>
                <a:cubicBezTo>
                  <a:pt x="5052" y="47075"/>
                  <a:pt x="7222" y="45203"/>
                  <a:pt x="9896" y="44787"/>
                </a:cubicBezTo>
                <a:lnTo>
                  <a:pt x="57417" y="37238"/>
                </a:lnTo>
                <a:lnTo>
                  <a:pt x="79291" y="-5617"/>
                </a:lnTo>
                <a:cubicBezTo>
                  <a:pt x="80509" y="-7994"/>
                  <a:pt x="82976" y="-9510"/>
                  <a:pt x="85651" y="-9510"/>
                </a:cubicBezTo>
                <a:close/>
                <a:moveTo>
                  <a:pt x="85621" y="13314"/>
                </a:moveTo>
                <a:lnTo>
                  <a:pt x="68443" y="46956"/>
                </a:lnTo>
                <a:cubicBezTo>
                  <a:pt x="67403" y="48977"/>
                  <a:pt x="65471" y="50404"/>
                  <a:pt x="63213" y="50760"/>
                </a:cubicBezTo>
                <a:lnTo>
                  <a:pt x="25915" y="56704"/>
                </a:lnTo>
                <a:lnTo>
                  <a:pt x="52603" y="83422"/>
                </a:lnTo>
                <a:cubicBezTo>
                  <a:pt x="54208" y="85027"/>
                  <a:pt x="54951" y="87315"/>
                  <a:pt x="54594" y="89574"/>
                </a:cubicBezTo>
                <a:lnTo>
                  <a:pt x="48710" y="126871"/>
                </a:lnTo>
                <a:lnTo>
                  <a:pt x="82382" y="109753"/>
                </a:lnTo>
                <a:cubicBezTo>
                  <a:pt x="84402" y="108713"/>
                  <a:pt x="86810" y="108713"/>
                  <a:pt x="88860" y="109753"/>
                </a:cubicBezTo>
                <a:lnTo>
                  <a:pt x="122532" y="126871"/>
                </a:lnTo>
                <a:lnTo>
                  <a:pt x="116648" y="89574"/>
                </a:lnTo>
                <a:cubicBezTo>
                  <a:pt x="116291" y="87315"/>
                  <a:pt x="117034" y="85027"/>
                  <a:pt x="118639" y="83422"/>
                </a:cubicBezTo>
                <a:lnTo>
                  <a:pt x="145327" y="56704"/>
                </a:lnTo>
                <a:lnTo>
                  <a:pt x="108029" y="50760"/>
                </a:lnTo>
                <a:cubicBezTo>
                  <a:pt x="105771" y="50404"/>
                  <a:pt x="103839" y="48977"/>
                  <a:pt x="102799" y="46956"/>
                </a:cubicBezTo>
                <a:lnTo>
                  <a:pt x="85621" y="13314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31" name="Text 29"/>
          <p:cNvSpPr/>
          <p:nvPr/>
        </p:nvSpPr>
        <p:spPr>
          <a:xfrm>
            <a:off x="527922" y="3901860"/>
            <a:ext cx="3623363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1E2A3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Perfect fit and durability earn loyalty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97094" y="4244026"/>
            <a:ext cx="33545" cy="608649"/>
          </a:xfrm>
          <a:custGeom>
            <a:avLst/>
            <a:gdLst/>
            <a:ahLst/>
            <a:cxnLst/>
            <a:rect l="l" t="t" r="r" b="b"/>
            <a:pathLst>
              <a:path w="33545" h="608649">
                <a:moveTo>
                  <a:pt x="0" y="0"/>
                </a:moveTo>
                <a:lnTo>
                  <a:pt x="33545" y="0"/>
                </a:lnTo>
                <a:lnTo>
                  <a:pt x="33545" y="608649"/>
                </a:lnTo>
                <a:lnTo>
                  <a:pt x="0" y="608649"/>
                </a:lnTo>
                <a:lnTo>
                  <a:pt x="0" y="0"/>
                </a:lnTo>
                <a:close/>
              </a:path>
            </a:pathLst>
          </a:custGeom>
          <a:solidFill>
            <a:srgbClr val="8A9BA8"/>
          </a:solidFill>
          <a:ln/>
        </p:spPr>
      </p:sp>
      <p:sp>
        <p:nvSpPr>
          <p:cNvPr id="33" name="Text 31"/>
          <p:cNvSpPr/>
          <p:nvPr/>
        </p:nvSpPr>
        <p:spPr>
          <a:xfrm>
            <a:off x="527922" y="4320028"/>
            <a:ext cx="1378970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2A3D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Leather Ankle Boots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995476" y="4358078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91981" y="-5617"/>
                </a:moveTo>
                <a:cubicBezTo>
                  <a:pt x="90762" y="-7994"/>
                  <a:pt x="88296" y="-9510"/>
                  <a:pt x="85621" y="-9510"/>
                </a:cubicBezTo>
                <a:cubicBezTo>
                  <a:pt x="82946" y="-9510"/>
                  <a:pt x="80480" y="-7994"/>
                  <a:pt x="79261" y="-5617"/>
                </a:cubicBezTo>
                <a:lnTo>
                  <a:pt x="57388" y="37238"/>
                </a:lnTo>
                <a:lnTo>
                  <a:pt x="9867" y="44787"/>
                </a:lnTo>
                <a:cubicBezTo>
                  <a:pt x="7222" y="45203"/>
                  <a:pt x="5023" y="47075"/>
                  <a:pt x="4190" y="49631"/>
                </a:cubicBezTo>
                <a:cubicBezTo>
                  <a:pt x="3358" y="52187"/>
                  <a:pt x="4042" y="54980"/>
                  <a:pt x="5914" y="56883"/>
                </a:cubicBezTo>
                <a:lnTo>
                  <a:pt x="39913" y="90911"/>
                </a:lnTo>
                <a:lnTo>
                  <a:pt x="32424" y="138432"/>
                </a:lnTo>
                <a:cubicBezTo>
                  <a:pt x="32008" y="141077"/>
                  <a:pt x="33107" y="143752"/>
                  <a:pt x="35277" y="145327"/>
                </a:cubicBezTo>
                <a:cubicBezTo>
                  <a:pt x="37446" y="146902"/>
                  <a:pt x="40299" y="147140"/>
                  <a:pt x="42706" y="145921"/>
                </a:cubicBezTo>
                <a:lnTo>
                  <a:pt x="85621" y="124107"/>
                </a:lnTo>
                <a:lnTo>
                  <a:pt x="128506" y="145921"/>
                </a:lnTo>
                <a:cubicBezTo>
                  <a:pt x="130883" y="147140"/>
                  <a:pt x="133766" y="146902"/>
                  <a:pt x="135936" y="145327"/>
                </a:cubicBezTo>
                <a:cubicBezTo>
                  <a:pt x="138105" y="143752"/>
                  <a:pt x="139205" y="141107"/>
                  <a:pt x="138789" y="138432"/>
                </a:cubicBezTo>
                <a:lnTo>
                  <a:pt x="131270" y="90911"/>
                </a:lnTo>
                <a:lnTo>
                  <a:pt x="165268" y="56883"/>
                </a:lnTo>
                <a:cubicBezTo>
                  <a:pt x="167170" y="54980"/>
                  <a:pt x="167824" y="52187"/>
                  <a:pt x="166992" y="49631"/>
                </a:cubicBezTo>
                <a:cubicBezTo>
                  <a:pt x="166160" y="47075"/>
                  <a:pt x="163990" y="45203"/>
                  <a:pt x="161316" y="44787"/>
                </a:cubicBezTo>
                <a:lnTo>
                  <a:pt x="113824" y="37238"/>
                </a:lnTo>
                <a:lnTo>
                  <a:pt x="91981" y="-5617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35" name="Shape 33"/>
          <p:cNvSpPr/>
          <p:nvPr/>
        </p:nvSpPr>
        <p:spPr>
          <a:xfrm>
            <a:off x="3223585" y="4358078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91981" y="-5617"/>
                </a:moveTo>
                <a:cubicBezTo>
                  <a:pt x="90762" y="-7994"/>
                  <a:pt x="88296" y="-9510"/>
                  <a:pt x="85621" y="-9510"/>
                </a:cubicBezTo>
                <a:cubicBezTo>
                  <a:pt x="82946" y="-9510"/>
                  <a:pt x="80480" y="-7994"/>
                  <a:pt x="79261" y="-5617"/>
                </a:cubicBezTo>
                <a:lnTo>
                  <a:pt x="57388" y="37238"/>
                </a:lnTo>
                <a:lnTo>
                  <a:pt x="9867" y="44787"/>
                </a:lnTo>
                <a:cubicBezTo>
                  <a:pt x="7222" y="45203"/>
                  <a:pt x="5023" y="47075"/>
                  <a:pt x="4190" y="49631"/>
                </a:cubicBezTo>
                <a:cubicBezTo>
                  <a:pt x="3358" y="52187"/>
                  <a:pt x="4042" y="54980"/>
                  <a:pt x="5914" y="56883"/>
                </a:cubicBezTo>
                <a:lnTo>
                  <a:pt x="39913" y="90911"/>
                </a:lnTo>
                <a:lnTo>
                  <a:pt x="32424" y="138432"/>
                </a:lnTo>
                <a:cubicBezTo>
                  <a:pt x="32008" y="141077"/>
                  <a:pt x="33107" y="143752"/>
                  <a:pt x="35277" y="145327"/>
                </a:cubicBezTo>
                <a:cubicBezTo>
                  <a:pt x="37446" y="146902"/>
                  <a:pt x="40299" y="147140"/>
                  <a:pt x="42706" y="145921"/>
                </a:cubicBezTo>
                <a:lnTo>
                  <a:pt x="85621" y="124107"/>
                </a:lnTo>
                <a:lnTo>
                  <a:pt x="128506" y="145921"/>
                </a:lnTo>
                <a:cubicBezTo>
                  <a:pt x="130883" y="147140"/>
                  <a:pt x="133766" y="146902"/>
                  <a:pt x="135936" y="145327"/>
                </a:cubicBezTo>
                <a:cubicBezTo>
                  <a:pt x="138105" y="143752"/>
                  <a:pt x="139205" y="141107"/>
                  <a:pt x="138789" y="138432"/>
                </a:cubicBezTo>
                <a:lnTo>
                  <a:pt x="131270" y="90911"/>
                </a:lnTo>
                <a:lnTo>
                  <a:pt x="165268" y="56883"/>
                </a:lnTo>
                <a:cubicBezTo>
                  <a:pt x="167170" y="54980"/>
                  <a:pt x="167824" y="52187"/>
                  <a:pt x="166992" y="49631"/>
                </a:cubicBezTo>
                <a:cubicBezTo>
                  <a:pt x="166160" y="47075"/>
                  <a:pt x="163990" y="45203"/>
                  <a:pt x="161316" y="44787"/>
                </a:cubicBezTo>
                <a:lnTo>
                  <a:pt x="113824" y="37238"/>
                </a:lnTo>
                <a:lnTo>
                  <a:pt x="91981" y="-5617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36" name="Shape 34"/>
          <p:cNvSpPr/>
          <p:nvPr/>
        </p:nvSpPr>
        <p:spPr>
          <a:xfrm>
            <a:off x="3451695" y="4358078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91981" y="-5617"/>
                </a:moveTo>
                <a:cubicBezTo>
                  <a:pt x="90762" y="-7994"/>
                  <a:pt x="88296" y="-9510"/>
                  <a:pt x="85621" y="-9510"/>
                </a:cubicBezTo>
                <a:cubicBezTo>
                  <a:pt x="82946" y="-9510"/>
                  <a:pt x="80480" y="-7994"/>
                  <a:pt x="79261" y="-5617"/>
                </a:cubicBezTo>
                <a:lnTo>
                  <a:pt x="57388" y="37238"/>
                </a:lnTo>
                <a:lnTo>
                  <a:pt x="9867" y="44787"/>
                </a:lnTo>
                <a:cubicBezTo>
                  <a:pt x="7222" y="45203"/>
                  <a:pt x="5023" y="47075"/>
                  <a:pt x="4190" y="49631"/>
                </a:cubicBezTo>
                <a:cubicBezTo>
                  <a:pt x="3358" y="52187"/>
                  <a:pt x="4042" y="54980"/>
                  <a:pt x="5914" y="56883"/>
                </a:cubicBezTo>
                <a:lnTo>
                  <a:pt x="39913" y="90911"/>
                </a:lnTo>
                <a:lnTo>
                  <a:pt x="32424" y="138432"/>
                </a:lnTo>
                <a:cubicBezTo>
                  <a:pt x="32008" y="141077"/>
                  <a:pt x="33107" y="143752"/>
                  <a:pt x="35277" y="145327"/>
                </a:cubicBezTo>
                <a:cubicBezTo>
                  <a:pt x="37446" y="146902"/>
                  <a:pt x="40299" y="147140"/>
                  <a:pt x="42706" y="145921"/>
                </a:cubicBezTo>
                <a:lnTo>
                  <a:pt x="85621" y="124107"/>
                </a:lnTo>
                <a:lnTo>
                  <a:pt x="128506" y="145921"/>
                </a:lnTo>
                <a:cubicBezTo>
                  <a:pt x="130883" y="147140"/>
                  <a:pt x="133766" y="146902"/>
                  <a:pt x="135936" y="145327"/>
                </a:cubicBezTo>
                <a:cubicBezTo>
                  <a:pt x="138105" y="143752"/>
                  <a:pt x="139205" y="141107"/>
                  <a:pt x="138789" y="138432"/>
                </a:cubicBezTo>
                <a:lnTo>
                  <a:pt x="131270" y="90911"/>
                </a:lnTo>
                <a:lnTo>
                  <a:pt x="165268" y="56883"/>
                </a:lnTo>
                <a:cubicBezTo>
                  <a:pt x="167170" y="54980"/>
                  <a:pt x="167824" y="52187"/>
                  <a:pt x="166992" y="49631"/>
                </a:cubicBezTo>
                <a:cubicBezTo>
                  <a:pt x="166160" y="47075"/>
                  <a:pt x="163990" y="45203"/>
                  <a:pt x="161316" y="44787"/>
                </a:cubicBezTo>
                <a:lnTo>
                  <a:pt x="113824" y="37238"/>
                </a:lnTo>
                <a:lnTo>
                  <a:pt x="91981" y="-5617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37" name="Shape 35"/>
          <p:cNvSpPr/>
          <p:nvPr/>
        </p:nvSpPr>
        <p:spPr>
          <a:xfrm>
            <a:off x="3679804" y="4358078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91981" y="-5617"/>
                </a:moveTo>
                <a:cubicBezTo>
                  <a:pt x="90762" y="-7994"/>
                  <a:pt x="88296" y="-9510"/>
                  <a:pt x="85621" y="-9510"/>
                </a:cubicBezTo>
                <a:cubicBezTo>
                  <a:pt x="82946" y="-9510"/>
                  <a:pt x="80480" y="-7994"/>
                  <a:pt x="79261" y="-5617"/>
                </a:cubicBezTo>
                <a:lnTo>
                  <a:pt x="57388" y="37238"/>
                </a:lnTo>
                <a:lnTo>
                  <a:pt x="9867" y="44787"/>
                </a:lnTo>
                <a:cubicBezTo>
                  <a:pt x="7222" y="45203"/>
                  <a:pt x="5023" y="47075"/>
                  <a:pt x="4190" y="49631"/>
                </a:cubicBezTo>
                <a:cubicBezTo>
                  <a:pt x="3358" y="52187"/>
                  <a:pt x="4042" y="54980"/>
                  <a:pt x="5914" y="56883"/>
                </a:cubicBezTo>
                <a:lnTo>
                  <a:pt x="39913" y="90911"/>
                </a:lnTo>
                <a:lnTo>
                  <a:pt x="32424" y="138432"/>
                </a:lnTo>
                <a:cubicBezTo>
                  <a:pt x="32008" y="141077"/>
                  <a:pt x="33107" y="143752"/>
                  <a:pt x="35277" y="145327"/>
                </a:cubicBezTo>
                <a:cubicBezTo>
                  <a:pt x="37446" y="146902"/>
                  <a:pt x="40299" y="147140"/>
                  <a:pt x="42706" y="145921"/>
                </a:cubicBezTo>
                <a:lnTo>
                  <a:pt x="85621" y="124107"/>
                </a:lnTo>
                <a:lnTo>
                  <a:pt x="128506" y="145921"/>
                </a:lnTo>
                <a:cubicBezTo>
                  <a:pt x="130883" y="147140"/>
                  <a:pt x="133766" y="146902"/>
                  <a:pt x="135936" y="145327"/>
                </a:cubicBezTo>
                <a:cubicBezTo>
                  <a:pt x="138105" y="143752"/>
                  <a:pt x="139205" y="141107"/>
                  <a:pt x="138789" y="138432"/>
                </a:cubicBezTo>
                <a:lnTo>
                  <a:pt x="131270" y="90911"/>
                </a:lnTo>
                <a:lnTo>
                  <a:pt x="165268" y="56883"/>
                </a:lnTo>
                <a:cubicBezTo>
                  <a:pt x="167170" y="54980"/>
                  <a:pt x="167824" y="52187"/>
                  <a:pt x="166992" y="49631"/>
                </a:cubicBezTo>
                <a:cubicBezTo>
                  <a:pt x="166160" y="47075"/>
                  <a:pt x="163990" y="45203"/>
                  <a:pt x="161316" y="44787"/>
                </a:cubicBezTo>
                <a:lnTo>
                  <a:pt x="113824" y="37238"/>
                </a:lnTo>
                <a:lnTo>
                  <a:pt x="91981" y="-5617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38" name="Shape 36"/>
          <p:cNvSpPr/>
          <p:nvPr/>
        </p:nvSpPr>
        <p:spPr>
          <a:xfrm>
            <a:off x="3907913" y="4358078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85621" y="-9510"/>
                </a:moveTo>
                <a:cubicBezTo>
                  <a:pt x="88296" y="-9510"/>
                  <a:pt x="90762" y="-7994"/>
                  <a:pt x="91981" y="-5617"/>
                </a:cubicBezTo>
                <a:lnTo>
                  <a:pt x="113824" y="37238"/>
                </a:lnTo>
                <a:lnTo>
                  <a:pt x="161345" y="44787"/>
                </a:lnTo>
                <a:cubicBezTo>
                  <a:pt x="163990" y="45203"/>
                  <a:pt x="166190" y="47075"/>
                  <a:pt x="167022" y="49631"/>
                </a:cubicBezTo>
                <a:cubicBezTo>
                  <a:pt x="167854" y="52187"/>
                  <a:pt x="167170" y="54980"/>
                  <a:pt x="165298" y="56883"/>
                </a:cubicBezTo>
                <a:lnTo>
                  <a:pt x="131270" y="90911"/>
                </a:lnTo>
                <a:lnTo>
                  <a:pt x="138789" y="138432"/>
                </a:lnTo>
                <a:cubicBezTo>
                  <a:pt x="139205" y="141077"/>
                  <a:pt x="138105" y="143752"/>
                  <a:pt x="135936" y="145327"/>
                </a:cubicBezTo>
                <a:cubicBezTo>
                  <a:pt x="133766" y="146902"/>
                  <a:pt x="130883" y="147140"/>
                  <a:pt x="128506" y="145921"/>
                </a:cubicBezTo>
                <a:lnTo>
                  <a:pt x="85621" y="124107"/>
                </a:lnTo>
                <a:lnTo>
                  <a:pt x="42736" y="145921"/>
                </a:lnTo>
                <a:cubicBezTo>
                  <a:pt x="40359" y="147140"/>
                  <a:pt x="37476" y="146902"/>
                  <a:pt x="35306" y="145327"/>
                </a:cubicBezTo>
                <a:cubicBezTo>
                  <a:pt x="33137" y="143752"/>
                  <a:pt x="32037" y="141107"/>
                  <a:pt x="32453" y="138432"/>
                </a:cubicBezTo>
                <a:lnTo>
                  <a:pt x="39943" y="90911"/>
                </a:lnTo>
                <a:lnTo>
                  <a:pt x="5944" y="56883"/>
                </a:lnTo>
                <a:cubicBezTo>
                  <a:pt x="4042" y="54980"/>
                  <a:pt x="3388" y="52187"/>
                  <a:pt x="4220" y="49631"/>
                </a:cubicBezTo>
                <a:cubicBezTo>
                  <a:pt x="5052" y="47075"/>
                  <a:pt x="7222" y="45203"/>
                  <a:pt x="9896" y="44787"/>
                </a:cubicBezTo>
                <a:lnTo>
                  <a:pt x="57417" y="37238"/>
                </a:lnTo>
                <a:lnTo>
                  <a:pt x="79291" y="-5617"/>
                </a:lnTo>
                <a:cubicBezTo>
                  <a:pt x="80509" y="-7994"/>
                  <a:pt x="82976" y="-9510"/>
                  <a:pt x="85651" y="-9510"/>
                </a:cubicBezTo>
                <a:close/>
                <a:moveTo>
                  <a:pt x="85621" y="13314"/>
                </a:moveTo>
                <a:lnTo>
                  <a:pt x="68443" y="46956"/>
                </a:lnTo>
                <a:cubicBezTo>
                  <a:pt x="67403" y="48977"/>
                  <a:pt x="65471" y="50404"/>
                  <a:pt x="63213" y="50760"/>
                </a:cubicBezTo>
                <a:lnTo>
                  <a:pt x="25915" y="56704"/>
                </a:lnTo>
                <a:lnTo>
                  <a:pt x="52603" y="83422"/>
                </a:lnTo>
                <a:cubicBezTo>
                  <a:pt x="54208" y="85027"/>
                  <a:pt x="54951" y="87315"/>
                  <a:pt x="54594" y="89574"/>
                </a:cubicBezTo>
                <a:lnTo>
                  <a:pt x="48710" y="126871"/>
                </a:lnTo>
                <a:lnTo>
                  <a:pt x="82382" y="109753"/>
                </a:lnTo>
                <a:cubicBezTo>
                  <a:pt x="84402" y="108713"/>
                  <a:pt x="86810" y="108713"/>
                  <a:pt x="88860" y="109753"/>
                </a:cubicBezTo>
                <a:lnTo>
                  <a:pt x="122532" y="126871"/>
                </a:lnTo>
                <a:lnTo>
                  <a:pt x="116648" y="89574"/>
                </a:lnTo>
                <a:cubicBezTo>
                  <a:pt x="116291" y="87315"/>
                  <a:pt x="117034" y="85027"/>
                  <a:pt x="118639" y="83422"/>
                </a:cubicBezTo>
                <a:lnTo>
                  <a:pt x="145327" y="56704"/>
                </a:lnTo>
                <a:lnTo>
                  <a:pt x="108029" y="50760"/>
                </a:lnTo>
                <a:cubicBezTo>
                  <a:pt x="105771" y="50404"/>
                  <a:pt x="103839" y="48977"/>
                  <a:pt x="102799" y="46956"/>
                </a:cubicBezTo>
                <a:lnTo>
                  <a:pt x="85621" y="13314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39" name="Text 37"/>
          <p:cNvSpPr/>
          <p:nvPr/>
        </p:nvSpPr>
        <p:spPr>
          <a:xfrm>
            <a:off x="527922" y="4586293"/>
            <a:ext cx="3623363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1E2A3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craftsmanship justifies price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97094" y="4928458"/>
            <a:ext cx="33545" cy="608649"/>
          </a:xfrm>
          <a:custGeom>
            <a:avLst/>
            <a:gdLst/>
            <a:ahLst/>
            <a:cxnLst/>
            <a:rect l="l" t="t" r="r" b="b"/>
            <a:pathLst>
              <a:path w="33545" h="608649">
                <a:moveTo>
                  <a:pt x="0" y="0"/>
                </a:moveTo>
                <a:lnTo>
                  <a:pt x="33545" y="0"/>
                </a:lnTo>
                <a:lnTo>
                  <a:pt x="33545" y="608649"/>
                </a:lnTo>
                <a:lnTo>
                  <a:pt x="0" y="608649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41" name="Text 39"/>
          <p:cNvSpPr/>
          <p:nvPr/>
        </p:nvSpPr>
        <p:spPr>
          <a:xfrm>
            <a:off x="527922" y="5004461"/>
            <a:ext cx="1112686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2A3D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Cashmere Scarf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995476" y="5042510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91981" y="-5617"/>
                </a:moveTo>
                <a:cubicBezTo>
                  <a:pt x="90762" y="-7994"/>
                  <a:pt x="88296" y="-9510"/>
                  <a:pt x="85621" y="-9510"/>
                </a:cubicBezTo>
                <a:cubicBezTo>
                  <a:pt x="82946" y="-9510"/>
                  <a:pt x="80480" y="-7994"/>
                  <a:pt x="79261" y="-5617"/>
                </a:cubicBezTo>
                <a:lnTo>
                  <a:pt x="57388" y="37238"/>
                </a:lnTo>
                <a:lnTo>
                  <a:pt x="9867" y="44787"/>
                </a:lnTo>
                <a:cubicBezTo>
                  <a:pt x="7222" y="45203"/>
                  <a:pt x="5023" y="47075"/>
                  <a:pt x="4190" y="49631"/>
                </a:cubicBezTo>
                <a:cubicBezTo>
                  <a:pt x="3358" y="52187"/>
                  <a:pt x="4042" y="54980"/>
                  <a:pt x="5914" y="56883"/>
                </a:cubicBezTo>
                <a:lnTo>
                  <a:pt x="39913" y="90911"/>
                </a:lnTo>
                <a:lnTo>
                  <a:pt x="32424" y="138432"/>
                </a:lnTo>
                <a:cubicBezTo>
                  <a:pt x="32008" y="141077"/>
                  <a:pt x="33107" y="143752"/>
                  <a:pt x="35277" y="145327"/>
                </a:cubicBezTo>
                <a:cubicBezTo>
                  <a:pt x="37446" y="146902"/>
                  <a:pt x="40299" y="147140"/>
                  <a:pt x="42706" y="145921"/>
                </a:cubicBezTo>
                <a:lnTo>
                  <a:pt x="85621" y="124107"/>
                </a:lnTo>
                <a:lnTo>
                  <a:pt x="128506" y="145921"/>
                </a:lnTo>
                <a:cubicBezTo>
                  <a:pt x="130883" y="147140"/>
                  <a:pt x="133766" y="146902"/>
                  <a:pt x="135936" y="145327"/>
                </a:cubicBezTo>
                <a:cubicBezTo>
                  <a:pt x="138105" y="143752"/>
                  <a:pt x="139205" y="141107"/>
                  <a:pt x="138789" y="138432"/>
                </a:cubicBezTo>
                <a:lnTo>
                  <a:pt x="131270" y="90911"/>
                </a:lnTo>
                <a:lnTo>
                  <a:pt x="165268" y="56883"/>
                </a:lnTo>
                <a:cubicBezTo>
                  <a:pt x="167170" y="54980"/>
                  <a:pt x="167824" y="52187"/>
                  <a:pt x="166992" y="49631"/>
                </a:cubicBezTo>
                <a:cubicBezTo>
                  <a:pt x="166160" y="47075"/>
                  <a:pt x="163990" y="45203"/>
                  <a:pt x="161316" y="44787"/>
                </a:cubicBezTo>
                <a:lnTo>
                  <a:pt x="113824" y="37238"/>
                </a:lnTo>
                <a:lnTo>
                  <a:pt x="91981" y="-5617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43" name="Shape 41"/>
          <p:cNvSpPr/>
          <p:nvPr/>
        </p:nvSpPr>
        <p:spPr>
          <a:xfrm>
            <a:off x="3223585" y="5042510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91981" y="-5617"/>
                </a:moveTo>
                <a:cubicBezTo>
                  <a:pt x="90762" y="-7994"/>
                  <a:pt x="88296" y="-9510"/>
                  <a:pt x="85621" y="-9510"/>
                </a:cubicBezTo>
                <a:cubicBezTo>
                  <a:pt x="82946" y="-9510"/>
                  <a:pt x="80480" y="-7994"/>
                  <a:pt x="79261" y="-5617"/>
                </a:cubicBezTo>
                <a:lnTo>
                  <a:pt x="57388" y="37238"/>
                </a:lnTo>
                <a:lnTo>
                  <a:pt x="9867" y="44787"/>
                </a:lnTo>
                <a:cubicBezTo>
                  <a:pt x="7222" y="45203"/>
                  <a:pt x="5023" y="47075"/>
                  <a:pt x="4190" y="49631"/>
                </a:cubicBezTo>
                <a:cubicBezTo>
                  <a:pt x="3358" y="52187"/>
                  <a:pt x="4042" y="54980"/>
                  <a:pt x="5914" y="56883"/>
                </a:cubicBezTo>
                <a:lnTo>
                  <a:pt x="39913" y="90911"/>
                </a:lnTo>
                <a:lnTo>
                  <a:pt x="32424" y="138432"/>
                </a:lnTo>
                <a:cubicBezTo>
                  <a:pt x="32008" y="141077"/>
                  <a:pt x="33107" y="143752"/>
                  <a:pt x="35277" y="145327"/>
                </a:cubicBezTo>
                <a:cubicBezTo>
                  <a:pt x="37446" y="146902"/>
                  <a:pt x="40299" y="147140"/>
                  <a:pt x="42706" y="145921"/>
                </a:cubicBezTo>
                <a:lnTo>
                  <a:pt x="85621" y="124107"/>
                </a:lnTo>
                <a:lnTo>
                  <a:pt x="128506" y="145921"/>
                </a:lnTo>
                <a:cubicBezTo>
                  <a:pt x="130883" y="147140"/>
                  <a:pt x="133766" y="146902"/>
                  <a:pt x="135936" y="145327"/>
                </a:cubicBezTo>
                <a:cubicBezTo>
                  <a:pt x="138105" y="143752"/>
                  <a:pt x="139205" y="141107"/>
                  <a:pt x="138789" y="138432"/>
                </a:cubicBezTo>
                <a:lnTo>
                  <a:pt x="131270" y="90911"/>
                </a:lnTo>
                <a:lnTo>
                  <a:pt x="165268" y="56883"/>
                </a:lnTo>
                <a:cubicBezTo>
                  <a:pt x="167170" y="54980"/>
                  <a:pt x="167824" y="52187"/>
                  <a:pt x="166992" y="49631"/>
                </a:cubicBezTo>
                <a:cubicBezTo>
                  <a:pt x="166160" y="47075"/>
                  <a:pt x="163990" y="45203"/>
                  <a:pt x="161316" y="44787"/>
                </a:cubicBezTo>
                <a:lnTo>
                  <a:pt x="113824" y="37238"/>
                </a:lnTo>
                <a:lnTo>
                  <a:pt x="91981" y="-5617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44" name="Shape 42"/>
          <p:cNvSpPr/>
          <p:nvPr/>
        </p:nvSpPr>
        <p:spPr>
          <a:xfrm>
            <a:off x="3451695" y="5042510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91981" y="-5617"/>
                </a:moveTo>
                <a:cubicBezTo>
                  <a:pt x="90762" y="-7994"/>
                  <a:pt x="88296" y="-9510"/>
                  <a:pt x="85621" y="-9510"/>
                </a:cubicBezTo>
                <a:cubicBezTo>
                  <a:pt x="82946" y="-9510"/>
                  <a:pt x="80480" y="-7994"/>
                  <a:pt x="79261" y="-5617"/>
                </a:cubicBezTo>
                <a:lnTo>
                  <a:pt x="57388" y="37238"/>
                </a:lnTo>
                <a:lnTo>
                  <a:pt x="9867" y="44787"/>
                </a:lnTo>
                <a:cubicBezTo>
                  <a:pt x="7222" y="45203"/>
                  <a:pt x="5023" y="47075"/>
                  <a:pt x="4190" y="49631"/>
                </a:cubicBezTo>
                <a:cubicBezTo>
                  <a:pt x="3358" y="52187"/>
                  <a:pt x="4042" y="54980"/>
                  <a:pt x="5914" y="56883"/>
                </a:cubicBezTo>
                <a:lnTo>
                  <a:pt x="39913" y="90911"/>
                </a:lnTo>
                <a:lnTo>
                  <a:pt x="32424" y="138432"/>
                </a:lnTo>
                <a:cubicBezTo>
                  <a:pt x="32008" y="141077"/>
                  <a:pt x="33107" y="143752"/>
                  <a:pt x="35277" y="145327"/>
                </a:cubicBezTo>
                <a:cubicBezTo>
                  <a:pt x="37446" y="146902"/>
                  <a:pt x="40299" y="147140"/>
                  <a:pt x="42706" y="145921"/>
                </a:cubicBezTo>
                <a:lnTo>
                  <a:pt x="85621" y="124107"/>
                </a:lnTo>
                <a:lnTo>
                  <a:pt x="128506" y="145921"/>
                </a:lnTo>
                <a:cubicBezTo>
                  <a:pt x="130883" y="147140"/>
                  <a:pt x="133766" y="146902"/>
                  <a:pt x="135936" y="145327"/>
                </a:cubicBezTo>
                <a:cubicBezTo>
                  <a:pt x="138105" y="143752"/>
                  <a:pt x="139205" y="141107"/>
                  <a:pt x="138789" y="138432"/>
                </a:cubicBezTo>
                <a:lnTo>
                  <a:pt x="131270" y="90911"/>
                </a:lnTo>
                <a:lnTo>
                  <a:pt x="165268" y="56883"/>
                </a:lnTo>
                <a:cubicBezTo>
                  <a:pt x="167170" y="54980"/>
                  <a:pt x="167824" y="52187"/>
                  <a:pt x="166992" y="49631"/>
                </a:cubicBezTo>
                <a:cubicBezTo>
                  <a:pt x="166160" y="47075"/>
                  <a:pt x="163990" y="45203"/>
                  <a:pt x="161316" y="44787"/>
                </a:cubicBezTo>
                <a:lnTo>
                  <a:pt x="113824" y="37238"/>
                </a:lnTo>
                <a:lnTo>
                  <a:pt x="91981" y="-5617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45" name="Shape 43"/>
          <p:cNvSpPr/>
          <p:nvPr/>
        </p:nvSpPr>
        <p:spPr>
          <a:xfrm>
            <a:off x="3679804" y="5042510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91981" y="-5617"/>
                </a:moveTo>
                <a:cubicBezTo>
                  <a:pt x="90762" y="-7994"/>
                  <a:pt x="88296" y="-9510"/>
                  <a:pt x="85621" y="-9510"/>
                </a:cubicBezTo>
                <a:cubicBezTo>
                  <a:pt x="82946" y="-9510"/>
                  <a:pt x="80480" y="-7994"/>
                  <a:pt x="79261" y="-5617"/>
                </a:cubicBezTo>
                <a:lnTo>
                  <a:pt x="57388" y="37238"/>
                </a:lnTo>
                <a:lnTo>
                  <a:pt x="9867" y="44787"/>
                </a:lnTo>
                <a:cubicBezTo>
                  <a:pt x="7222" y="45203"/>
                  <a:pt x="5023" y="47075"/>
                  <a:pt x="4190" y="49631"/>
                </a:cubicBezTo>
                <a:cubicBezTo>
                  <a:pt x="3358" y="52187"/>
                  <a:pt x="4042" y="54980"/>
                  <a:pt x="5914" y="56883"/>
                </a:cubicBezTo>
                <a:lnTo>
                  <a:pt x="39913" y="90911"/>
                </a:lnTo>
                <a:lnTo>
                  <a:pt x="32424" y="138432"/>
                </a:lnTo>
                <a:cubicBezTo>
                  <a:pt x="32008" y="141077"/>
                  <a:pt x="33107" y="143752"/>
                  <a:pt x="35277" y="145327"/>
                </a:cubicBezTo>
                <a:cubicBezTo>
                  <a:pt x="37446" y="146902"/>
                  <a:pt x="40299" y="147140"/>
                  <a:pt x="42706" y="145921"/>
                </a:cubicBezTo>
                <a:lnTo>
                  <a:pt x="85621" y="124107"/>
                </a:lnTo>
                <a:lnTo>
                  <a:pt x="128506" y="145921"/>
                </a:lnTo>
                <a:cubicBezTo>
                  <a:pt x="130883" y="147140"/>
                  <a:pt x="133766" y="146902"/>
                  <a:pt x="135936" y="145327"/>
                </a:cubicBezTo>
                <a:cubicBezTo>
                  <a:pt x="138105" y="143752"/>
                  <a:pt x="139205" y="141107"/>
                  <a:pt x="138789" y="138432"/>
                </a:cubicBezTo>
                <a:lnTo>
                  <a:pt x="131270" y="90911"/>
                </a:lnTo>
                <a:lnTo>
                  <a:pt x="165268" y="56883"/>
                </a:lnTo>
                <a:cubicBezTo>
                  <a:pt x="167170" y="54980"/>
                  <a:pt x="167824" y="52187"/>
                  <a:pt x="166992" y="49631"/>
                </a:cubicBezTo>
                <a:cubicBezTo>
                  <a:pt x="166160" y="47075"/>
                  <a:pt x="163990" y="45203"/>
                  <a:pt x="161316" y="44787"/>
                </a:cubicBezTo>
                <a:lnTo>
                  <a:pt x="113824" y="37238"/>
                </a:lnTo>
                <a:lnTo>
                  <a:pt x="91981" y="-5617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46" name="Shape 44"/>
          <p:cNvSpPr/>
          <p:nvPr/>
        </p:nvSpPr>
        <p:spPr>
          <a:xfrm>
            <a:off x="3907913" y="5042510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85621" y="-9510"/>
                </a:moveTo>
                <a:cubicBezTo>
                  <a:pt x="88296" y="-9510"/>
                  <a:pt x="90762" y="-7994"/>
                  <a:pt x="91981" y="-5617"/>
                </a:cubicBezTo>
                <a:lnTo>
                  <a:pt x="113824" y="37238"/>
                </a:lnTo>
                <a:lnTo>
                  <a:pt x="161345" y="44787"/>
                </a:lnTo>
                <a:cubicBezTo>
                  <a:pt x="163990" y="45203"/>
                  <a:pt x="166190" y="47075"/>
                  <a:pt x="167022" y="49631"/>
                </a:cubicBezTo>
                <a:cubicBezTo>
                  <a:pt x="167854" y="52187"/>
                  <a:pt x="167170" y="54980"/>
                  <a:pt x="165298" y="56883"/>
                </a:cubicBezTo>
                <a:lnTo>
                  <a:pt x="131270" y="90911"/>
                </a:lnTo>
                <a:lnTo>
                  <a:pt x="138789" y="138432"/>
                </a:lnTo>
                <a:cubicBezTo>
                  <a:pt x="139205" y="141077"/>
                  <a:pt x="138105" y="143752"/>
                  <a:pt x="135936" y="145327"/>
                </a:cubicBezTo>
                <a:cubicBezTo>
                  <a:pt x="133766" y="146902"/>
                  <a:pt x="130883" y="147140"/>
                  <a:pt x="128506" y="145921"/>
                </a:cubicBezTo>
                <a:lnTo>
                  <a:pt x="85621" y="124107"/>
                </a:lnTo>
                <a:lnTo>
                  <a:pt x="42736" y="145921"/>
                </a:lnTo>
                <a:cubicBezTo>
                  <a:pt x="40359" y="147140"/>
                  <a:pt x="37476" y="146902"/>
                  <a:pt x="35306" y="145327"/>
                </a:cubicBezTo>
                <a:cubicBezTo>
                  <a:pt x="33137" y="143752"/>
                  <a:pt x="32037" y="141107"/>
                  <a:pt x="32453" y="138432"/>
                </a:cubicBezTo>
                <a:lnTo>
                  <a:pt x="39943" y="90911"/>
                </a:lnTo>
                <a:lnTo>
                  <a:pt x="5944" y="56883"/>
                </a:lnTo>
                <a:cubicBezTo>
                  <a:pt x="4042" y="54980"/>
                  <a:pt x="3388" y="52187"/>
                  <a:pt x="4220" y="49631"/>
                </a:cubicBezTo>
                <a:cubicBezTo>
                  <a:pt x="5052" y="47075"/>
                  <a:pt x="7222" y="45203"/>
                  <a:pt x="9896" y="44787"/>
                </a:cubicBezTo>
                <a:lnTo>
                  <a:pt x="57417" y="37238"/>
                </a:lnTo>
                <a:lnTo>
                  <a:pt x="79291" y="-5617"/>
                </a:lnTo>
                <a:cubicBezTo>
                  <a:pt x="80509" y="-7994"/>
                  <a:pt x="82976" y="-9510"/>
                  <a:pt x="85651" y="-9510"/>
                </a:cubicBezTo>
                <a:close/>
                <a:moveTo>
                  <a:pt x="85621" y="13314"/>
                </a:moveTo>
                <a:lnTo>
                  <a:pt x="68443" y="46956"/>
                </a:lnTo>
                <a:cubicBezTo>
                  <a:pt x="67403" y="48977"/>
                  <a:pt x="65471" y="50404"/>
                  <a:pt x="63213" y="50760"/>
                </a:cubicBezTo>
                <a:lnTo>
                  <a:pt x="25915" y="56704"/>
                </a:lnTo>
                <a:lnTo>
                  <a:pt x="52603" y="83422"/>
                </a:lnTo>
                <a:cubicBezTo>
                  <a:pt x="54208" y="85027"/>
                  <a:pt x="54951" y="87315"/>
                  <a:pt x="54594" y="89574"/>
                </a:cubicBezTo>
                <a:lnTo>
                  <a:pt x="48710" y="126871"/>
                </a:lnTo>
                <a:lnTo>
                  <a:pt x="82382" y="109753"/>
                </a:lnTo>
                <a:cubicBezTo>
                  <a:pt x="84402" y="108713"/>
                  <a:pt x="86810" y="108713"/>
                  <a:pt x="88860" y="109753"/>
                </a:cubicBezTo>
                <a:lnTo>
                  <a:pt x="122532" y="126871"/>
                </a:lnTo>
                <a:lnTo>
                  <a:pt x="116648" y="89574"/>
                </a:lnTo>
                <a:cubicBezTo>
                  <a:pt x="116291" y="87315"/>
                  <a:pt x="117034" y="85027"/>
                  <a:pt x="118639" y="83422"/>
                </a:cubicBezTo>
                <a:lnTo>
                  <a:pt x="145327" y="56704"/>
                </a:lnTo>
                <a:lnTo>
                  <a:pt x="108029" y="50760"/>
                </a:lnTo>
                <a:cubicBezTo>
                  <a:pt x="105771" y="50404"/>
                  <a:pt x="103839" y="48977"/>
                  <a:pt x="102799" y="46956"/>
                </a:cubicBezTo>
                <a:lnTo>
                  <a:pt x="85621" y="13314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47" name="Text 45"/>
          <p:cNvSpPr/>
          <p:nvPr/>
        </p:nvSpPr>
        <p:spPr>
          <a:xfrm>
            <a:off x="527922" y="5270726"/>
            <a:ext cx="3623363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1E2A3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Luxury accessory drives satisfaction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240671" y="1593933"/>
            <a:ext cx="3708955" cy="33545"/>
          </a:xfrm>
          <a:custGeom>
            <a:avLst/>
            <a:gdLst/>
            <a:ahLst/>
            <a:cxnLst/>
            <a:rect l="l" t="t" r="r" b="b"/>
            <a:pathLst>
              <a:path w="3708955" h="33545">
                <a:moveTo>
                  <a:pt x="0" y="0"/>
                </a:moveTo>
                <a:lnTo>
                  <a:pt x="3708955" y="0"/>
                </a:lnTo>
                <a:lnTo>
                  <a:pt x="3708955" y="33545"/>
                </a:lnTo>
                <a:lnTo>
                  <a:pt x="0" y="33545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49" name="Text 47"/>
          <p:cNvSpPr/>
          <p:nvPr/>
        </p:nvSpPr>
        <p:spPr>
          <a:xfrm>
            <a:off x="4240671" y="1762812"/>
            <a:ext cx="3813566" cy="313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47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3 Products per Category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240671" y="2190727"/>
            <a:ext cx="3794546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8" b="1" dirty="0">
                <a:solidFill>
                  <a:srgbClr val="2A3D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Clothing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240671" y="2532999"/>
            <a:ext cx="3785036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Premium Wool Sweater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240671" y="2799264"/>
            <a:ext cx="3785036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Organic Cotton Tee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240671" y="3065530"/>
            <a:ext cx="3785036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Slim Fit Jeans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240671" y="3411259"/>
            <a:ext cx="3708955" cy="6709"/>
          </a:xfrm>
          <a:custGeom>
            <a:avLst/>
            <a:gdLst/>
            <a:ahLst/>
            <a:cxnLst/>
            <a:rect l="l" t="t" r="r" b="b"/>
            <a:pathLst>
              <a:path w="3708955" h="6709">
                <a:moveTo>
                  <a:pt x="0" y="0"/>
                </a:moveTo>
                <a:lnTo>
                  <a:pt x="3708955" y="0"/>
                </a:lnTo>
                <a:lnTo>
                  <a:pt x="3708955" y="6709"/>
                </a:lnTo>
                <a:lnTo>
                  <a:pt x="0" y="6709"/>
                </a:lnTo>
                <a:lnTo>
                  <a:pt x="0" y="0"/>
                </a:lnTo>
                <a:close/>
              </a:path>
            </a:pathLst>
          </a:custGeom>
          <a:solidFill>
            <a:srgbClr val="8A9BA8">
              <a:alpha val="3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4240671" y="3528666"/>
            <a:ext cx="3794546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8" b="1" dirty="0">
                <a:solidFill>
                  <a:srgbClr val="2A3D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Footwear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240671" y="3870938"/>
            <a:ext cx="3785036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Leather Ankle Boots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240671" y="4137204"/>
            <a:ext cx="3785036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Running Sneakers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240671" y="4403469"/>
            <a:ext cx="3785036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Casual Loafers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240671" y="4749198"/>
            <a:ext cx="3708955" cy="6709"/>
          </a:xfrm>
          <a:custGeom>
            <a:avLst/>
            <a:gdLst/>
            <a:ahLst/>
            <a:cxnLst/>
            <a:rect l="l" t="t" r="r" b="b"/>
            <a:pathLst>
              <a:path w="3708955" h="6709">
                <a:moveTo>
                  <a:pt x="0" y="0"/>
                </a:moveTo>
                <a:lnTo>
                  <a:pt x="3708955" y="0"/>
                </a:lnTo>
                <a:lnTo>
                  <a:pt x="3708955" y="6709"/>
                </a:lnTo>
                <a:lnTo>
                  <a:pt x="0" y="6709"/>
                </a:lnTo>
                <a:lnTo>
                  <a:pt x="0" y="0"/>
                </a:lnTo>
                <a:close/>
              </a:path>
            </a:pathLst>
          </a:custGeom>
          <a:solidFill>
            <a:srgbClr val="8A9BA8">
              <a:alpha val="3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4240671" y="4866610"/>
            <a:ext cx="3794546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8" b="1" dirty="0">
                <a:solidFill>
                  <a:srgbClr val="2A3D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Accessories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240671" y="5208878"/>
            <a:ext cx="3785036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Cashmere Scarf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240671" y="5475143"/>
            <a:ext cx="3785036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Leather Belt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240671" y="5741413"/>
            <a:ext cx="3785036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Canvas Tote Bag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101126" y="1593933"/>
            <a:ext cx="3708955" cy="33545"/>
          </a:xfrm>
          <a:custGeom>
            <a:avLst/>
            <a:gdLst/>
            <a:ahLst/>
            <a:cxnLst/>
            <a:rect l="l" t="t" r="r" b="b"/>
            <a:pathLst>
              <a:path w="3708955" h="33545">
                <a:moveTo>
                  <a:pt x="0" y="0"/>
                </a:moveTo>
                <a:lnTo>
                  <a:pt x="3708955" y="0"/>
                </a:lnTo>
                <a:lnTo>
                  <a:pt x="3708955" y="33545"/>
                </a:lnTo>
                <a:lnTo>
                  <a:pt x="0" y="33545"/>
                </a:lnTo>
                <a:lnTo>
                  <a:pt x="0" y="0"/>
                </a:lnTo>
                <a:close/>
              </a:path>
            </a:pathLst>
          </a:custGeom>
          <a:solidFill>
            <a:srgbClr val="8A9BA8"/>
          </a:solidFill>
          <a:ln/>
        </p:spPr>
      </p:sp>
      <p:sp>
        <p:nvSpPr>
          <p:cNvPr id="65" name="Text 63"/>
          <p:cNvSpPr/>
          <p:nvPr/>
        </p:nvSpPr>
        <p:spPr>
          <a:xfrm>
            <a:off x="8101126" y="1762812"/>
            <a:ext cx="3813566" cy="313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47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Discount-Dependent Products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117899" y="2190727"/>
            <a:ext cx="33545" cy="836892"/>
          </a:xfrm>
          <a:custGeom>
            <a:avLst/>
            <a:gdLst/>
            <a:ahLst/>
            <a:cxnLst/>
            <a:rect l="l" t="t" r="r" b="b"/>
            <a:pathLst>
              <a:path w="33545" h="836892">
                <a:moveTo>
                  <a:pt x="0" y="0"/>
                </a:moveTo>
                <a:lnTo>
                  <a:pt x="33545" y="0"/>
                </a:lnTo>
                <a:lnTo>
                  <a:pt x="33545" y="836892"/>
                </a:lnTo>
                <a:lnTo>
                  <a:pt x="0" y="836892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67" name="Text 65"/>
          <p:cNvSpPr/>
          <p:nvPr/>
        </p:nvSpPr>
        <p:spPr>
          <a:xfrm>
            <a:off x="8248726" y="2323757"/>
            <a:ext cx="1046115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2A3D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Summer Dress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1360696" y="2266729"/>
            <a:ext cx="589629" cy="342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46" b="1" dirty="0">
                <a:solidFill>
                  <a:srgbClr val="C48A6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78%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48726" y="2647051"/>
            <a:ext cx="3556793" cy="76081"/>
          </a:xfrm>
          <a:custGeom>
            <a:avLst/>
            <a:gdLst/>
            <a:ahLst/>
            <a:cxnLst/>
            <a:rect l="l" t="t" r="r" b="b"/>
            <a:pathLst>
              <a:path w="3556793" h="76081">
                <a:moveTo>
                  <a:pt x="38041" y="0"/>
                </a:moveTo>
                <a:lnTo>
                  <a:pt x="3518752" y="0"/>
                </a:lnTo>
                <a:cubicBezTo>
                  <a:pt x="3539761" y="0"/>
                  <a:pt x="3556793" y="17031"/>
                  <a:pt x="3556793" y="38041"/>
                </a:cubicBezTo>
                <a:lnTo>
                  <a:pt x="3556793" y="38041"/>
                </a:lnTo>
                <a:cubicBezTo>
                  <a:pt x="3556793" y="59050"/>
                  <a:pt x="3539761" y="76081"/>
                  <a:pt x="3518752" y="76081"/>
                </a:cubicBezTo>
                <a:lnTo>
                  <a:pt x="38041" y="76081"/>
                </a:lnTo>
                <a:cubicBezTo>
                  <a:pt x="17045" y="76081"/>
                  <a:pt x="0" y="59036"/>
                  <a:pt x="0" y="38041"/>
                </a:cubicBezTo>
                <a:lnTo>
                  <a:pt x="0" y="38041"/>
                </a:lnTo>
                <a:cubicBezTo>
                  <a:pt x="0" y="17045"/>
                  <a:pt x="17045" y="0"/>
                  <a:pt x="38041" y="0"/>
                </a:cubicBezTo>
                <a:close/>
              </a:path>
            </a:pathLst>
          </a:custGeom>
          <a:solidFill>
            <a:srgbClr val="C48A69">
              <a:alpha val="2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248726" y="2647051"/>
            <a:ext cx="2776961" cy="76081"/>
          </a:xfrm>
          <a:custGeom>
            <a:avLst/>
            <a:gdLst/>
            <a:ahLst/>
            <a:cxnLst/>
            <a:rect l="l" t="t" r="r" b="b"/>
            <a:pathLst>
              <a:path w="2776961" h="76081">
                <a:moveTo>
                  <a:pt x="0" y="0"/>
                </a:moveTo>
                <a:lnTo>
                  <a:pt x="2776961" y="0"/>
                </a:lnTo>
                <a:lnTo>
                  <a:pt x="2776961" y="76081"/>
                </a:lnTo>
                <a:lnTo>
                  <a:pt x="0" y="76081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71" name="Text 69"/>
          <p:cNvSpPr/>
          <p:nvPr/>
        </p:nvSpPr>
        <p:spPr>
          <a:xfrm>
            <a:off x="8248726" y="2761001"/>
            <a:ext cx="3623363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1E2A3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Seasonal item requiring promotion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117899" y="3103166"/>
            <a:ext cx="33545" cy="836892"/>
          </a:xfrm>
          <a:custGeom>
            <a:avLst/>
            <a:gdLst/>
            <a:ahLst/>
            <a:cxnLst/>
            <a:rect l="l" t="t" r="r" b="b"/>
            <a:pathLst>
              <a:path w="33545" h="836892">
                <a:moveTo>
                  <a:pt x="0" y="0"/>
                </a:moveTo>
                <a:lnTo>
                  <a:pt x="33545" y="0"/>
                </a:lnTo>
                <a:lnTo>
                  <a:pt x="33545" y="836892"/>
                </a:lnTo>
                <a:lnTo>
                  <a:pt x="0" y="836892"/>
                </a:lnTo>
                <a:lnTo>
                  <a:pt x="0" y="0"/>
                </a:lnTo>
                <a:close/>
              </a:path>
            </a:pathLst>
          </a:custGeom>
          <a:solidFill>
            <a:srgbClr val="8A9BA8"/>
          </a:solidFill>
          <a:ln/>
        </p:spPr>
      </p:sp>
      <p:sp>
        <p:nvSpPr>
          <p:cNvPr id="73" name="Text 71"/>
          <p:cNvSpPr/>
          <p:nvPr/>
        </p:nvSpPr>
        <p:spPr>
          <a:xfrm>
            <a:off x="8248726" y="3236192"/>
            <a:ext cx="1141217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2A3D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Casual Sneakers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1357237" y="3179168"/>
            <a:ext cx="599139" cy="342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46" b="1" dirty="0">
                <a:solidFill>
                  <a:srgbClr val="8A9BA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65%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248726" y="3559486"/>
            <a:ext cx="3556793" cy="76081"/>
          </a:xfrm>
          <a:custGeom>
            <a:avLst/>
            <a:gdLst/>
            <a:ahLst/>
            <a:cxnLst/>
            <a:rect l="l" t="t" r="r" b="b"/>
            <a:pathLst>
              <a:path w="3556793" h="76081">
                <a:moveTo>
                  <a:pt x="38041" y="0"/>
                </a:moveTo>
                <a:lnTo>
                  <a:pt x="3518752" y="0"/>
                </a:lnTo>
                <a:cubicBezTo>
                  <a:pt x="3539761" y="0"/>
                  <a:pt x="3556793" y="17031"/>
                  <a:pt x="3556793" y="38041"/>
                </a:cubicBezTo>
                <a:lnTo>
                  <a:pt x="3556793" y="38041"/>
                </a:lnTo>
                <a:cubicBezTo>
                  <a:pt x="3556793" y="59050"/>
                  <a:pt x="3539761" y="76081"/>
                  <a:pt x="3518752" y="76081"/>
                </a:cubicBezTo>
                <a:lnTo>
                  <a:pt x="38041" y="76081"/>
                </a:lnTo>
                <a:cubicBezTo>
                  <a:pt x="17045" y="76081"/>
                  <a:pt x="0" y="59036"/>
                  <a:pt x="0" y="38041"/>
                </a:cubicBezTo>
                <a:lnTo>
                  <a:pt x="0" y="38041"/>
                </a:lnTo>
                <a:cubicBezTo>
                  <a:pt x="0" y="17045"/>
                  <a:pt x="17045" y="0"/>
                  <a:pt x="38041" y="0"/>
                </a:cubicBezTo>
                <a:close/>
              </a:path>
            </a:pathLst>
          </a:custGeom>
          <a:solidFill>
            <a:srgbClr val="8A9BA8">
              <a:alpha val="20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8248726" y="3559486"/>
            <a:ext cx="2310964" cy="76081"/>
          </a:xfrm>
          <a:custGeom>
            <a:avLst/>
            <a:gdLst/>
            <a:ahLst/>
            <a:cxnLst/>
            <a:rect l="l" t="t" r="r" b="b"/>
            <a:pathLst>
              <a:path w="2310964" h="76081">
                <a:moveTo>
                  <a:pt x="0" y="0"/>
                </a:moveTo>
                <a:lnTo>
                  <a:pt x="2310964" y="0"/>
                </a:lnTo>
                <a:lnTo>
                  <a:pt x="2310964" y="76081"/>
                </a:lnTo>
                <a:lnTo>
                  <a:pt x="0" y="76081"/>
                </a:lnTo>
                <a:lnTo>
                  <a:pt x="0" y="0"/>
                </a:lnTo>
                <a:close/>
              </a:path>
            </a:pathLst>
          </a:custGeom>
          <a:solidFill>
            <a:srgbClr val="8A9BA8"/>
          </a:solidFill>
          <a:ln/>
        </p:spPr>
      </p:sp>
      <p:sp>
        <p:nvSpPr>
          <p:cNvPr id="77" name="Text 75"/>
          <p:cNvSpPr/>
          <p:nvPr/>
        </p:nvSpPr>
        <p:spPr>
          <a:xfrm>
            <a:off x="8248726" y="3673436"/>
            <a:ext cx="3623363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1E2A3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Competitive category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8117899" y="4015601"/>
            <a:ext cx="33545" cy="836892"/>
          </a:xfrm>
          <a:custGeom>
            <a:avLst/>
            <a:gdLst/>
            <a:ahLst/>
            <a:cxnLst/>
            <a:rect l="l" t="t" r="r" b="b"/>
            <a:pathLst>
              <a:path w="33545" h="836892">
                <a:moveTo>
                  <a:pt x="0" y="0"/>
                </a:moveTo>
                <a:lnTo>
                  <a:pt x="33545" y="0"/>
                </a:lnTo>
                <a:lnTo>
                  <a:pt x="33545" y="836892"/>
                </a:lnTo>
                <a:lnTo>
                  <a:pt x="0" y="836892"/>
                </a:lnTo>
                <a:lnTo>
                  <a:pt x="0" y="0"/>
                </a:ln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79" name="Text 77"/>
          <p:cNvSpPr/>
          <p:nvPr/>
        </p:nvSpPr>
        <p:spPr>
          <a:xfrm>
            <a:off x="8248726" y="4148632"/>
            <a:ext cx="931994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2A3D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 Hoodie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1352939" y="4091603"/>
            <a:ext cx="599139" cy="342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46" b="1" dirty="0">
                <a:solidFill>
                  <a:srgbClr val="2A3D4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58%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248726" y="4471925"/>
            <a:ext cx="3556793" cy="76081"/>
          </a:xfrm>
          <a:custGeom>
            <a:avLst/>
            <a:gdLst/>
            <a:ahLst/>
            <a:cxnLst/>
            <a:rect l="l" t="t" r="r" b="b"/>
            <a:pathLst>
              <a:path w="3556793" h="76081">
                <a:moveTo>
                  <a:pt x="38041" y="0"/>
                </a:moveTo>
                <a:lnTo>
                  <a:pt x="3518752" y="0"/>
                </a:lnTo>
                <a:cubicBezTo>
                  <a:pt x="3539761" y="0"/>
                  <a:pt x="3556793" y="17031"/>
                  <a:pt x="3556793" y="38041"/>
                </a:cubicBezTo>
                <a:lnTo>
                  <a:pt x="3556793" y="38041"/>
                </a:lnTo>
                <a:cubicBezTo>
                  <a:pt x="3556793" y="59050"/>
                  <a:pt x="3539761" y="76081"/>
                  <a:pt x="3518752" y="76081"/>
                </a:cubicBezTo>
                <a:lnTo>
                  <a:pt x="38041" y="76081"/>
                </a:lnTo>
                <a:cubicBezTo>
                  <a:pt x="17045" y="76081"/>
                  <a:pt x="0" y="59036"/>
                  <a:pt x="0" y="38041"/>
                </a:cubicBezTo>
                <a:lnTo>
                  <a:pt x="0" y="38041"/>
                </a:lnTo>
                <a:cubicBezTo>
                  <a:pt x="0" y="17045"/>
                  <a:pt x="17045" y="0"/>
                  <a:pt x="38041" y="0"/>
                </a:cubicBezTo>
                <a:close/>
              </a:path>
            </a:pathLst>
          </a:custGeom>
          <a:solidFill>
            <a:srgbClr val="2A3D4F">
              <a:alpha val="20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8248726" y="4471925"/>
            <a:ext cx="2063700" cy="76081"/>
          </a:xfrm>
          <a:custGeom>
            <a:avLst/>
            <a:gdLst/>
            <a:ahLst/>
            <a:cxnLst/>
            <a:rect l="l" t="t" r="r" b="b"/>
            <a:pathLst>
              <a:path w="2063700" h="76081">
                <a:moveTo>
                  <a:pt x="0" y="0"/>
                </a:moveTo>
                <a:lnTo>
                  <a:pt x="2063700" y="0"/>
                </a:lnTo>
                <a:lnTo>
                  <a:pt x="2063700" y="76081"/>
                </a:lnTo>
                <a:lnTo>
                  <a:pt x="0" y="76081"/>
                </a:lnTo>
                <a:lnTo>
                  <a:pt x="0" y="0"/>
                </a:ln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83" name="Text 81"/>
          <p:cNvSpPr/>
          <p:nvPr/>
        </p:nvSpPr>
        <p:spPr>
          <a:xfrm>
            <a:off x="8248726" y="4585875"/>
            <a:ext cx="3623363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1E2A3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Price-sensitive segment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397094" y="6121837"/>
            <a:ext cx="33545" cy="741791"/>
          </a:xfrm>
          <a:custGeom>
            <a:avLst/>
            <a:gdLst/>
            <a:ahLst/>
            <a:cxnLst/>
            <a:rect l="l" t="t" r="r" b="b"/>
            <a:pathLst>
              <a:path w="33545" h="741791">
                <a:moveTo>
                  <a:pt x="0" y="0"/>
                </a:moveTo>
                <a:lnTo>
                  <a:pt x="33545" y="0"/>
                </a:lnTo>
                <a:lnTo>
                  <a:pt x="33545" y="741791"/>
                </a:lnTo>
                <a:lnTo>
                  <a:pt x="0" y="741791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85" name="Text 83"/>
          <p:cNvSpPr/>
          <p:nvPr/>
        </p:nvSpPr>
        <p:spPr>
          <a:xfrm>
            <a:off x="565975" y="6197839"/>
            <a:ext cx="11331332" cy="589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3" b="1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Strategic Implication:</a:t>
            </a:r>
            <a:pPr>
              <a:lnSpc>
                <a:spcPct val="140000"/>
              </a:lnSpc>
            </a:pPr>
            <a:r>
              <a:rPr lang="en-US" sz="1423" dirty="0">
                <a:solidFill>
                  <a:srgbClr val="2A3D4F"/>
                </a:solidFill>
                <a:highlight>
                  <a:srgbClr val="C48A69">
                    <a:alpha val="2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Top-rated products </a:t>
            </a:r>
            <a:pPr>
              <a:lnSpc>
                <a:spcPct val="140000"/>
              </a:lnSpc>
            </a:pPr>
            <a:r>
              <a:rPr lang="en-US" sz="1423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should be featured in marketing campaigns, while </a:t>
            </a:r>
            <a:pPr>
              <a:lnSpc>
                <a:spcPct val="140000"/>
              </a:lnSpc>
            </a:pPr>
            <a:r>
              <a:rPr lang="en-US" sz="1423" dirty="0">
                <a:solidFill>
                  <a:srgbClr val="2A3D4F"/>
                </a:solidFill>
                <a:highlight>
                  <a:srgbClr val="C48A69">
                    <a:alpha val="2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discount-dependent items </a:t>
            </a:r>
            <a:pPr>
              <a:lnSpc>
                <a:spcPct val="140000"/>
              </a:lnSpc>
            </a:pPr>
            <a:r>
              <a:rPr lang="en-US" sz="1423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need pricing strategy review to improve margin sustainability.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322" y="380322"/>
            <a:ext cx="722771" cy="494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894" b="1" dirty="0">
                <a:solidFill>
                  <a:srgbClr val="C48A6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08670" y="380322"/>
            <a:ext cx="11050783" cy="494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894" b="1" dirty="0">
                <a:solidFill>
                  <a:srgbClr val="2A3D4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Behavior Patterns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08670" y="950805"/>
            <a:ext cx="912973" cy="28530"/>
          </a:xfrm>
          <a:custGeom>
            <a:avLst/>
            <a:gdLst/>
            <a:ahLst/>
            <a:cxnLst/>
            <a:rect l="l" t="t" r="r" b="b"/>
            <a:pathLst>
              <a:path w="912973" h="28530">
                <a:moveTo>
                  <a:pt x="0" y="0"/>
                </a:moveTo>
                <a:lnTo>
                  <a:pt x="912973" y="0"/>
                </a:lnTo>
                <a:lnTo>
                  <a:pt x="912973" y="28530"/>
                </a:lnTo>
                <a:lnTo>
                  <a:pt x="0" y="28530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5" name="Text 3"/>
          <p:cNvSpPr/>
          <p:nvPr/>
        </p:nvSpPr>
        <p:spPr>
          <a:xfrm>
            <a:off x="380322" y="1131423"/>
            <a:ext cx="11521535" cy="294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3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Behavioral analysis uncovers </a:t>
            </a:r>
            <a:pPr>
              <a:lnSpc>
                <a:spcPct val="140000"/>
              </a:lnSpc>
            </a:pPr>
            <a:r>
              <a:rPr lang="en-US" sz="1423" b="1" dirty="0">
                <a:solidFill>
                  <a:srgbClr val="2A3D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discount usage patterns</a:t>
            </a:r>
            <a:pPr>
              <a:lnSpc>
                <a:spcPct val="140000"/>
              </a:lnSpc>
            </a:pPr>
            <a:r>
              <a:rPr lang="en-US" sz="1423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423" b="1" dirty="0">
                <a:solidFill>
                  <a:srgbClr val="2A3D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shipping preferences</a:t>
            </a:r>
            <a:pPr>
              <a:lnSpc>
                <a:spcPct val="140000"/>
              </a:lnSpc>
            </a:pPr>
            <a:r>
              <a:rPr lang="en-US" sz="1423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and </a:t>
            </a:r>
            <a:pPr>
              <a:lnSpc>
                <a:spcPct val="140000"/>
              </a:lnSpc>
            </a:pPr>
            <a:r>
              <a:rPr lang="en-US" sz="1423" b="1" dirty="0">
                <a:solidFill>
                  <a:srgbClr val="2A3D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subscription correlations</a:t>
            </a:r>
            <a:pPr>
              <a:lnSpc>
                <a:spcPct val="140000"/>
              </a:lnSpc>
            </a:pPr>
            <a:r>
              <a:rPr lang="en-US" sz="1423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7031" y="1583869"/>
            <a:ext cx="5586360" cy="2305362"/>
          </a:xfrm>
          <a:custGeom>
            <a:avLst/>
            <a:gdLst/>
            <a:ahLst/>
            <a:cxnLst/>
            <a:rect l="l" t="t" r="r" b="b"/>
            <a:pathLst>
              <a:path w="5586360" h="2305362">
                <a:moveTo>
                  <a:pt x="76077" y="0"/>
                </a:moveTo>
                <a:lnTo>
                  <a:pt x="5510283" y="0"/>
                </a:lnTo>
                <a:cubicBezTo>
                  <a:pt x="5552300" y="0"/>
                  <a:pt x="5586360" y="34061"/>
                  <a:pt x="5586360" y="76077"/>
                </a:cubicBezTo>
                <a:lnTo>
                  <a:pt x="5586360" y="2229285"/>
                </a:lnTo>
                <a:cubicBezTo>
                  <a:pt x="5586360" y="2271301"/>
                  <a:pt x="5552300" y="2305362"/>
                  <a:pt x="5510283" y="2305362"/>
                </a:cubicBezTo>
                <a:lnTo>
                  <a:pt x="76077" y="2305362"/>
                </a:lnTo>
                <a:cubicBezTo>
                  <a:pt x="34061" y="2305362"/>
                  <a:pt x="0" y="2271301"/>
                  <a:pt x="0" y="2229285"/>
                </a:cubicBezTo>
                <a:lnTo>
                  <a:pt x="0" y="76077"/>
                </a:lnTo>
                <a:cubicBezTo>
                  <a:pt x="0" y="34061"/>
                  <a:pt x="34061" y="0"/>
                  <a:pt x="7607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7919">
            <a:solidFill>
              <a:srgbClr val="2A3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848" y="1742687"/>
            <a:ext cx="5382739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7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High-Spending Discount Users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3685" y="2160957"/>
            <a:ext cx="1264849" cy="608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793" b="1" dirty="0">
                <a:solidFill>
                  <a:srgbClr val="C48A6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23%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7807" y="2807544"/>
            <a:ext cx="1036605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98" dirty="0">
                <a:solidFill>
                  <a:srgbClr val="1E2A3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Revenue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2728" y="2351118"/>
            <a:ext cx="4155931" cy="494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8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Customers who </a:t>
            </a:r>
            <a:pPr>
              <a:lnSpc>
                <a:spcPct val="140000"/>
              </a:lnSpc>
            </a:pPr>
            <a:r>
              <a:rPr lang="en-US" sz="1198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discounts</a:t>
            </a:r>
            <a:pPr>
              <a:lnSpc>
                <a:spcPct val="140000"/>
              </a:lnSpc>
            </a:pPr>
            <a:r>
              <a:rPr lang="en-US" sz="1198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but still spent </a:t>
            </a:r>
            <a:pPr>
              <a:lnSpc>
                <a:spcPct val="140000"/>
              </a:lnSpc>
            </a:pPr>
            <a:r>
              <a:rPr lang="en-US" sz="1198" dirty="0">
                <a:solidFill>
                  <a:srgbClr val="2A3D4F"/>
                </a:solidFill>
                <a:highlight>
                  <a:srgbClr val="C48A69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above average </a:t>
            </a:r>
            <a:pPr>
              <a:lnSpc>
                <a:spcPct val="140000"/>
              </a:lnSpc>
            </a:pPr>
            <a:r>
              <a:rPr lang="en-US" sz="1198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represent significant value.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5848" y="3153273"/>
            <a:ext cx="5268618" cy="6709"/>
          </a:xfrm>
          <a:custGeom>
            <a:avLst/>
            <a:gdLst/>
            <a:ahLst/>
            <a:cxnLst/>
            <a:rect l="l" t="t" r="r" b="b"/>
            <a:pathLst>
              <a:path w="5268618" h="6709">
                <a:moveTo>
                  <a:pt x="0" y="0"/>
                </a:moveTo>
                <a:lnTo>
                  <a:pt x="5268618" y="0"/>
                </a:lnTo>
                <a:lnTo>
                  <a:pt x="5268618" y="6709"/>
                </a:lnTo>
                <a:lnTo>
                  <a:pt x="0" y="6709"/>
                </a:lnTo>
                <a:lnTo>
                  <a:pt x="0" y="0"/>
                </a:lnTo>
                <a:close/>
              </a:path>
            </a:pathLst>
          </a:custGeom>
          <a:solidFill>
            <a:srgbClr val="8A9BA8">
              <a:alpha val="3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5848" y="3270680"/>
            <a:ext cx="5344699" cy="456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Insight:</a:t>
            </a:r>
            <a:pPr>
              <a:lnSpc>
                <a:spcPct val="120000"/>
              </a:lnSpc>
            </a:pPr>
            <a:r>
              <a:rPr lang="en-US" sz="1198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These customers leverage discounts strategically without compromising total purchase value.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7031" y="4051662"/>
            <a:ext cx="5586360" cy="2799889"/>
          </a:xfrm>
          <a:custGeom>
            <a:avLst/>
            <a:gdLst/>
            <a:ahLst/>
            <a:cxnLst/>
            <a:rect l="l" t="t" r="r" b="b"/>
            <a:pathLst>
              <a:path w="5586360" h="2799889">
                <a:moveTo>
                  <a:pt x="76073" y="0"/>
                </a:moveTo>
                <a:lnTo>
                  <a:pt x="5510287" y="0"/>
                </a:lnTo>
                <a:cubicBezTo>
                  <a:pt x="5552301" y="0"/>
                  <a:pt x="5586360" y="34059"/>
                  <a:pt x="5586360" y="76073"/>
                </a:cubicBezTo>
                <a:lnTo>
                  <a:pt x="5586360" y="2723816"/>
                </a:lnTo>
                <a:cubicBezTo>
                  <a:pt x="5586360" y="2765830"/>
                  <a:pt x="5552301" y="2799889"/>
                  <a:pt x="5510287" y="2799889"/>
                </a:cubicBezTo>
                <a:lnTo>
                  <a:pt x="76073" y="2799889"/>
                </a:lnTo>
                <a:cubicBezTo>
                  <a:pt x="34059" y="2799889"/>
                  <a:pt x="0" y="2765830"/>
                  <a:pt x="0" y="2723816"/>
                </a:cubicBezTo>
                <a:lnTo>
                  <a:pt x="0" y="76073"/>
                </a:lnTo>
                <a:cubicBezTo>
                  <a:pt x="0" y="34087"/>
                  <a:pt x="34087" y="0"/>
                  <a:pt x="7607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7919">
            <a:solidFill>
              <a:srgbClr val="C48A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5848" y="4210480"/>
            <a:ext cx="5382739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7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Shipping Type Comparison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611126" y="4628750"/>
            <a:ext cx="427956" cy="342365"/>
          </a:xfrm>
          <a:custGeom>
            <a:avLst/>
            <a:gdLst/>
            <a:ahLst/>
            <a:cxnLst/>
            <a:rect l="l" t="t" r="r" b="b"/>
            <a:pathLst>
              <a:path w="427956" h="342365">
                <a:moveTo>
                  <a:pt x="42796" y="64193"/>
                </a:moveTo>
                <a:cubicBezTo>
                  <a:pt x="42796" y="40589"/>
                  <a:pt x="61987" y="21398"/>
                  <a:pt x="85591" y="21398"/>
                </a:cubicBezTo>
                <a:lnTo>
                  <a:pt x="278172" y="21398"/>
                </a:lnTo>
                <a:cubicBezTo>
                  <a:pt x="301776" y="21398"/>
                  <a:pt x="320967" y="40589"/>
                  <a:pt x="320967" y="64193"/>
                </a:cubicBezTo>
                <a:lnTo>
                  <a:pt x="320967" y="85591"/>
                </a:lnTo>
                <a:lnTo>
                  <a:pt x="354869" y="85591"/>
                </a:lnTo>
                <a:cubicBezTo>
                  <a:pt x="366237" y="85591"/>
                  <a:pt x="377137" y="90071"/>
                  <a:pt x="385161" y="98096"/>
                </a:cubicBezTo>
                <a:lnTo>
                  <a:pt x="415452" y="128387"/>
                </a:lnTo>
                <a:cubicBezTo>
                  <a:pt x="423476" y="136411"/>
                  <a:pt x="427956" y="147311"/>
                  <a:pt x="427956" y="158678"/>
                </a:cubicBezTo>
                <a:lnTo>
                  <a:pt x="427956" y="256774"/>
                </a:lnTo>
                <a:cubicBezTo>
                  <a:pt x="427956" y="280378"/>
                  <a:pt x="408765" y="299569"/>
                  <a:pt x="385161" y="299569"/>
                </a:cubicBezTo>
                <a:lnTo>
                  <a:pt x="382954" y="299569"/>
                </a:lnTo>
                <a:cubicBezTo>
                  <a:pt x="376000" y="324244"/>
                  <a:pt x="353265" y="342365"/>
                  <a:pt x="326317" y="342365"/>
                </a:cubicBezTo>
                <a:cubicBezTo>
                  <a:pt x="299369" y="342365"/>
                  <a:pt x="276701" y="324244"/>
                  <a:pt x="269679" y="299569"/>
                </a:cubicBezTo>
                <a:lnTo>
                  <a:pt x="201073" y="299569"/>
                </a:lnTo>
                <a:cubicBezTo>
                  <a:pt x="194118" y="324244"/>
                  <a:pt x="171383" y="342365"/>
                  <a:pt x="144435" y="342365"/>
                </a:cubicBezTo>
                <a:cubicBezTo>
                  <a:pt x="117487" y="342365"/>
                  <a:pt x="94819" y="324244"/>
                  <a:pt x="87798" y="299569"/>
                </a:cubicBezTo>
                <a:lnTo>
                  <a:pt x="85591" y="299569"/>
                </a:lnTo>
                <a:cubicBezTo>
                  <a:pt x="61987" y="299569"/>
                  <a:pt x="42796" y="280378"/>
                  <a:pt x="42796" y="256774"/>
                </a:cubicBezTo>
                <a:lnTo>
                  <a:pt x="42796" y="224677"/>
                </a:lnTo>
                <a:lnTo>
                  <a:pt x="16048" y="224677"/>
                </a:lnTo>
                <a:cubicBezTo>
                  <a:pt x="7155" y="224677"/>
                  <a:pt x="0" y="217522"/>
                  <a:pt x="0" y="208629"/>
                </a:cubicBezTo>
                <a:cubicBezTo>
                  <a:pt x="0" y="199735"/>
                  <a:pt x="7155" y="192580"/>
                  <a:pt x="16048" y="192580"/>
                </a:cubicBezTo>
                <a:lnTo>
                  <a:pt x="90941" y="192580"/>
                </a:lnTo>
                <a:cubicBezTo>
                  <a:pt x="99834" y="192580"/>
                  <a:pt x="106989" y="185425"/>
                  <a:pt x="106989" y="176532"/>
                </a:cubicBezTo>
                <a:cubicBezTo>
                  <a:pt x="106989" y="167639"/>
                  <a:pt x="99834" y="160484"/>
                  <a:pt x="90941" y="160484"/>
                </a:cubicBezTo>
                <a:lnTo>
                  <a:pt x="16048" y="160484"/>
                </a:lnTo>
                <a:cubicBezTo>
                  <a:pt x="7155" y="160484"/>
                  <a:pt x="0" y="153329"/>
                  <a:pt x="0" y="144435"/>
                </a:cubicBezTo>
                <a:cubicBezTo>
                  <a:pt x="0" y="135542"/>
                  <a:pt x="7155" y="128387"/>
                  <a:pt x="16048" y="128387"/>
                </a:cubicBezTo>
                <a:lnTo>
                  <a:pt x="133736" y="128387"/>
                </a:lnTo>
                <a:cubicBezTo>
                  <a:pt x="142630" y="128387"/>
                  <a:pt x="149785" y="121232"/>
                  <a:pt x="149785" y="112339"/>
                </a:cubicBezTo>
                <a:cubicBezTo>
                  <a:pt x="149785" y="103445"/>
                  <a:pt x="142630" y="96290"/>
                  <a:pt x="133736" y="96290"/>
                </a:cubicBezTo>
                <a:lnTo>
                  <a:pt x="16048" y="96290"/>
                </a:lnTo>
                <a:cubicBezTo>
                  <a:pt x="7155" y="96290"/>
                  <a:pt x="0" y="89135"/>
                  <a:pt x="0" y="80242"/>
                </a:cubicBezTo>
                <a:cubicBezTo>
                  <a:pt x="0" y="71348"/>
                  <a:pt x="7155" y="64193"/>
                  <a:pt x="16048" y="64193"/>
                </a:cubicBezTo>
                <a:lnTo>
                  <a:pt x="42796" y="64193"/>
                </a:lnTo>
                <a:close/>
                <a:moveTo>
                  <a:pt x="385161" y="192580"/>
                </a:moveTo>
                <a:lnTo>
                  <a:pt x="385161" y="158678"/>
                </a:lnTo>
                <a:lnTo>
                  <a:pt x="354869" y="128387"/>
                </a:lnTo>
                <a:lnTo>
                  <a:pt x="320967" y="128387"/>
                </a:lnTo>
                <a:lnTo>
                  <a:pt x="320967" y="192580"/>
                </a:lnTo>
                <a:lnTo>
                  <a:pt x="385161" y="192580"/>
                </a:lnTo>
                <a:close/>
                <a:moveTo>
                  <a:pt x="171183" y="283521"/>
                </a:moveTo>
                <a:cubicBezTo>
                  <a:pt x="171183" y="268759"/>
                  <a:pt x="159197" y="256774"/>
                  <a:pt x="144435" y="256774"/>
                </a:cubicBezTo>
                <a:cubicBezTo>
                  <a:pt x="129673" y="256774"/>
                  <a:pt x="117688" y="268759"/>
                  <a:pt x="117688" y="283521"/>
                </a:cubicBezTo>
                <a:cubicBezTo>
                  <a:pt x="117688" y="298283"/>
                  <a:pt x="129673" y="310268"/>
                  <a:pt x="144435" y="310268"/>
                </a:cubicBezTo>
                <a:cubicBezTo>
                  <a:pt x="159197" y="310268"/>
                  <a:pt x="171183" y="298283"/>
                  <a:pt x="171183" y="283521"/>
                </a:cubicBezTo>
                <a:close/>
                <a:moveTo>
                  <a:pt x="326317" y="310268"/>
                </a:moveTo>
                <a:cubicBezTo>
                  <a:pt x="341079" y="310268"/>
                  <a:pt x="353064" y="298283"/>
                  <a:pt x="353064" y="283521"/>
                </a:cubicBezTo>
                <a:cubicBezTo>
                  <a:pt x="353064" y="268759"/>
                  <a:pt x="341079" y="256774"/>
                  <a:pt x="326317" y="256774"/>
                </a:cubicBezTo>
                <a:cubicBezTo>
                  <a:pt x="311554" y="256774"/>
                  <a:pt x="299569" y="268759"/>
                  <a:pt x="299569" y="283521"/>
                </a:cubicBezTo>
                <a:cubicBezTo>
                  <a:pt x="299569" y="298283"/>
                  <a:pt x="311554" y="310268"/>
                  <a:pt x="326317" y="310268"/>
                </a:cubicBez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16" name="Text 14"/>
          <p:cNvSpPr/>
          <p:nvPr/>
        </p:nvSpPr>
        <p:spPr>
          <a:xfrm>
            <a:off x="503052" y="5047126"/>
            <a:ext cx="2643819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8" b="1" dirty="0">
                <a:solidFill>
                  <a:srgbClr val="2A3D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Express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0256" y="5351339"/>
            <a:ext cx="2729410" cy="38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96" b="1" dirty="0">
                <a:solidFill>
                  <a:srgbClr val="2A3D4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$267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7807" y="5769609"/>
            <a:ext cx="2634309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98" dirty="0">
                <a:solidFill>
                  <a:srgbClr val="1E2A3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Avg. Purchase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86108" y="4628750"/>
            <a:ext cx="299569" cy="342365"/>
          </a:xfrm>
          <a:custGeom>
            <a:avLst/>
            <a:gdLst/>
            <a:ahLst/>
            <a:cxnLst/>
            <a:rect l="l" t="t" r="r" b="b"/>
            <a:pathLst>
              <a:path w="299569" h="342365">
                <a:moveTo>
                  <a:pt x="247011" y="85591"/>
                </a:moveTo>
                <a:lnTo>
                  <a:pt x="224075" y="53495"/>
                </a:lnTo>
                <a:lnTo>
                  <a:pt x="75561" y="53495"/>
                </a:lnTo>
                <a:lnTo>
                  <a:pt x="52625" y="85591"/>
                </a:lnTo>
                <a:lnTo>
                  <a:pt x="247011" y="85591"/>
                </a:lnTo>
                <a:close/>
                <a:moveTo>
                  <a:pt x="0" y="99299"/>
                </a:moveTo>
                <a:cubicBezTo>
                  <a:pt x="0" y="90406"/>
                  <a:pt x="2808" y="81713"/>
                  <a:pt x="7957" y="74424"/>
                </a:cubicBezTo>
                <a:lnTo>
                  <a:pt x="40723" y="28620"/>
                </a:lnTo>
                <a:cubicBezTo>
                  <a:pt x="48747" y="17386"/>
                  <a:pt x="61719" y="10699"/>
                  <a:pt x="75494" y="10699"/>
                </a:cubicBezTo>
                <a:lnTo>
                  <a:pt x="224008" y="10699"/>
                </a:lnTo>
                <a:cubicBezTo>
                  <a:pt x="237850" y="10699"/>
                  <a:pt x="250823" y="17386"/>
                  <a:pt x="258847" y="28620"/>
                </a:cubicBezTo>
                <a:lnTo>
                  <a:pt x="291545" y="74424"/>
                </a:lnTo>
                <a:cubicBezTo>
                  <a:pt x="296761" y="81713"/>
                  <a:pt x="299503" y="90406"/>
                  <a:pt x="299503" y="99299"/>
                </a:cubicBezTo>
                <a:lnTo>
                  <a:pt x="299569" y="278172"/>
                </a:lnTo>
                <a:cubicBezTo>
                  <a:pt x="299569" y="301776"/>
                  <a:pt x="280378" y="320967"/>
                  <a:pt x="256774" y="320967"/>
                </a:cubicBezTo>
                <a:lnTo>
                  <a:pt x="42796" y="320967"/>
                </a:lnTo>
                <a:cubicBezTo>
                  <a:pt x="19191" y="320967"/>
                  <a:pt x="0" y="301776"/>
                  <a:pt x="0" y="278172"/>
                </a:cubicBezTo>
                <a:lnTo>
                  <a:pt x="0" y="99299"/>
                </a:lnTo>
                <a:close/>
              </a:path>
            </a:pathLst>
          </a:custGeom>
          <a:solidFill>
            <a:srgbClr val="8A9BA8"/>
          </a:solidFill>
          <a:ln/>
        </p:spPr>
      </p:sp>
      <p:sp>
        <p:nvSpPr>
          <p:cNvPr id="20" name="Text 18"/>
          <p:cNvSpPr/>
          <p:nvPr/>
        </p:nvSpPr>
        <p:spPr>
          <a:xfrm>
            <a:off x="3213736" y="5047126"/>
            <a:ext cx="2643819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8" b="1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170940" y="5351339"/>
            <a:ext cx="2729410" cy="38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96" b="1" dirty="0">
                <a:solidFill>
                  <a:srgbClr val="8A9BA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$198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18491" y="5769609"/>
            <a:ext cx="2634309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98" dirty="0">
                <a:solidFill>
                  <a:srgbClr val="1E2A3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Avg. Purchase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5848" y="6115338"/>
            <a:ext cx="5268618" cy="6709"/>
          </a:xfrm>
          <a:custGeom>
            <a:avLst/>
            <a:gdLst/>
            <a:ahLst/>
            <a:cxnLst/>
            <a:rect l="l" t="t" r="r" b="b"/>
            <a:pathLst>
              <a:path w="5268618" h="6709">
                <a:moveTo>
                  <a:pt x="0" y="0"/>
                </a:moveTo>
                <a:lnTo>
                  <a:pt x="5268618" y="0"/>
                </a:lnTo>
                <a:lnTo>
                  <a:pt x="5268618" y="6709"/>
                </a:lnTo>
                <a:lnTo>
                  <a:pt x="0" y="6709"/>
                </a:lnTo>
                <a:lnTo>
                  <a:pt x="0" y="0"/>
                </a:lnTo>
                <a:close/>
              </a:path>
            </a:pathLst>
          </a:custGeom>
          <a:solidFill>
            <a:srgbClr val="8A9BA8">
              <a:alpha val="3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45848" y="6232745"/>
            <a:ext cx="5344699" cy="456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35% Higher Value:</a:t>
            </a:r>
            <a:pPr>
              <a:lnSpc>
                <a:spcPct val="120000"/>
              </a:lnSpc>
            </a:pPr>
            <a:r>
              <a:rPr lang="en-US" sz="1198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Express shipping users demonstrate premium spending behavior.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5661" y="1583869"/>
            <a:ext cx="5586360" cy="2828420"/>
          </a:xfrm>
          <a:custGeom>
            <a:avLst/>
            <a:gdLst/>
            <a:ahLst/>
            <a:cxnLst/>
            <a:rect l="l" t="t" r="r" b="b"/>
            <a:pathLst>
              <a:path w="5586360" h="2828420">
                <a:moveTo>
                  <a:pt x="76084" y="0"/>
                </a:moveTo>
                <a:lnTo>
                  <a:pt x="5510276" y="0"/>
                </a:lnTo>
                <a:cubicBezTo>
                  <a:pt x="5552296" y="0"/>
                  <a:pt x="5586360" y="34064"/>
                  <a:pt x="5586360" y="76084"/>
                </a:cubicBezTo>
                <a:lnTo>
                  <a:pt x="5586360" y="2752335"/>
                </a:lnTo>
                <a:cubicBezTo>
                  <a:pt x="5586360" y="2794356"/>
                  <a:pt x="5552296" y="2828420"/>
                  <a:pt x="5510276" y="2828420"/>
                </a:cubicBezTo>
                <a:lnTo>
                  <a:pt x="76084" y="2828420"/>
                </a:lnTo>
                <a:cubicBezTo>
                  <a:pt x="34092" y="2828420"/>
                  <a:pt x="0" y="2794327"/>
                  <a:pt x="0" y="2752335"/>
                </a:cubicBezTo>
                <a:lnTo>
                  <a:pt x="0" y="76084"/>
                </a:lnTo>
                <a:cubicBezTo>
                  <a:pt x="0" y="34064"/>
                  <a:pt x="34064" y="0"/>
                  <a:pt x="7608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7919">
            <a:solidFill>
              <a:srgbClr val="8A9B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4478" y="1742687"/>
            <a:ext cx="5382739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7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Purchase Frequency &amp; Subscriptions</a:t>
            </a:r>
            <a:endParaRPr lang="en-US" sz="1600" dirty="0"/>
          </a:p>
        </p:txBody>
      </p:sp>
      <p:pic>
        <p:nvPicPr>
          <p:cNvPr id="27" name="Image 0" descr="https://kimi-img.moonshot.cn/pub/slides/26-01-18-13:20:50-d5m6rcngt7e0qtkqkktg.png">    </p:cNvPr>
          <p:cNvPicPr>
            <a:picLocks noChangeAspect="1"/>
          </p:cNvPicPr>
          <p:nvPr/>
        </p:nvPicPr>
        <p:blipFill>
          <a:blip r:embed="rId1"/>
          <a:srcRect l="80" r="80" t="0" b="0"/>
          <a:stretch/>
        </p:blipFill>
        <p:spPr>
          <a:xfrm>
            <a:off x="6374478" y="2160957"/>
            <a:ext cx="5259108" cy="2092231"/>
          </a:xfrm>
          <a:prstGeom prst="roundRect">
            <a:avLst>
              <a:gd name="adj" fmla="val 0"/>
            </a:avLst>
          </a:prstGeom>
        </p:spPr>
      </p:pic>
      <p:sp>
        <p:nvSpPr>
          <p:cNvPr id="28" name="Shape 25"/>
          <p:cNvSpPr/>
          <p:nvPr/>
        </p:nvSpPr>
        <p:spPr>
          <a:xfrm>
            <a:off x="6215661" y="4577488"/>
            <a:ext cx="5586360" cy="1535041"/>
          </a:xfrm>
          <a:custGeom>
            <a:avLst/>
            <a:gdLst/>
            <a:ahLst/>
            <a:cxnLst/>
            <a:rect l="l" t="t" r="r" b="b"/>
            <a:pathLst>
              <a:path w="5586360" h="1535041">
                <a:moveTo>
                  <a:pt x="76077" y="0"/>
                </a:moveTo>
                <a:lnTo>
                  <a:pt x="5510284" y="0"/>
                </a:lnTo>
                <a:cubicBezTo>
                  <a:pt x="5552300" y="0"/>
                  <a:pt x="5586360" y="34061"/>
                  <a:pt x="5586360" y="76077"/>
                </a:cubicBezTo>
                <a:lnTo>
                  <a:pt x="5586360" y="1458964"/>
                </a:lnTo>
                <a:cubicBezTo>
                  <a:pt x="5586360" y="1500980"/>
                  <a:pt x="5552300" y="1535041"/>
                  <a:pt x="5510284" y="1535041"/>
                </a:cubicBezTo>
                <a:lnTo>
                  <a:pt x="76077" y="1535041"/>
                </a:lnTo>
                <a:cubicBezTo>
                  <a:pt x="34061" y="1535041"/>
                  <a:pt x="0" y="1500980"/>
                  <a:pt x="0" y="1458964"/>
                </a:cubicBezTo>
                <a:lnTo>
                  <a:pt x="0" y="76077"/>
                </a:lnTo>
                <a:cubicBezTo>
                  <a:pt x="0" y="34089"/>
                  <a:pt x="34089" y="0"/>
                  <a:pt x="7607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7919">
            <a:solidFill>
              <a:srgbClr val="2A3D4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74478" y="4736305"/>
            <a:ext cx="5363719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8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Behavioral Insights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374478" y="5192523"/>
            <a:ext cx="76081" cy="76081"/>
          </a:xfrm>
          <a:custGeom>
            <a:avLst/>
            <a:gdLst/>
            <a:ahLst/>
            <a:cxnLst/>
            <a:rect l="l" t="t" r="r" b="b"/>
            <a:pathLst>
              <a:path w="76081" h="76081">
                <a:moveTo>
                  <a:pt x="38041" y="0"/>
                </a:moveTo>
                <a:lnTo>
                  <a:pt x="38041" y="0"/>
                </a:lnTo>
                <a:cubicBezTo>
                  <a:pt x="59036" y="0"/>
                  <a:pt x="76081" y="17045"/>
                  <a:pt x="76081" y="38041"/>
                </a:cubicBezTo>
                <a:lnTo>
                  <a:pt x="76081" y="38041"/>
                </a:lnTo>
                <a:cubicBezTo>
                  <a:pt x="76081" y="59036"/>
                  <a:pt x="59036" y="76081"/>
                  <a:pt x="38041" y="76081"/>
                </a:cubicBezTo>
                <a:lnTo>
                  <a:pt x="38041" y="76081"/>
                </a:lnTo>
                <a:cubicBezTo>
                  <a:pt x="17045" y="76081"/>
                  <a:pt x="0" y="59036"/>
                  <a:pt x="0" y="38041"/>
                </a:cubicBezTo>
                <a:lnTo>
                  <a:pt x="0" y="38041"/>
                </a:lnTo>
                <a:cubicBezTo>
                  <a:pt x="0" y="17045"/>
                  <a:pt x="17045" y="0"/>
                  <a:pt x="38041" y="0"/>
                </a:cubicBez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31" name="Text 28"/>
          <p:cNvSpPr/>
          <p:nvPr/>
        </p:nvSpPr>
        <p:spPr>
          <a:xfrm>
            <a:off x="6564533" y="5116521"/>
            <a:ext cx="3851607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Repeat buyers</a:t>
            </a:r>
            <a:pPr>
              <a:lnSpc>
                <a:spcPct val="120000"/>
              </a:lnSpc>
            </a:pPr>
            <a:r>
              <a:rPr lang="en-US" sz="1198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(&gt;5 purchases) show 72% subscription rate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374478" y="5496843"/>
            <a:ext cx="76081" cy="76081"/>
          </a:xfrm>
          <a:custGeom>
            <a:avLst/>
            <a:gdLst/>
            <a:ahLst/>
            <a:cxnLst/>
            <a:rect l="l" t="t" r="r" b="b"/>
            <a:pathLst>
              <a:path w="76081" h="76081">
                <a:moveTo>
                  <a:pt x="38041" y="0"/>
                </a:moveTo>
                <a:lnTo>
                  <a:pt x="38041" y="0"/>
                </a:lnTo>
                <a:cubicBezTo>
                  <a:pt x="59036" y="0"/>
                  <a:pt x="76081" y="17045"/>
                  <a:pt x="76081" y="38041"/>
                </a:cubicBezTo>
                <a:lnTo>
                  <a:pt x="76081" y="38041"/>
                </a:lnTo>
                <a:cubicBezTo>
                  <a:pt x="76081" y="59036"/>
                  <a:pt x="59036" y="76081"/>
                  <a:pt x="38041" y="76081"/>
                </a:cubicBezTo>
                <a:lnTo>
                  <a:pt x="38041" y="76081"/>
                </a:lnTo>
                <a:cubicBezTo>
                  <a:pt x="17045" y="76081"/>
                  <a:pt x="0" y="59036"/>
                  <a:pt x="0" y="38041"/>
                </a:cubicBezTo>
                <a:lnTo>
                  <a:pt x="0" y="38041"/>
                </a:lnTo>
                <a:cubicBezTo>
                  <a:pt x="0" y="17045"/>
                  <a:pt x="17045" y="0"/>
                  <a:pt x="38041" y="0"/>
                </a:cubicBez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33" name="Text 30"/>
          <p:cNvSpPr/>
          <p:nvPr/>
        </p:nvSpPr>
        <p:spPr>
          <a:xfrm>
            <a:off x="6564533" y="5420840"/>
            <a:ext cx="4070340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Express shipping</a:t>
            </a:r>
            <a:pPr>
              <a:lnSpc>
                <a:spcPct val="120000"/>
              </a:lnSpc>
            </a:pPr>
            <a:r>
              <a:rPr lang="en-US" sz="1198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correlates with 35% higher purchase values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374478" y="5801162"/>
            <a:ext cx="76081" cy="76081"/>
          </a:xfrm>
          <a:custGeom>
            <a:avLst/>
            <a:gdLst/>
            <a:ahLst/>
            <a:cxnLst/>
            <a:rect l="l" t="t" r="r" b="b"/>
            <a:pathLst>
              <a:path w="76081" h="76081">
                <a:moveTo>
                  <a:pt x="38041" y="0"/>
                </a:moveTo>
                <a:lnTo>
                  <a:pt x="38041" y="0"/>
                </a:lnTo>
                <a:cubicBezTo>
                  <a:pt x="59036" y="0"/>
                  <a:pt x="76081" y="17045"/>
                  <a:pt x="76081" y="38041"/>
                </a:cubicBezTo>
                <a:lnTo>
                  <a:pt x="76081" y="38041"/>
                </a:lnTo>
                <a:cubicBezTo>
                  <a:pt x="76081" y="59036"/>
                  <a:pt x="59036" y="76081"/>
                  <a:pt x="38041" y="76081"/>
                </a:cubicBezTo>
                <a:lnTo>
                  <a:pt x="38041" y="76081"/>
                </a:lnTo>
                <a:cubicBezTo>
                  <a:pt x="17045" y="76081"/>
                  <a:pt x="0" y="59036"/>
                  <a:pt x="0" y="38041"/>
                </a:cubicBezTo>
                <a:lnTo>
                  <a:pt x="0" y="38041"/>
                </a:lnTo>
                <a:cubicBezTo>
                  <a:pt x="0" y="17045"/>
                  <a:pt x="17045" y="0"/>
                  <a:pt x="38041" y="0"/>
                </a:cubicBez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35" name="Text 32"/>
          <p:cNvSpPr/>
          <p:nvPr/>
        </p:nvSpPr>
        <p:spPr>
          <a:xfrm>
            <a:off x="6564533" y="5725160"/>
            <a:ext cx="4764580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High-spending discount users</a:t>
            </a:r>
            <a:pPr>
              <a:lnSpc>
                <a:spcPct val="120000"/>
              </a:lnSpc>
            </a:pPr>
            <a:r>
              <a:rPr lang="en-US" sz="1198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demonstrate strategic shopping behavior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30" y="317430"/>
            <a:ext cx="635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50" b="1" dirty="0">
                <a:solidFill>
                  <a:srgbClr val="C48A6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69520" y="317430"/>
            <a:ext cx="11207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50" b="1" dirty="0">
                <a:solidFill>
                  <a:srgbClr val="2A3D4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Interactive Dashboard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69520" y="793576"/>
            <a:ext cx="762000" cy="23813"/>
          </a:xfrm>
          <a:custGeom>
            <a:avLst/>
            <a:gdLst/>
            <a:ahLst/>
            <a:cxnLst/>
            <a:rect l="l" t="t" r="r" b="b"/>
            <a:pathLst>
              <a:path w="762000" h="23813">
                <a:moveTo>
                  <a:pt x="0" y="0"/>
                </a:moveTo>
                <a:lnTo>
                  <a:pt x="762000" y="0"/>
                </a:lnTo>
                <a:lnTo>
                  <a:pt x="7620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5" name="Text 3"/>
          <p:cNvSpPr/>
          <p:nvPr/>
        </p:nvSpPr>
        <p:spPr>
          <a:xfrm>
            <a:off x="317430" y="944326"/>
            <a:ext cx="11632406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8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Power BI dashboard consolidates all analytical insights into an </a:t>
            </a:r>
            <a:pPr>
              <a:lnSpc>
                <a:spcPct val="140000"/>
              </a:lnSpc>
            </a:pPr>
            <a:r>
              <a:rPr lang="en-US" sz="1188" b="1" dirty="0">
                <a:solidFill>
                  <a:srgbClr val="2A3D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interactive visual experience</a:t>
            </a:r>
            <a:pPr>
              <a:lnSpc>
                <a:spcPct val="140000"/>
              </a:lnSpc>
            </a:pPr>
            <a:r>
              <a:rPr lang="en-US" sz="1188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enabling real-time exploration of customer behavior patterns.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3030" y="1321953"/>
            <a:ext cx="6345324" cy="5750012"/>
          </a:xfrm>
          <a:custGeom>
            <a:avLst/>
            <a:gdLst/>
            <a:ahLst/>
            <a:cxnLst/>
            <a:rect l="l" t="t" r="r" b="b"/>
            <a:pathLst>
              <a:path w="6345324" h="5750012">
                <a:moveTo>
                  <a:pt x="63480" y="0"/>
                </a:moveTo>
                <a:lnTo>
                  <a:pt x="6281844" y="0"/>
                </a:lnTo>
                <a:cubicBezTo>
                  <a:pt x="6316903" y="0"/>
                  <a:pt x="6345324" y="28421"/>
                  <a:pt x="6345324" y="63480"/>
                </a:cubicBezTo>
                <a:lnTo>
                  <a:pt x="6345324" y="5686532"/>
                </a:lnTo>
                <a:cubicBezTo>
                  <a:pt x="6345324" y="5721591"/>
                  <a:pt x="6316903" y="5750012"/>
                  <a:pt x="6281844" y="5750012"/>
                </a:cubicBezTo>
                <a:lnTo>
                  <a:pt x="63480" y="5750012"/>
                </a:lnTo>
                <a:cubicBezTo>
                  <a:pt x="28421" y="5750012"/>
                  <a:pt x="0" y="5721591"/>
                  <a:pt x="0" y="5686532"/>
                </a:cubicBezTo>
                <a:lnTo>
                  <a:pt x="0" y="63480"/>
                </a:lnTo>
                <a:cubicBezTo>
                  <a:pt x="0" y="28444"/>
                  <a:pt x="28444" y="0"/>
                  <a:pt x="6348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7919">
            <a:solidFill>
              <a:srgbClr val="2A3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7959" y="1454508"/>
            <a:ext cx="617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Components</a:t>
            </a:r>
            <a:endParaRPr lang="en-US" sz="1600" dirty="0"/>
          </a:p>
        </p:txBody>
      </p:sp>
      <p:pic>
        <p:nvPicPr>
          <p:cNvPr id="8" name="Image 0" descr="https://kimi-img.moonshot.cn/pub/slides/26-01-18-13:40:29-d5m74jbfj2j12aog19p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959" y="1803611"/>
            <a:ext cx="6175375" cy="4502737"/>
          </a:xfrm>
          <a:prstGeom prst="roundRect">
            <a:avLst>
              <a:gd name="adj" fmla="val 2500"/>
            </a:avLst>
          </a:prstGeom>
        </p:spPr>
      </p:pic>
      <p:sp>
        <p:nvSpPr>
          <p:cNvPr id="9" name="Text 6"/>
          <p:cNvSpPr/>
          <p:nvPr/>
        </p:nvSpPr>
        <p:spPr>
          <a:xfrm>
            <a:off x="317430" y="5807471"/>
            <a:ext cx="614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E2A3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Data Integration:</a:t>
            </a:r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1E2A3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Real-time customer behavior monitoring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878204" y="1316354"/>
            <a:ext cx="27998" cy="587375"/>
          </a:xfrm>
          <a:custGeom>
            <a:avLst/>
            <a:gdLst/>
            <a:ahLst/>
            <a:cxnLst/>
            <a:rect l="l" t="t" r="r" b="b"/>
            <a:pathLst>
              <a:path w="27998" h="587375">
                <a:moveTo>
                  <a:pt x="0" y="0"/>
                </a:moveTo>
                <a:lnTo>
                  <a:pt x="27998" y="0"/>
                </a:lnTo>
                <a:lnTo>
                  <a:pt x="27998" y="587375"/>
                </a:lnTo>
                <a:lnTo>
                  <a:pt x="0" y="587375"/>
                </a:lnTo>
                <a:lnTo>
                  <a:pt x="0" y="0"/>
                </a:ln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11" name="Shape 8"/>
          <p:cNvSpPr/>
          <p:nvPr/>
        </p:nvSpPr>
        <p:spPr>
          <a:xfrm>
            <a:off x="7029080" y="1411546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58874" y="74414"/>
                </a:moveTo>
                <a:lnTo>
                  <a:pt x="104304" y="74414"/>
                </a:lnTo>
                <a:cubicBezTo>
                  <a:pt x="98816" y="74414"/>
                  <a:pt x="94382" y="69980"/>
                  <a:pt x="94382" y="64492"/>
                </a:cubicBezTo>
                <a:lnTo>
                  <a:pt x="94382" y="9922"/>
                </a:lnTo>
                <a:cubicBezTo>
                  <a:pt x="94382" y="4434"/>
                  <a:pt x="98847" y="-62"/>
                  <a:pt x="104273" y="651"/>
                </a:cubicBezTo>
                <a:cubicBezTo>
                  <a:pt x="137449" y="5054"/>
                  <a:pt x="163742" y="31347"/>
                  <a:pt x="168145" y="64523"/>
                </a:cubicBezTo>
                <a:cubicBezTo>
                  <a:pt x="168858" y="69949"/>
                  <a:pt x="164362" y="74414"/>
                  <a:pt x="158874" y="74414"/>
                </a:cubicBezTo>
                <a:close/>
                <a:moveTo>
                  <a:pt x="69019" y="11534"/>
                </a:moveTo>
                <a:cubicBezTo>
                  <a:pt x="74631" y="10356"/>
                  <a:pt x="79499" y="14945"/>
                  <a:pt x="79499" y="20681"/>
                </a:cubicBezTo>
                <a:lnTo>
                  <a:pt x="79499" y="81855"/>
                </a:lnTo>
                <a:cubicBezTo>
                  <a:pt x="79499" y="83592"/>
                  <a:pt x="80119" y="85266"/>
                  <a:pt x="81204" y="86599"/>
                </a:cubicBezTo>
                <a:lnTo>
                  <a:pt x="122163" y="136023"/>
                </a:lnTo>
                <a:cubicBezTo>
                  <a:pt x="125791" y="140395"/>
                  <a:pt x="125016" y="146999"/>
                  <a:pt x="120024" y="149696"/>
                </a:cubicBezTo>
                <a:cubicBezTo>
                  <a:pt x="109451" y="155463"/>
                  <a:pt x="97327" y="158750"/>
                  <a:pt x="84460" y="158750"/>
                </a:cubicBezTo>
                <a:cubicBezTo>
                  <a:pt x="43377" y="158750"/>
                  <a:pt x="10046" y="125419"/>
                  <a:pt x="10046" y="84336"/>
                </a:cubicBezTo>
                <a:cubicBezTo>
                  <a:pt x="10046" y="48524"/>
                  <a:pt x="35316" y="18635"/>
                  <a:pt x="69019" y="11534"/>
                </a:cubicBezTo>
                <a:close/>
                <a:moveTo>
                  <a:pt x="148146" y="89297"/>
                </a:moveTo>
                <a:lnTo>
                  <a:pt x="167990" y="89297"/>
                </a:lnTo>
                <a:cubicBezTo>
                  <a:pt x="173726" y="89297"/>
                  <a:pt x="178315" y="94165"/>
                  <a:pt x="177136" y="99777"/>
                </a:cubicBezTo>
                <a:cubicBezTo>
                  <a:pt x="173974" y="114784"/>
                  <a:pt x="166284" y="128116"/>
                  <a:pt x="155556" y="138286"/>
                </a:cubicBezTo>
                <a:cubicBezTo>
                  <a:pt x="151743" y="141914"/>
                  <a:pt x="145759" y="141139"/>
                  <a:pt x="142410" y="137077"/>
                </a:cubicBezTo>
                <a:lnTo>
                  <a:pt x="116241" y="105544"/>
                </a:lnTo>
                <a:cubicBezTo>
                  <a:pt x="110877" y="99064"/>
                  <a:pt x="115497" y="89297"/>
                  <a:pt x="123868" y="89297"/>
                </a:cubicBezTo>
                <a:lnTo>
                  <a:pt x="148115" y="89297"/>
                </a:ln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12" name="Text 9"/>
          <p:cNvSpPr/>
          <p:nvPr/>
        </p:nvSpPr>
        <p:spPr>
          <a:xfrm>
            <a:off x="7312789" y="1379788"/>
            <a:ext cx="1325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019158" y="1633695"/>
            <a:ext cx="4921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E2A37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High-level KPIs including total revenue, customer count, AOV, and subscription rate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78204" y="1998723"/>
            <a:ext cx="27998" cy="587375"/>
          </a:xfrm>
          <a:custGeom>
            <a:avLst/>
            <a:gdLst/>
            <a:ahLst/>
            <a:cxnLst/>
            <a:rect l="l" t="t" r="r" b="b"/>
            <a:pathLst>
              <a:path w="27998" h="587375">
                <a:moveTo>
                  <a:pt x="0" y="0"/>
                </a:moveTo>
                <a:lnTo>
                  <a:pt x="27998" y="0"/>
                </a:lnTo>
                <a:lnTo>
                  <a:pt x="27998" y="587375"/>
                </a:lnTo>
                <a:lnTo>
                  <a:pt x="0" y="587375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15" name="Shape 12"/>
          <p:cNvSpPr/>
          <p:nvPr/>
        </p:nvSpPr>
        <p:spPr>
          <a:xfrm>
            <a:off x="7019158" y="2093919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99219" y="4961"/>
                </a:moveTo>
                <a:cubicBezTo>
                  <a:pt x="117016" y="4961"/>
                  <a:pt x="131465" y="19410"/>
                  <a:pt x="131465" y="37207"/>
                </a:cubicBezTo>
                <a:cubicBezTo>
                  <a:pt x="131465" y="55004"/>
                  <a:pt x="117016" y="69453"/>
                  <a:pt x="99219" y="69453"/>
                </a:cubicBezTo>
                <a:cubicBezTo>
                  <a:pt x="81422" y="69453"/>
                  <a:pt x="66973" y="55004"/>
                  <a:pt x="66973" y="37207"/>
                </a:cubicBezTo>
                <a:cubicBezTo>
                  <a:pt x="66973" y="19410"/>
                  <a:pt x="81422" y="4961"/>
                  <a:pt x="99219" y="4961"/>
                </a:cubicBezTo>
                <a:close/>
                <a:moveTo>
                  <a:pt x="29766" y="27285"/>
                </a:moveTo>
                <a:cubicBezTo>
                  <a:pt x="42087" y="27285"/>
                  <a:pt x="52090" y="37288"/>
                  <a:pt x="52090" y="49609"/>
                </a:cubicBezTo>
                <a:cubicBezTo>
                  <a:pt x="52090" y="61930"/>
                  <a:pt x="42087" y="71934"/>
                  <a:pt x="29766" y="71934"/>
                </a:cubicBezTo>
                <a:cubicBezTo>
                  <a:pt x="17445" y="71934"/>
                  <a:pt x="7441" y="61930"/>
                  <a:pt x="7441" y="49609"/>
                </a:cubicBezTo>
                <a:cubicBezTo>
                  <a:pt x="7441" y="37288"/>
                  <a:pt x="17445" y="27285"/>
                  <a:pt x="29766" y="27285"/>
                </a:cubicBezTo>
                <a:close/>
                <a:moveTo>
                  <a:pt x="0" y="128984"/>
                </a:moveTo>
                <a:cubicBezTo>
                  <a:pt x="0" y="107063"/>
                  <a:pt x="17766" y="89297"/>
                  <a:pt x="39688" y="89297"/>
                </a:cubicBezTo>
                <a:cubicBezTo>
                  <a:pt x="43656" y="89297"/>
                  <a:pt x="47501" y="89886"/>
                  <a:pt x="51129" y="90971"/>
                </a:cubicBezTo>
                <a:cubicBezTo>
                  <a:pt x="40928" y="102381"/>
                  <a:pt x="34727" y="117450"/>
                  <a:pt x="34727" y="133945"/>
                </a:cubicBezTo>
                <a:lnTo>
                  <a:pt x="34727" y="138906"/>
                </a:lnTo>
                <a:cubicBezTo>
                  <a:pt x="34727" y="142441"/>
                  <a:pt x="35471" y="145790"/>
                  <a:pt x="36804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28984"/>
                </a:lnTo>
                <a:close/>
                <a:moveTo>
                  <a:pt x="161634" y="148828"/>
                </a:moveTo>
                <a:cubicBezTo>
                  <a:pt x="162967" y="145790"/>
                  <a:pt x="163711" y="142441"/>
                  <a:pt x="163711" y="138906"/>
                </a:cubicBezTo>
                <a:lnTo>
                  <a:pt x="163711" y="133945"/>
                </a:lnTo>
                <a:cubicBezTo>
                  <a:pt x="163711" y="117450"/>
                  <a:pt x="157510" y="102381"/>
                  <a:pt x="147309" y="90971"/>
                </a:cubicBezTo>
                <a:cubicBezTo>
                  <a:pt x="150937" y="89886"/>
                  <a:pt x="154781" y="89297"/>
                  <a:pt x="158750" y="89297"/>
                </a:cubicBezTo>
                <a:cubicBezTo>
                  <a:pt x="180671" y="89297"/>
                  <a:pt x="198438" y="107063"/>
                  <a:pt x="198438" y="128984"/>
                </a:cubicBezTo>
                <a:lnTo>
                  <a:pt x="198438" y="138906"/>
                </a:lnTo>
                <a:cubicBezTo>
                  <a:pt x="198438" y="144394"/>
                  <a:pt x="194004" y="148828"/>
                  <a:pt x="188516" y="148828"/>
                </a:cubicBezTo>
                <a:lnTo>
                  <a:pt x="161634" y="148828"/>
                </a:lnTo>
                <a:close/>
                <a:moveTo>
                  <a:pt x="146348" y="49609"/>
                </a:moveTo>
                <a:cubicBezTo>
                  <a:pt x="146348" y="37288"/>
                  <a:pt x="156351" y="27285"/>
                  <a:pt x="168672" y="27285"/>
                </a:cubicBezTo>
                <a:cubicBezTo>
                  <a:pt x="180993" y="27285"/>
                  <a:pt x="190996" y="37288"/>
                  <a:pt x="190996" y="49609"/>
                </a:cubicBezTo>
                <a:cubicBezTo>
                  <a:pt x="190996" y="61930"/>
                  <a:pt x="180993" y="71934"/>
                  <a:pt x="168672" y="71934"/>
                </a:cubicBezTo>
                <a:cubicBezTo>
                  <a:pt x="156351" y="71934"/>
                  <a:pt x="146348" y="61930"/>
                  <a:pt x="146348" y="49609"/>
                </a:cubicBezTo>
                <a:close/>
                <a:moveTo>
                  <a:pt x="49609" y="133945"/>
                </a:moveTo>
                <a:cubicBezTo>
                  <a:pt x="49609" y="106536"/>
                  <a:pt x="71810" y="84336"/>
                  <a:pt x="99219" y="84336"/>
                </a:cubicBezTo>
                <a:cubicBezTo>
                  <a:pt x="126628" y="84336"/>
                  <a:pt x="148828" y="106536"/>
                  <a:pt x="148828" y="133945"/>
                </a:cubicBezTo>
                <a:lnTo>
                  <a:pt x="148828" y="138906"/>
                </a:lnTo>
                <a:cubicBezTo>
                  <a:pt x="148828" y="144394"/>
                  <a:pt x="144394" y="148828"/>
                  <a:pt x="138906" y="148828"/>
                </a:cubicBezTo>
                <a:lnTo>
                  <a:pt x="59531" y="148828"/>
                </a:lnTo>
                <a:cubicBezTo>
                  <a:pt x="54043" y="148828"/>
                  <a:pt x="49609" y="144394"/>
                  <a:pt x="49609" y="138906"/>
                </a:cubicBezTo>
                <a:lnTo>
                  <a:pt x="49609" y="133945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16" name="Text 13"/>
          <p:cNvSpPr/>
          <p:nvPr/>
        </p:nvSpPr>
        <p:spPr>
          <a:xfrm>
            <a:off x="7312789" y="2062157"/>
            <a:ext cx="1603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Segmentation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019158" y="2316064"/>
            <a:ext cx="4921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E2A37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filters by segment, age, gender with drill-through to customer details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878204" y="2681092"/>
            <a:ext cx="27998" cy="587375"/>
          </a:xfrm>
          <a:custGeom>
            <a:avLst/>
            <a:gdLst/>
            <a:ahLst/>
            <a:cxnLst/>
            <a:rect l="l" t="t" r="r" b="b"/>
            <a:pathLst>
              <a:path w="27998" h="587375">
                <a:moveTo>
                  <a:pt x="0" y="0"/>
                </a:moveTo>
                <a:lnTo>
                  <a:pt x="27998" y="0"/>
                </a:lnTo>
                <a:lnTo>
                  <a:pt x="27998" y="587375"/>
                </a:lnTo>
                <a:lnTo>
                  <a:pt x="0" y="587375"/>
                </a:lnTo>
                <a:lnTo>
                  <a:pt x="0" y="0"/>
                </a:lnTo>
                <a:close/>
              </a:path>
            </a:pathLst>
          </a:custGeom>
          <a:solidFill>
            <a:srgbClr val="8A9BA8"/>
          </a:solidFill>
          <a:ln/>
        </p:spPr>
      </p:sp>
      <p:sp>
        <p:nvSpPr>
          <p:cNvPr id="19" name="Shape 16"/>
          <p:cNvSpPr/>
          <p:nvPr/>
        </p:nvSpPr>
        <p:spPr>
          <a:xfrm>
            <a:off x="7039002" y="27762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8A9BA8"/>
          </a:solidFill>
          <a:ln/>
        </p:spPr>
      </p:sp>
      <p:sp>
        <p:nvSpPr>
          <p:cNvPr id="20" name="Text 17"/>
          <p:cNvSpPr/>
          <p:nvPr/>
        </p:nvSpPr>
        <p:spPr>
          <a:xfrm>
            <a:off x="7312789" y="2744526"/>
            <a:ext cx="1174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Analysis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019158" y="2998433"/>
            <a:ext cx="4921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E2A37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trends by demographics, subscription status, and time periods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878204" y="3363461"/>
            <a:ext cx="27998" cy="587375"/>
          </a:xfrm>
          <a:custGeom>
            <a:avLst/>
            <a:gdLst/>
            <a:ahLst/>
            <a:cxnLst/>
            <a:rect l="l" t="t" r="r" b="b"/>
            <a:pathLst>
              <a:path w="27998" h="587375">
                <a:moveTo>
                  <a:pt x="0" y="0"/>
                </a:moveTo>
                <a:lnTo>
                  <a:pt x="27998" y="0"/>
                </a:lnTo>
                <a:lnTo>
                  <a:pt x="27998" y="587375"/>
                </a:lnTo>
                <a:lnTo>
                  <a:pt x="0" y="587375"/>
                </a:lnTo>
                <a:lnTo>
                  <a:pt x="0" y="0"/>
                </a:ln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23" name="Shape 20"/>
          <p:cNvSpPr/>
          <p:nvPr/>
        </p:nvSpPr>
        <p:spPr>
          <a:xfrm>
            <a:off x="7048923" y="3458657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14536" y="39688"/>
                </a:moveTo>
                <a:lnTo>
                  <a:pt x="103901" y="24805"/>
                </a:lnTo>
                <a:lnTo>
                  <a:pt x="35037" y="24805"/>
                </a:lnTo>
                <a:lnTo>
                  <a:pt x="24402" y="39688"/>
                </a:lnTo>
                <a:lnTo>
                  <a:pt x="114536" y="39688"/>
                </a:lnTo>
                <a:close/>
                <a:moveTo>
                  <a:pt x="0" y="46044"/>
                </a:moveTo>
                <a:cubicBezTo>
                  <a:pt x="0" y="41920"/>
                  <a:pt x="1302" y="37889"/>
                  <a:pt x="3690" y="34510"/>
                </a:cubicBezTo>
                <a:lnTo>
                  <a:pt x="18883" y="13271"/>
                </a:lnTo>
                <a:cubicBezTo>
                  <a:pt x="22603" y="8062"/>
                  <a:pt x="28618" y="4961"/>
                  <a:pt x="35006" y="4961"/>
                </a:cubicBezTo>
                <a:lnTo>
                  <a:pt x="103870" y="4961"/>
                </a:lnTo>
                <a:cubicBezTo>
                  <a:pt x="110288" y="4961"/>
                  <a:pt x="116303" y="8062"/>
                  <a:pt x="120024" y="13271"/>
                </a:cubicBezTo>
                <a:lnTo>
                  <a:pt x="135186" y="34510"/>
                </a:lnTo>
                <a:cubicBezTo>
                  <a:pt x="137604" y="37889"/>
                  <a:pt x="138875" y="41920"/>
                  <a:pt x="138875" y="46044"/>
                </a:cubicBezTo>
                <a:lnTo>
                  <a:pt x="138906" y="128984"/>
                </a:lnTo>
                <a:cubicBezTo>
                  <a:pt x="138906" y="139929"/>
                  <a:pt x="130008" y="148828"/>
                  <a:pt x="119062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46044"/>
                </a:ln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24" name="Text 21"/>
          <p:cNvSpPr/>
          <p:nvPr/>
        </p:nvSpPr>
        <p:spPr>
          <a:xfrm>
            <a:off x="7312789" y="3426895"/>
            <a:ext cx="141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Performance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019158" y="3680802"/>
            <a:ext cx="4921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E2A37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products by category, ratings, discount dependency with dynamic filtering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878204" y="4045831"/>
            <a:ext cx="27998" cy="587375"/>
          </a:xfrm>
          <a:custGeom>
            <a:avLst/>
            <a:gdLst/>
            <a:ahLst/>
            <a:cxnLst/>
            <a:rect l="l" t="t" r="r" b="b"/>
            <a:pathLst>
              <a:path w="27998" h="587375">
                <a:moveTo>
                  <a:pt x="0" y="0"/>
                </a:moveTo>
                <a:lnTo>
                  <a:pt x="27998" y="0"/>
                </a:lnTo>
                <a:lnTo>
                  <a:pt x="27998" y="587375"/>
                </a:lnTo>
                <a:lnTo>
                  <a:pt x="0" y="587375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27" name="Shape 24"/>
          <p:cNvSpPr/>
          <p:nvPr/>
        </p:nvSpPr>
        <p:spPr>
          <a:xfrm>
            <a:off x="7019158" y="4141026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7441" y="-4961"/>
                </a:moveTo>
                <a:cubicBezTo>
                  <a:pt x="3318" y="-4961"/>
                  <a:pt x="0" y="-1643"/>
                  <a:pt x="0" y="2480"/>
                </a:cubicBezTo>
                <a:cubicBezTo>
                  <a:pt x="0" y="6604"/>
                  <a:pt x="3318" y="9922"/>
                  <a:pt x="7441" y="9922"/>
                </a:cubicBezTo>
                <a:lnTo>
                  <a:pt x="21487" y="9922"/>
                </a:lnTo>
                <a:cubicBezTo>
                  <a:pt x="22696" y="9922"/>
                  <a:pt x="23719" y="10790"/>
                  <a:pt x="23937" y="11968"/>
                </a:cubicBezTo>
                <a:lnTo>
                  <a:pt x="40091" y="100738"/>
                </a:lnTo>
                <a:cubicBezTo>
                  <a:pt x="42013" y="111342"/>
                  <a:pt x="51253" y="119063"/>
                  <a:pt x="62043" y="119063"/>
                </a:cubicBezTo>
                <a:lnTo>
                  <a:pt x="141387" y="119062"/>
                </a:lnTo>
                <a:cubicBezTo>
                  <a:pt x="145510" y="119062"/>
                  <a:pt x="148828" y="115745"/>
                  <a:pt x="148828" y="111621"/>
                </a:cubicBezTo>
                <a:cubicBezTo>
                  <a:pt x="148828" y="107497"/>
                  <a:pt x="145510" y="104180"/>
                  <a:pt x="141387" y="104180"/>
                </a:cubicBezTo>
                <a:lnTo>
                  <a:pt x="62043" y="104180"/>
                </a:lnTo>
                <a:cubicBezTo>
                  <a:pt x="58446" y="104180"/>
                  <a:pt x="55376" y="101606"/>
                  <a:pt x="54725" y="98072"/>
                </a:cubicBezTo>
                <a:lnTo>
                  <a:pt x="53144" y="89297"/>
                </a:lnTo>
                <a:lnTo>
                  <a:pt x="147278" y="89297"/>
                </a:lnTo>
                <a:cubicBezTo>
                  <a:pt x="156828" y="89297"/>
                  <a:pt x="165013" y="82507"/>
                  <a:pt x="166781" y="73112"/>
                </a:cubicBezTo>
                <a:lnTo>
                  <a:pt x="176392" y="21673"/>
                </a:lnTo>
                <a:cubicBezTo>
                  <a:pt x="177540" y="15565"/>
                  <a:pt x="172858" y="9922"/>
                  <a:pt x="166625" y="9922"/>
                </a:cubicBezTo>
                <a:lnTo>
                  <a:pt x="38664" y="9922"/>
                </a:lnTo>
                <a:lnTo>
                  <a:pt x="38540" y="9302"/>
                </a:lnTo>
                <a:cubicBezTo>
                  <a:pt x="37052" y="1054"/>
                  <a:pt x="29859" y="-4961"/>
                  <a:pt x="21456" y="-4961"/>
                </a:cubicBezTo>
                <a:lnTo>
                  <a:pt x="7441" y="-4961"/>
                </a:lnTo>
                <a:close/>
                <a:moveTo>
                  <a:pt x="64492" y="158750"/>
                </a:moveTo>
                <a:cubicBezTo>
                  <a:pt x="72706" y="158750"/>
                  <a:pt x="79375" y="152081"/>
                  <a:pt x="79375" y="143867"/>
                </a:cubicBezTo>
                <a:cubicBezTo>
                  <a:pt x="79375" y="135653"/>
                  <a:pt x="72706" y="128984"/>
                  <a:pt x="64492" y="128984"/>
                </a:cubicBezTo>
                <a:cubicBezTo>
                  <a:pt x="56278" y="128984"/>
                  <a:pt x="49609" y="135653"/>
                  <a:pt x="49609" y="143867"/>
                </a:cubicBezTo>
                <a:cubicBezTo>
                  <a:pt x="49609" y="152081"/>
                  <a:pt x="56278" y="158750"/>
                  <a:pt x="64492" y="158750"/>
                </a:cubicBezTo>
                <a:close/>
                <a:moveTo>
                  <a:pt x="133945" y="158750"/>
                </a:moveTo>
                <a:cubicBezTo>
                  <a:pt x="142159" y="158750"/>
                  <a:pt x="148828" y="152081"/>
                  <a:pt x="148828" y="143867"/>
                </a:cubicBezTo>
                <a:cubicBezTo>
                  <a:pt x="148828" y="135653"/>
                  <a:pt x="142159" y="128984"/>
                  <a:pt x="133945" y="128984"/>
                </a:cubicBezTo>
                <a:cubicBezTo>
                  <a:pt x="125731" y="128984"/>
                  <a:pt x="119062" y="135653"/>
                  <a:pt x="119062" y="143867"/>
                </a:cubicBezTo>
                <a:cubicBezTo>
                  <a:pt x="119062" y="152081"/>
                  <a:pt x="125731" y="158750"/>
                  <a:pt x="133945" y="158750"/>
                </a:cubicBez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28" name="Text 25"/>
          <p:cNvSpPr/>
          <p:nvPr/>
        </p:nvSpPr>
        <p:spPr>
          <a:xfrm>
            <a:off x="7312789" y="4109265"/>
            <a:ext cx="1182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Behavior Analysis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019158" y="4363176"/>
            <a:ext cx="4921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E2A37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Purchase frequency, shipping preferences, discount usage patterns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864205" y="4759961"/>
            <a:ext cx="5008563" cy="1397000"/>
          </a:xfrm>
          <a:custGeom>
            <a:avLst/>
            <a:gdLst/>
            <a:ahLst/>
            <a:cxnLst/>
            <a:rect l="l" t="t" r="r" b="b"/>
            <a:pathLst>
              <a:path w="5008563" h="1397000">
                <a:moveTo>
                  <a:pt x="63494" y="0"/>
                </a:moveTo>
                <a:lnTo>
                  <a:pt x="4945069" y="0"/>
                </a:lnTo>
                <a:cubicBezTo>
                  <a:pt x="4980135" y="0"/>
                  <a:pt x="5008563" y="28427"/>
                  <a:pt x="5008563" y="63494"/>
                </a:cubicBezTo>
                <a:lnTo>
                  <a:pt x="5008563" y="1333506"/>
                </a:lnTo>
                <a:cubicBezTo>
                  <a:pt x="5008562" y="1368573"/>
                  <a:pt x="4980135" y="1397000"/>
                  <a:pt x="4945069" y="1397000"/>
                </a:cubicBezTo>
                <a:lnTo>
                  <a:pt x="63494" y="1397000"/>
                </a:lnTo>
                <a:cubicBezTo>
                  <a:pt x="28427" y="1397000"/>
                  <a:pt x="0" y="1368573"/>
                  <a:pt x="0" y="133350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31" name="Text 28"/>
          <p:cNvSpPr/>
          <p:nvPr/>
        </p:nvSpPr>
        <p:spPr>
          <a:xfrm>
            <a:off x="6991160" y="4886915"/>
            <a:ext cx="4833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8F7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Benefits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991160" y="5172498"/>
            <a:ext cx="4818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Real-time data refresh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991160" y="5394733"/>
            <a:ext cx="4818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Interactive filtering &amp; cross-filtering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991160" y="5616971"/>
            <a:ext cx="4818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Self-service analytics capability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991160" y="5839206"/>
            <a:ext cx="4818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Mobile-responsive design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16" y="380916"/>
            <a:ext cx="7524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900" b="1" dirty="0">
                <a:solidFill>
                  <a:srgbClr val="C48A6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36075" y="380916"/>
            <a:ext cx="11020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900" b="1" dirty="0">
                <a:solidFill>
                  <a:srgbClr val="2A3D4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Strategic Recommendations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36075" y="952291"/>
            <a:ext cx="914400" cy="28575"/>
          </a:xfrm>
          <a:custGeom>
            <a:avLst/>
            <a:gdLst/>
            <a:ahLst/>
            <a:cxnLst/>
            <a:rect l="l" t="t" r="r" b="b"/>
            <a:pathLst>
              <a:path w="914400" h="28575">
                <a:moveTo>
                  <a:pt x="0" y="0"/>
                </a:moveTo>
                <a:lnTo>
                  <a:pt x="914400" y="0"/>
                </a:lnTo>
                <a:lnTo>
                  <a:pt x="9144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5" name="Text 3"/>
          <p:cNvSpPr/>
          <p:nvPr/>
        </p:nvSpPr>
        <p:spPr>
          <a:xfrm>
            <a:off x="380916" y="1133191"/>
            <a:ext cx="1152048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5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Data-driven initiatives to </a:t>
            </a:r>
            <a:pPr>
              <a:lnSpc>
                <a:spcPct val="140000"/>
              </a:lnSpc>
            </a:pPr>
            <a:r>
              <a:rPr lang="en-US" sz="1425" b="1" dirty="0">
                <a:solidFill>
                  <a:srgbClr val="2A3D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maximize customer value</a:t>
            </a:r>
            <a:pPr>
              <a:lnSpc>
                <a:spcPct val="140000"/>
              </a:lnSpc>
            </a:pPr>
            <a:r>
              <a:rPr lang="en-US" sz="1425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425" b="1" dirty="0">
                <a:solidFill>
                  <a:srgbClr val="2A3D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optimize pricing strategy</a:t>
            </a:r>
            <a:pPr>
              <a:lnSpc>
                <a:spcPct val="140000"/>
              </a:lnSpc>
            </a:pPr>
            <a:r>
              <a:rPr lang="en-US" sz="1425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and </a:t>
            </a:r>
            <a:pPr>
              <a:lnSpc>
                <a:spcPct val="140000"/>
              </a:lnSpc>
            </a:pPr>
            <a:r>
              <a:rPr lang="en-US" sz="1425" b="1" dirty="0">
                <a:solidFill>
                  <a:srgbClr val="2A3D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enhance competitive positioning</a:t>
            </a:r>
            <a:pPr>
              <a:lnSpc>
                <a:spcPct val="140000"/>
              </a:lnSpc>
            </a:pPr>
            <a:r>
              <a:rPr lang="en-US" sz="1425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7715" y="1579625"/>
            <a:ext cx="33598" cy="1238250"/>
          </a:xfrm>
          <a:custGeom>
            <a:avLst/>
            <a:gdLst/>
            <a:ahLst/>
            <a:cxnLst/>
            <a:rect l="l" t="t" r="r" b="b"/>
            <a:pathLst>
              <a:path w="33598" h="1238250">
                <a:moveTo>
                  <a:pt x="0" y="0"/>
                </a:moveTo>
                <a:lnTo>
                  <a:pt x="33598" y="0"/>
                </a:lnTo>
                <a:lnTo>
                  <a:pt x="33598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7" name="Shape 5"/>
          <p:cNvSpPr/>
          <p:nvPr/>
        </p:nvSpPr>
        <p:spPr>
          <a:xfrm>
            <a:off x="566859" y="16557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8" name="Text 6"/>
          <p:cNvSpPr/>
          <p:nvPr/>
        </p:nvSpPr>
        <p:spPr>
          <a:xfrm>
            <a:off x="509709" y="1655741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38233" y="1750972"/>
            <a:ext cx="1781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Boost Subscriptions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859" y="2189001"/>
            <a:ext cx="5524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Subscribers spend 65% more than non-subscribers.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859" y="2539687"/>
            <a:ext cx="537856" cy="167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5893" y="2539687"/>
            <a:ext cx="2758596" cy="167989"/>
          </a:xfrm>
          <a:custGeom>
            <a:avLst/>
            <a:gdLst/>
            <a:ahLst/>
            <a:cxnLst/>
            <a:rect l="l" t="t" r="r" b="b"/>
            <a:pathLst>
              <a:path w="2758596" h="167989">
                <a:moveTo>
                  <a:pt x="0" y="0"/>
                </a:moveTo>
                <a:lnTo>
                  <a:pt x="2758596" y="0"/>
                </a:lnTo>
                <a:lnTo>
                  <a:pt x="2758596" y="167989"/>
                </a:lnTo>
                <a:lnTo>
                  <a:pt x="0" y="167989"/>
                </a:lnTo>
                <a:lnTo>
                  <a:pt x="0" y="0"/>
                </a:lnTo>
                <a:close/>
              </a:path>
            </a:pathLst>
          </a:custGeom>
          <a:solidFill>
            <a:srgbClr val="C48A69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65893" y="2539687"/>
            <a:ext cx="2834796" cy="167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A3D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Promote exclusive benefits &amp; early access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7715" y="2931830"/>
            <a:ext cx="33598" cy="1238250"/>
          </a:xfrm>
          <a:custGeom>
            <a:avLst/>
            <a:gdLst/>
            <a:ahLst/>
            <a:cxnLst/>
            <a:rect l="l" t="t" r="r" b="b"/>
            <a:pathLst>
              <a:path w="33598" h="1238250">
                <a:moveTo>
                  <a:pt x="0" y="0"/>
                </a:moveTo>
                <a:lnTo>
                  <a:pt x="33598" y="0"/>
                </a:lnTo>
                <a:lnTo>
                  <a:pt x="33598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859" y="300795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16" name="Text 14"/>
          <p:cNvSpPr/>
          <p:nvPr/>
        </p:nvSpPr>
        <p:spPr>
          <a:xfrm>
            <a:off x="509709" y="3007956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8233" y="3103187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Loyalty Programs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859" y="3541216"/>
            <a:ext cx="5524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65% of customers are in New/Returning segments.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859" y="3891893"/>
            <a:ext cx="537856" cy="167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Action: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65893" y="3891893"/>
            <a:ext cx="3329970" cy="167989"/>
          </a:xfrm>
          <a:custGeom>
            <a:avLst/>
            <a:gdLst/>
            <a:ahLst/>
            <a:cxnLst/>
            <a:rect l="l" t="t" r="r" b="b"/>
            <a:pathLst>
              <a:path w="3329970" h="167989">
                <a:moveTo>
                  <a:pt x="0" y="0"/>
                </a:moveTo>
                <a:lnTo>
                  <a:pt x="3329970" y="0"/>
                </a:lnTo>
                <a:lnTo>
                  <a:pt x="3329970" y="167989"/>
                </a:lnTo>
                <a:lnTo>
                  <a:pt x="0" y="167989"/>
                </a:lnTo>
                <a:lnTo>
                  <a:pt x="0" y="0"/>
                </a:lnTo>
                <a:close/>
              </a:path>
            </a:pathLst>
          </a:custGeom>
          <a:solidFill>
            <a:srgbClr val="C48A69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65893" y="3891893"/>
            <a:ext cx="3406170" cy="167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A3D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Reward repeat buyers &amp; implement tiered benefits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97715" y="4284045"/>
            <a:ext cx="33598" cy="1238250"/>
          </a:xfrm>
          <a:custGeom>
            <a:avLst/>
            <a:gdLst/>
            <a:ahLst/>
            <a:cxnLst/>
            <a:rect l="l" t="t" r="r" b="b"/>
            <a:pathLst>
              <a:path w="33598" h="1238250">
                <a:moveTo>
                  <a:pt x="0" y="0"/>
                </a:moveTo>
                <a:lnTo>
                  <a:pt x="33598" y="0"/>
                </a:lnTo>
                <a:lnTo>
                  <a:pt x="33598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solidFill>
            <a:srgbClr val="8A9BA8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859" y="436016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A9BA8"/>
          </a:solidFill>
          <a:ln/>
        </p:spPr>
      </p:sp>
      <p:sp>
        <p:nvSpPr>
          <p:cNvPr id="24" name="Text 22"/>
          <p:cNvSpPr/>
          <p:nvPr/>
        </p:nvSpPr>
        <p:spPr>
          <a:xfrm>
            <a:off x="509709" y="4360162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38233" y="4455393"/>
            <a:ext cx="2047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Discount Policy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859" y="4893422"/>
            <a:ext cx="5524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Some products have 78% discount dependency.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6859" y="5244099"/>
            <a:ext cx="537856" cy="167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Action: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65893" y="5244099"/>
            <a:ext cx="2679431" cy="167989"/>
          </a:xfrm>
          <a:custGeom>
            <a:avLst/>
            <a:gdLst/>
            <a:ahLst/>
            <a:cxnLst/>
            <a:rect l="l" t="t" r="r" b="b"/>
            <a:pathLst>
              <a:path w="2679431" h="167989">
                <a:moveTo>
                  <a:pt x="0" y="0"/>
                </a:moveTo>
                <a:lnTo>
                  <a:pt x="2679431" y="0"/>
                </a:lnTo>
                <a:lnTo>
                  <a:pt x="2679431" y="167989"/>
                </a:lnTo>
                <a:lnTo>
                  <a:pt x="0" y="167989"/>
                </a:lnTo>
                <a:lnTo>
                  <a:pt x="0" y="0"/>
                </a:lnTo>
                <a:close/>
              </a:path>
            </a:pathLst>
          </a:custGeom>
          <a:solidFill>
            <a:srgbClr val="C48A69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65893" y="5244099"/>
            <a:ext cx="2755631" cy="167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A3D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 sales boosts with margin control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88940" y="1579625"/>
            <a:ext cx="33598" cy="1238250"/>
          </a:xfrm>
          <a:custGeom>
            <a:avLst/>
            <a:gdLst/>
            <a:ahLst/>
            <a:cxnLst/>
            <a:rect l="l" t="t" r="r" b="b"/>
            <a:pathLst>
              <a:path w="33598" h="1238250">
                <a:moveTo>
                  <a:pt x="0" y="0"/>
                </a:moveTo>
                <a:lnTo>
                  <a:pt x="33598" y="0"/>
                </a:lnTo>
                <a:lnTo>
                  <a:pt x="33598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31" name="Shape 29"/>
          <p:cNvSpPr/>
          <p:nvPr/>
        </p:nvSpPr>
        <p:spPr>
          <a:xfrm>
            <a:off x="6358084" y="16557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32" name="Text 30"/>
          <p:cNvSpPr/>
          <p:nvPr/>
        </p:nvSpPr>
        <p:spPr>
          <a:xfrm>
            <a:off x="6300934" y="1655741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29458" y="1750972"/>
            <a:ext cx="1743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Positioning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8084" y="2189001"/>
            <a:ext cx="5524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Top-rated products drive customer satisfaction.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58084" y="2539687"/>
            <a:ext cx="537856" cy="167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Action: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7117" y="2539687"/>
            <a:ext cx="2942754" cy="167989"/>
          </a:xfrm>
          <a:custGeom>
            <a:avLst/>
            <a:gdLst/>
            <a:ahLst/>
            <a:cxnLst/>
            <a:rect l="l" t="t" r="r" b="b"/>
            <a:pathLst>
              <a:path w="2942754" h="167989">
                <a:moveTo>
                  <a:pt x="0" y="0"/>
                </a:moveTo>
                <a:lnTo>
                  <a:pt x="2942754" y="0"/>
                </a:lnTo>
                <a:lnTo>
                  <a:pt x="2942754" y="167989"/>
                </a:lnTo>
                <a:lnTo>
                  <a:pt x="0" y="167989"/>
                </a:lnTo>
                <a:lnTo>
                  <a:pt x="0" y="0"/>
                </a:lnTo>
                <a:close/>
              </a:path>
            </a:pathLst>
          </a:custGeom>
          <a:solidFill>
            <a:srgbClr val="C48A69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857117" y="2539687"/>
            <a:ext cx="3018954" cy="167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A3D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Highlight best-sellers &amp; leverage social proof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88940" y="2931830"/>
            <a:ext cx="33598" cy="1238250"/>
          </a:xfrm>
          <a:custGeom>
            <a:avLst/>
            <a:gdLst/>
            <a:ahLst/>
            <a:cxnLst/>
            <a:rect l="l" t="t" r="r" b="b"/>
            <a:pathLst>
              <a:path w="33598" h="1238250">
                <a:moveTo>
                  <a:pt x="0" y="0"/>
                </a:moveTo>
                <a:lnTo>
                  <a:pt x="33598" y="0"/>
                </a:lnTo>
                <a:lnTo>
                  <a:pt x="33598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39" name="Shape 37"/>
          <p:cNvSpPr/>
          <p:nvPr/>
        </p:nvSpPr>
        <p:spPr>
          <a:xfrm>
            <a:off x="6358084" y="300795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40" name="Text 38"/>
          <p:cNvSpPr/>
          <p:nvPr/>
        </p:nvSpPr>
        <p:spPr>
          <a:xfrm>
            <a:off x="6300934" y="3007956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29458" y="3103187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3D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Targeted Marketing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58084" y="3541216"/>
            <a:ext cx="5524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Female customers (58%) and Express users drive revenue.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58084" y="3891893"/>
            <a:ext cx="537856" cy="167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A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Action: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857117" y="3891893"/>
            <a:ext cx="2492858" cy="167989"/>
          </a:xfrm>
          <a:custGeom>
            <a:avLst/>
            <a:gdLst/>
            <a:ahLst/>
            <a:cxnLst/>
            <a:rect l="l" t="t" r="r" b="b"/>
            <a:pathLst>
              <a:path w="2492858" h="167989">
                <a:moveTo>
                  <a:pt x="0" y="0"/>
                </a:moveTo>
                <a:lnTo>
                  <a:pt x="2492858" y="0"/>
                </a:lnTo>
                <a:lnTo>
                  <a:pt x="2492858" y="167989"/>
                </a:lnTo>
                <a:lnTo>
                  <a:pt x="0" y="167989"/>
                </a:lnTo>
                <a:lnTo>
                  <a:pt x="0" y="0"/>
                </a:lnTo>
                <a:close/>
              </a:path>
            </a:pathLst>
          </a:custGeom>
          <a:solidFill>
            <a:srgbClr val="C48A69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857117" y="3891893"/>
            <a:ext cx="2569058" cy="167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A3D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on high-revenue demographics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72141" y="4284045"/>
            <a:ext cx="5638800" cy="1409700"/>
          </a:xfrm>
          <a:custGeom>
            <a:avLst/>
            <a:gdLst/>
            <a:ahLst/>
            <a:cxnLst/>
            <a:rect l="l" t="t" r="r" b="b"/>
            <a:pathLst>
              <a:path w="5638800" h="1409700">
                <a:moveTo>
                  <a:pt x="76194" y="0"/>
                </a:moveTo>
                <a:lnTo>
                  <a:pt x="5562606" y="0"/>
                </a:lnTo>
                <a:cubicBezTo>
                  <a:pt x="5604658" y="0"/>
                  <a:pt x="5638800" y="34142"/>
                  <a:pt x="5638800" y="76194"/>
                </a:cubicBezTo>
                <a:lnTo>
                  <a:pt x="5638800" y="1333506"/>
                </a:lnTo>
                <a:cubicBezTo>
                  <a:pt x="5638800" y="1375587"/>
                  <a:pt x="5604687" y="1409700"/>
                  <a:pt x="5562606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2A3D4F"/>
          </a:solidFill>
          <a:ln/>
        </p:spPr>
      </p:sp>
      <p:sp>
        <p:nvSpPr>
          <p:cNvPr id="47" name="Text 45"/>
          <p:cNvSpPr/>
          <p:nvPr/>
        </p:nvSpPr>
        <p:spPr>
          <a:xfrm>
            <a:off x="6324487" y="4436390"/>
            <a:ext cx="542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7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Priority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24487" y="4779085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Subscription &amp; loyalty initiatives (Q1)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24487" y="5045766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Discount policy review (Q2)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24487" y="5312457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8F7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Marketing optimization (Ongoing)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97715" y="6030711"/>
            <a:ext cx="33598" cy="447675"/>
          </a:xfrm>
          <a:custGeom>
            <a:avLst/>
            <a:gdLst/>
            <a:ahLst/>
            <a:cxnLst/>
            <a:rect l="l" t="t" r="r" b="b"/>
            <a:pathLst>
              <a:path w="33598" h="447675">
                <a:moveTo>
                  <a:pt x="0" y="0"/>
                </a:moveTo>
                <a:lnTo>
                  <a:pt x="33598" y="0"/>
                </a:lnTo>
                <a:lnTo>
                  <a:pt x="33598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52" name="Text 50"/>
          <p:cNvSpPr/>
          <p:nvPr/>
        </p:nvSpPr>
        <p:spPr>
          <a:xfrm>
            <a:off x="566859" y="6106837"/>
            <a:ext cx="1132998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5" b="1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Expected Impact:</a:t>
            </a:r>
            <a:pPr>
              <a:lnSpc>
                <a:spcPct val="140000"/>
              </a:lnSpc>
            </a:pPr>
            <a:r>
              <a:rPr lang="en-US" sz="1425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These initiatives can potentially increase </a:t>
            </a:r>
            <a:pPr>
              <a:lnSpc>
                <a:spcPct val="140000"/>
              </a:lnSpc>
            </a:pPr>
            <a:r>
              <a:rPr lang="en-US" sz="1425" dirty="0">
                <a:solidFill>
                  <a:srgbClr val="2A3D4F"/>
                </a:solidFill>
                <a:highlight>
                  <a:srgbClr val="C48A69">
                    <a:alpha val="2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customer LTV by 25-35% </a:t>
            </a:r>
            <a:pPr>
              <a:lnSpc>
                <a:spcPct val="140000"/>
              </a:lnSpc>
            </a:pPr>
            <a:r>
              <a:rPr lang="en-US" sz="1425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and improve </a:t>
            </a:r>
            <a:pPr>
              <a:lnSpc>
                <a:spcPct val="140000"/>
              </a:lnSpc>
            </a:pPr>
            <a:r>
              <a:rPr lang="en-US" sz="1425" dirty="0">
                <a:solidFill>
                  <a:srgbClr val="2A3D4F"/>
                </a:solidFill>
                <a:highlight>
                  <a:srgbClr val="C48A69">
                    <a:alpha val="2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profit margins by 8-12% </a:t>
            </a:r>
            <a:pPr>
              <a:lnSpc>
                <a:spcPct val="140000"/>
              </a:lnSpc>
            </a:pPr>
            <a:r>
              <a:rPr lang="en-US" sz="1425" dirty="0">
                <a:solidFill>
                  <a:srgbClr val="1E2A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601media.com/370a77474a71fe960883582247724724e4c30c54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A3D4F">
                  <a:alpha val="90000"/>
                </a:srgbClr>
              </a:gs>
              <a:gs pos="50000">
                <a:srgbClr val="2A3D4F">
                  <a:alpha val="85000"/>
                </a:srgbClr>
              </a:gs>
              <a:gs pos="100000">
                <a:srgbClr val="C48A69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7636" y="387636"/>
            <a:ext cx="4156814" cy="623039"/>
          </a:xfrm>
          <a:custGeom>
            <a:avLst/>
            <a:gdLst/>
            <a:ahLst/>
            <a:cxnLst/>
            <a:rect l="l" t="t" r="r" b="b"/>
            <a:pathLst>
              <a:path w="4156814" h="623039">
                <a:moveTo>
                  <a:pt x="38099" y="0"/>
                </a:moveTo>
                <a:lnTo>
                  <a:pt x="4118715" y="0"/>
                </a:lnTo>
                <a:cubicBezTo>
                  <a:pt x="4139757" y="0"/>
                  <a:pt x="4156814" y="17057"/>
                  <a:pt x="4156814" y="38099"/>
                </a:cubicBezTo>
                <a:lnTo>
                  <a:pt x="4156814" y="584940"/>
                </a:lnTo>
                <a:cubicBezTo>
                  <a:pt x="4156814" y="605982"/>
                  <a:pt x="4139757" y="623039"/>
                  <a:pt x="4118715" y="623039"/>
                </a:cubicBezTo>
                <a:lnTo>
                  <a:pt x="38099" y="623039"/>
                </a:lnTo>
                <a:cubicBezTo>
                  <a:pt x="17072" y="623039"/>
                  <a:pt x="0" y="605968"/>
                  <a:pt x="0" y="584940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7919">
            <a:solidFill>
              <a:srgbClr val="C48A6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1474" y="387636"/>
            <a:ext cx="4042976" cy="623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spc="540" kern="0" dirty="0">
                <a:solidFill>
                  <a:srgbClr val="F8F7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:- sujeetkumar22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0916" y="1321975"/>
            <a:ext cx="118110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Data-Driven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Success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0916" y="3074631"/>
            <a:ext cx="1828800" cy="28575"/>
          </a:xfrm>
          <a:custGeom>
            <a:avLst/>
            <a:gdLst/>
            <a:ahLst/>
            <a:cxnLst/>
            <a:rect l="l" t="t" r="r" b="b"/>
            <a:pathLst>
              <a:path w="1828800" h="28575">
                <a:moveTo>
                  <a:pt x="0" y="0"/>
                </a:moveTo>
                <a:lnTo>
                  <a:pt x="1828800" y="0"/>
                </a:lnTo>
                <a:lnTo>
                  <a:pt x="1828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8" name="Text 5"/>
          <p:cNvSpPr/>
          <p:nvPr/>
        </p:nvSpPr>
        <p:spPr>
          <a:xfrm>
            <a:off x="380916" y="3407987"/>
            <a:ext cx="870585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700" dirty="0">
                <a:solidFill>
                  <a:srgbClr val="F8F7F4">
                    <a:alpha val="95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Empowering business decisions through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700" dirty="0">
                <a:solidFill>
                  <a:srgbClr val="F8F7F4">
                    <a:alpha val="95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analytical rigor and customer understanding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97715" y="4827175"/>
            <a:ext cx="33598" cy="1181100"/>
          </a:xfrm>
          <a:custGeom>
            <a:avLst/>
            <a:gdLst/>
            <a:ahLst/>
            <a:cxnLst/>
            <a:rect l="l" t="t" r="r" b="b"/>
            <a:pathLst>
              <a:path w="33598" h="1181100">
                <a:moveTo>
                  <a:pt x="0" y="0"/>
                </a:moveTo>
                <a:lnTo>
                  <a:pt x="33598" y="0"/>
                </a:lnTo>
                <a:lnTo>
                  <a:pt x="33598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10" name="Text 7"/>
          <p:cNvSpPr/>
          <p:nvPr/>
        </p:nvSpPr>
        <p:spPr>
          <a:xfrm>
            <a:off x="643084" y="4979519"/>
            <a:ext cx="2867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spc="68" kern="0" dirty="0">
                <a:solidFill>
                  <a:srgbClr val="F8F7F4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Transactions Analyzed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3084" y="5322326"/>
            <a:ext cx="304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3,900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750469" y="4827175"/>
            <a:ext cx="33598" cy="1181100"/>
          </a:xfrm>
          <a:custGeom>
            <a:avLst/>
            <a:gdLst/>
            <a:ahLst/>
            <a:cxnLst/>
            <a:rect l="l" t="t" r="r" b="b"/>
            <a:pathLst>
              <a:path w="33598" h="1181100">
                <a:moveTo>
                  <a:pt x="0" y="0"/>
                </a:moveTo>
                <a:lnTo>
                  <a:pt x="33598" y="0"/>
                </a:lnTo>
                <a:lnTo>
                  <a:pt x="33598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13" name="Text 10"/>
          <p:cNvSpPr/>
          <p:nvPr/>
        </p:nvSpPr>
        <p:spPr>
          <a:xfrm>
            <a:off x="3995838" y="4979519"/>
            <a:ext cx="2867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spc="68" kern="0" dirty="0">
                <a:solidFill>
                  <a:srgbClr val="F8F7F4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995838" y="5322326"/>
            <a:ext cx="304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10+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103222" y="4827175"/>
            <a:ext cx="33598" cy="1181100"/>
          </a:xfrm>
          <a:custGeom>
            <a:avLst/>
            <a:gdLst/>
            <a:ahLst/>
            <a:cxnLst/>
            <a:rect l="l" t="t" r="r" b="b"/>
            <a:pathLst>
              <a:path w="33598" h="1181100">
                <a:moveTo>
                  <a:pt x="0" y="0"/>
                </a:moveTo>
                <a:lnTo>
                  <a:pt x="33598" y="0"/>
                </a:lnTo>
                <a:lnTo>
                  <a:pt x="33598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C48A69"/>
          </a:solidFill>
          <a:ln/>
        </p:spPr>
      </p:sp>
      <p:sp>
        <p:nvSpPr>
          <p:cNvPr id="16" name="Text 13"/>
          <p:cNvSpPr/>
          <p:nvPr/>
        </p:nvSpPr>
        <p:spPr>
          <a:xfrm>
            <a:off x="7348592" y="4979519"/>
            <a:ext cx="2867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spc="68" kern="0" dirty="0">
                <a:solidFill>
                  <a:srgbClr val="F8F7F4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Initiatives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348592" y="5322326"/>
            <a:ext cx="304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00" b="1" dirty="0">
                <a:solidFill>
                  <a:srgbClr val="F8F7F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80916" y="6014762"/>
            <a:ext cx="11430000" cy="13439"/>
          </a:xfrm>
          <a:custGeom>
            <a:avLst/>
            <a:gdLst/>
            <a:ahLst/>
            <a:cxnLst/>
            <a:rect l="l" t="t" r="r" b="b"/>
            <a:pathLst>
              <a:path w="11430000" h="13439">
                <a:moveTo>
                  <a:pt x="0" y="0"/>
                </a:moveTo>
                <a:lnTo>
                  <a:pt x="11430000" y="0"/>
                </a:lnTo>
                <a:lnTo>
                  <a:pt x="11430000" y="13439"/>
                </a:lnTo>
                <a:lnTo>
                  <a:pt x="0" y="13439"/>
                </a:lnTo>
                <a:lnTo>
                  <a:pt x="0" y="0"/>
                </a:lnTo>
                <a:close/>
              </a:path>
            </a:pathLst>
          </a:custGeom>
          <a:solidFill>
            <a:srgbClr val="F8F7F4">
              <a:alpha val="2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380916" y="6250046"/>
            <a:ext cx="115347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0" dirty="0">
                <a:solidFill>
                  <a:srgbClr val="F8F7F4">
                    <a:alpha val="85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"Transforming customer data into competitive advantage"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Customer Shopping Behavior Analysis</dc:subject>
  <dc:creator>Kimi</dc:creator>
  <cp:lastModifiedBy>Kimi</cp:lastModifiedBy>
  <cp:revision>1</cp:revision>
  <dcterms:created xsi:type="dcterms:W3CDTF">2026-01-18T05:50:45Z</dcterms:created>
  <dcterms:modified xsi:type="dcterms:W3CDTF">2026-01-18T05:50:45Z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{"Label":"Customer Shopping Behavior Analysis","ContentProducer":"001191110108MACG2KBH8F10000","ProduceID":"19bcf878-3442-84d8-8000-0000d403b4de","ReservedCode1":"","ContentPropagator":"001191110108MACG2KBH8F20000","PropagateID":"19bcf878-3442-84d8-8000-0000d403b4de","ReservedCode2":""}</vt:lpwstr>
  </property>
</Properties>
</file>